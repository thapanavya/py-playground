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60" r:id="rId2"/>
    <p:sldId id="306" r:id="rId3"/>
    <p:sldId id="311" r:id="rId4"/>
    <p:sldId id="312" r:id="rId5"/>
    <p:sldId id="315" r:id="rId6"/>
    <p:sldId id="316" r:id="rId7"/>
    <p:sldId id="317" r:id="rId8"/>
    <p:sldId id="318" r:id="rId9"/>
    <p:sldId id="319" r:id="rId10"/>
    <p:sldId id="320" r:id="rId11"/>
    <p:sldId id="321" r:id="rId12"/>
    <p:sldId id="322" r:id="rId13"/>
    <p:sldId id="323" r:id="rId14"/>
    <p:sldId id="325" r:id="rId15"/>
    <p:sldId id="326" r:id="rId16"/>
    <p:sldId id="327" r:id="rId17"/>
    <p:sldId id="328" r:id="rId18"/>
    <p:sldId id="329"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58" r:id="rId39"/>
    <p:sldId id="259" r:id="rId40"/>
    <p:sldId id="261" r:id="rId41"/>
    <p:sldId id="262" r:id="rId42"/>
    <p:sldId id="263" r:id="rId43"/>
    <p:sldId id="264" r:id="rId44"/>
    <p:sldId id="265" r:id="rId45"/>
    <p:sldId id="275" r:id="rId46"/>
    <p:sldId id="276" r:id="rId47"/>
    <p:sldId id="266" r:id="rId48"/>
    <p:sldId id="267" r:id="rId49"/>
    <p:sldId id="268" r:id="rId50"/>
    <p:sldId id="269" r:id="rId51"/>
    <p:sldId id="270" r:id="rId52"/>
    <p:sldId id="271" r:id="rId53"/>
    <p:sldId id="272" r:id="rId54"/>
    <p:sldId id="273" r:id="rId55"/>
    <p:sldId id="274" r:id="rId56"/>
    <p:sldId id="296" r:id="rId57"/>
    <p:sldId id="297" r:id="rId58"/>
    <p:sldId id="298" r:id="rId59"/>
    <p:sldId id="299" r:id="rId60"/>
    <p:sldId id="300" r:id="rId61"/>
    <p:sldId id="301" r:id="rId62"/>
    <p:sldId id="302" r:id="rId63"/>
    <p:sldId id="303" r:id="rId64"/>
    <p:sldId id="304"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F28D45-4AC9-A0CA-D672-999ED51EDA89}" v="1" dt="2025-04-07T06:45:21.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 Yadav" userId="S::ravi.yadav@ddn.upes.ac.in::407703a9-ab3c-4a85-89c3-b78b259ed22f" providerId="AD" clId="Web-{13F28D45-4AC9-A0CA-D672-999ED51EDA89}"/>
    <pc:docChg chg="modSld">
      <pc:chgData name="Ravi Yadav" userId="S::ravi.yadav@ddn.upes.ac.in::407703a9-ab3c-4a85-89c3-b78b259ed22f" providerId="AD" clId="Web-{13F28D45-4AC9-A0CA-D672-999ED51EDA89}" dt="2025-04-07T06:45:21.159" v="0" actId="1076"/>
      <pc:docMkLst>
        <pc:docMk/>
      </pc:docMkLst>
      <pc:sldChg chg="modSp">
        <pc:chgData name="Ravi Yadav" userId="S::ravi.yadav@ddn.upes.ac.in::407703a9-ab3c-4a85-89c3-b78b259ed22f" providerId="AD" clId="Web-{13F28D45-4AC9-A0CA-D672-999ED51EDA89}" dt="2025-04-07T06:45:21.159" v="0" actId="1076"/>
        <pc:sldMkLst>
          <pc:docMk/>
          <pc:sldMk cId="2538122953" sldId="300"/>
        </pc:sldMkLst>
        <pc:picChg chg="mod">
          <ac:chgData name="Ravi Yadav" userId="S::ravi.yadav@ddn.upes.ac.in::407703a9-ab3c-4a85-89c3-b78b259ed22f" providerId="AD" clId="Web-{13F28D45-4AC9-A0CA-D672-999ED51EDA89}" dt="2025-04-07T06:45:21.159" v="0" actId="1076"/>
          <ac:picMkLst>
            <pc:docMk/>
            <pc:sldMk cId="2538122953" sldId="300"/>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141514-213F-4477-86D4-9C40F0CBCC95}" type="datetimeFigureOut">
              <a:rPr lang="en-US" smtClean="0"/>
              <a:t>4/6/2025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945BD-F766-46C2-A564-4657E5C7C53E}" type="slidenum">
              <a:rPr lang="en-US" smtClean="0"/>
              <a:t>‹#›</a:t>
            </a:fld>
            <a:endParaRPr lang="en-US"/>
          </a:p>
        </p:txBody>
      </p:sp>
    </p:spTree>
    <p:extLst>
      <p:ext uri="{BB962C8B-B14F-4D97-AF65-F5344CB8AC3E}">
        <p14:creationId xmlns:p14="http://schemas.microsoft.com/office/powerpoint/2010/main" val="319294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2C8F77-8D4F-4A91-9F80-D6123489EA82}" type="slidenum">
              <a:rPr lang="en-US" smtClean="0"/>
              <a:t>46</a:t>
            </a:fld>
            <a:endParaRPr lang="en-US"/>
          </a:p>
        </p:txBody>
      </p:sp>
    </p:spTree>
    <p:extLst>
      <p:ext uri="{BB962C8B-B14F-4D97-AF65-F5344CB8AC3E}">
        <p14:creationId xmlns:p14="http://schemas.microsoft.com/office/powerpoint/2010/main" val="1598824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1D64E-478A-1C7A-E30B-2928419E36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FA49085-9578-DC52-6A22-B041AE6D40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F8943E-D792-CEA4-78B9-88DCDDB094E3}"/>
              </a:ext>
            </a:extLst>
          </p:cNvPr>
          <p:cNvSpPr>
            <a:spLocks noGrp="1"/>
          </p:cNvSpPr>
          <p:nvPr>
            <p:ph type="dt" sz="half" idx="10"/>
          </p:nvPr>
        </p:nvSpPr>
        <p:spPr/>
        <p:txBody>
          <a:bodyPr/>
          <a:lstStyle/>
          <a:p>
            <a:fld id="{3A4A121F-FC19-43E4-A78A-D1531C4C96BF}" type="datetime1">
              <a:rPr lang="en-IN" smtClean="0"/>
              <a:t>06-04-2025</a:t>
            </a:fld>
            <a:endParaRPr lang="en-IN"/>
          </a:p>
        </p:txBody>
      </p:sp>
      <p:sp>
        <p:nvSpPr>
          <p:cNvPr id="5" name="Footer Placeholder 4">
            <a:extLst>
              <a:ext uri="{FF2B5EF4-FFF2-40B4-BE49-F238E27FC236}">
                <a16:creationId xmlns:a16="http://schemas.microsoft.com/office/drawing/2014/main" id="{E5610C63-00AD-ED85-E3CC-AF52459CEC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C6B301-9B48-3827-40FB-135BAA3EFAF7}"/>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492190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D3F19-B29D-AEBA-1E67-63B526DB24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3A8A09-5661-E84C-EA5A-BA7A0790D4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CD4C5-4F23-150D-0244-46A2469D79E8}"/>
              </a:ext>
            </a:extLst>
          </p:cNvPr>
          <p:cNvSpPr>
            <a:spLocks noGrp="1"/>
          </p:cNvSpPr>
          <p:nvPr>
            <p:ph type="dt" sz="half" idx="10"/>
          </p:nvPr>
        </p:nvSpPr>
        <p:spPr/>
        <p:txBody>
          <a:bodyPr/>
          <a:lstStyle/>
          <a:p>
            <a:fld id="{029E10DC-D5FC-4BFB-8C2D-860E2052C470}" type="datetime1">
              <a:rPr lang="en-IN" smtClean="0"/>
              <a:t>06-04-2025</a:t>
            </a:fld>
            <a:endParaRPr lang="en-IN"/>
          </a:p>
        </p:txBody>
      </p:sp>
      <p:sp>
        <p:nvSpPr>
          <p:cNvPr id="5" name="Footer Placeholder 4">
            <a:extLst>
              <a:ext uri="{FF2B5EF4-FFF2-40B4-BE49-F238E27FC236}">
                <a16:creationId xmlns:a16="http://schemas.microsoft.com/office/drawing/2014/main" id="{385B48FF-FC69-C154-54AE-A7BC2D5E73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D33FAA-014B-8F86-DF44-FBFEE780AA00}"/>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713961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F5D23-87D4-D2E6-B822-4059C1337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4B8A1B-3924-ABF0-4F27-2F19FF5DE2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920101-8C12-368F-BCFD-D298AE953AA5}"/>
              </a:ext>
            </a:extLst>
          </p:cNvPr>
          <p:cNvSpPr>
            <a:spLocks noGrp="1"/>
          </p:cNvSpPr>
          <p:nvPr>
            <p:ph type="dt" sz="half" idx="10"/>
          </p:nvPr>
        </p:nvSpPr>
        <p:spPr/>
        <p:txBody>
          <a:bodyPr/>
          <a:lstStyle/>
          <a:p>
            <a:fld id="{C794ECE4-9E16-4852-99A9-478688DE98EB}" type="datetime1">
              <a:rPr lang="en-IN" smtClean="0"/>
              <a:t>06-04-2025</a:t>
            </a:fld>
            <a:endParaRPr lang="en-IN"/>
          </a:p>
        </p:txBody>
      </p:sp>
      <p:sp>
        <p:nvSpPr>
          <p:cNvPr id="5" name="Footer Placeholder 4">
            <a:extLst>
              <a:ext uri="{FF2B5EF4-FFF2-40B4-BE49-F238E27FC236}">
                <a16:creationId xmlns:a16="http://schemas.microsoft.com/office/drawing/2014/main" id="{74CAA9EC-F0BF-9282-71FB-0F1C0553D9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464145-27E3-A673-EF49-6B65D2FFD9E8}"/>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987828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F7B97-55A1-573E-DE88-196F2F0E0C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938F98-6744-B58D-9226-B5436AC9AA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91AC41-88D4-9364-9F45-55F6EF05EB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4C75089-67E1-B4A7-55DD-CCB9180F58A8}"/>
              </a:ext>
            </a:extLst>
          </p:cNvPr>
          <p:cNvSpPr>
            <a:spLocks noGrp="1"/>
          </p:cNvSpPr>
          <p:nvPr>
            <p:ph type="dt" sz="half" idx="10"/>
          </p:nvPr>
        </p:nvSpPr>
        <p:spPr/>
        <p:txBody>
          <a:bodyPr/>
          <a:lstStyle/>
          <a:p>
            <a:fld id="{E8D30471-51CD-4904-B284-5FC4021028FE}" type="datetime1">
              <a:rPr lang="en-IN" smtClean="0"/>
              <a:t>06-04-2025</a:t>
            </a:fld>
            <a:endParaRPr lang="en-IN"/>
          </a:p>
        </p:txBody>
      </p:sp>
      <p:sp>
        <p:nvSpPr>
          <p:cNvPr id="6" name="Footer Placeholder 5">
            <a:extLst>
              <a:ext uri="{FF2B5EF4-FFF2-40B4-BE49-F238E27FC236}">
                <a16:creationId xmlns:a16="http://schemas.microsoft.com/office/drawing/2014/main" id="{D8879873-233E-5E7B-6E92-9D12231EC4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8CCA6F-BAD1-6C94-A30B-01959B08FBE8}"/>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2433758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C6B48-1BBD-2956-8F34-4B0ADA5997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1B1C43-87E8-08EF-5D72-BB06D1176B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2DE98D-4E61-300A-2C4D-B91DAEB3BB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5D277E-05C0-DBB0-3C88-A01C07166D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AE8685-13DE-B05A-B935-F22B2CA0D1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1CF8E0-D36E-17C5-0797-196719A23D2E}"/>
              </a:ext>
            </a:extLst>
          </p:cNvPr>
          <p:cNvSpPr>
            <a:spLocks noGrp="1"/>
          </p:cNvSpPr>
          <p:nvPr>
            <p:ph type="dt" sz="half" idx="10"/>
          </p:nvPr>
        </p:nvSpPr>
        <p:spPr/>
        <p:txBody>
          <a:bodyPr/>
          <a:lstStyle/>
          <a:p>
            <a:fld id="{04A77444-06BF-461B-8E74-32F54C548B9A}" type="datetime1">
              <a:rPr lang="en-IN" smtClean="0"/>
              <a:t>06-04-2025</a:t>
            </a:fld>
            <a:endParaRPr lang="en-IN"/>
          </a:p>
        </p:txBody>
      </p:sp>
      <p:sp>
        <p:nvSpPr>
          <p:cNvPr id="8" name="Footer Placeholder 7">
            <a:extLst>
              <a:ext uri="{FF2B5EF4-FFF2-40B4-BE49-F238E27FC236}">
                <a16:creationId xmlns:a16="http://schemas.microsoft.com/office/drawing/2014/main" id="{3383E82F-7963-91F0-238F-8851C172436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EADFA8-E7F8-D8AF-9F55-4069BE295D33}"/>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359748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A4A05-D1FF-26B0-BE1C-8C91E1FA26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F067BD-C455-001A-4FD1-66B7DC9F3F26}"/>
              </a:ext>
            </a:extLst>
          </p:cNvPr>
          <p:cNvSpPr>
            <a:spLocks noGrp="1"/>
          </p:cNvSpPr>
          <p:nvPr>
            <p:ph type="dt" sz="half" idx="10"/>
          </p:nvPr>
        </p:nvSpPr>
        <p:spPr/>
        <p:txBody>
          <a:bodyPr/>
          <a:lstStyle/>
          <a:p>
            <a:fld id="{113B3D3A-2EE7-4FC5-916A-2F100535810B}" type="datetime1">
              <a:rPr lang="en-IN" smtClean="0"/>
              <a:t>06-04-2025</a:t>
            </a:fld>
            <a:endParaRPr lang="en-IN"/>
          </a:p>
        </p:txBody>
      </p:sp>
      <p:sp>
        <p:nvSpPr>
          <p:cNvPr id="4" name="Footer Placeholder 3">
            <a:extLst>
              <a:ext uri="{FF2B5EF4-FFF2-40B4-BE49-F238E27FC236}">
                <a16:creationId xmlns:a16="http://schemas.microsoft.com/office/drawing/2014/main" id="{C65E7B67-0D01-E1C8-B892-1677F627AE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CDDECB4-4488-7682-2118-69D12F5B5145}"/>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2447300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471566-498C-19C4-723D-9D6B4251CC3C}"/>
              </a:ext>
            </a:extLst>
          </p:cNvPr>
          <p:cNvSpPr>
            <a:spLocks noGrp="1"/>
          </p:cNvSpPr>
          <p:nvPr>
            <p:ph type="dt" sz="half" idx="10"/>
          </p:nvPr>
        </p:nvSpPr>
        <p:spPr/>
        <p:txBody>
          <a:bodyPr/>
          <a:lstStyle/>
          <a:p>
            <a:fld id="{CCE6C596-2334-4BF2-936E-9D859C4BE4A3}" type="datetime1">
              <a:rPr lang="en-IN" smtClean="0"/>
              <a:t>06-04-2025</a:t>
            </a:fld>
            <a:endParaRPr lang="en-IN"/>
          </a:p>
        </p:txBody>
      </p:sp>
      <p:sp>
        <p:nvSpPr>
          <p:cNvPr id="3" name="Footer Placeholder 2">
            <a:extLst>
              <a:ext uri="{FF2B5EF4-FFF2-40B4-BE49-F238E27FC236}">
                <a16:creationId xmlns:a16="http://schemas.microsoft.com/office/drawing/2014/main" id="{7E8B0847-313D-0CBE-86DB-9263A1B25B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F60DC6-9602-3B57-D1A3-18CC0B9BEEBB}"/>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3533435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4FD0B-56AD-25ED-246E-D1A29E88FB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B33214-9ED8-B45F-48C6-3A06C4B056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E0913D-2257-27AA-4DCF-02B23CABC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E4EDF-E637-6236-85EF-D96196F080C4}"/>
              </a:ext>
            </a:extLst>
          </p:cNvPr>
          <p:cNvSpPr>
            <a:spLocks noGrp="1"/>
          </p:cNvSpPr>
          <p:nvPr>
            <p:ph type="dt" sz="half" idx="10"/>
          </p:nvPr>
        </p:nvSpPr>
        <p:spPr/>
        <p:txBody>
          <a:bodyPr/>
          <a:lstStyle/>
          <a:p>
            <a:fld id="{88010E70-F61A-480B-A5A0-7927002862BD}" type="datetime1">
              <a:rPr lang="en-IN" smtClean="0"/>
              <a:t>06-04-2025</a:t>
            </a:fld>
            <a:endParaRPr lang="en-IN"/>
          </a:p>
        </p:txBody>
      </p:sp>
      <p:sp>
        <p:nvSpPr>
          <p:cNvPr id="6" name="Footer Placeholder 5">
            <a:extLst>
              <a:ext uri="{FF2B5EF4-FFF2-40B4-BE49-F238E27FC236}">
                <a16:creationId xmlns:a16="http://schemas.microsoft.com/office/drawing/2014/main" id="{654548BC-22C9-CE57-F9C8-AAE20BA111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C328A1-D786-B5D2-2B77-833A42E3B484}"/>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885925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AD8D-207B-7044-B614-D565AACA4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724A54-D399-3DD3-ECFF-5656D3FA37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34BE89-765C-1EBB-248E-0C58155FFA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219E5E-BF83-F6B5-680C-7FCCB4DA2DB3}"/>
              </a:ext>
            </a:extLst>
          </p:cNvPr>
          <p:cNvSpPr>
            <a:spLocks noGrp="1"/>
          </p:cNvSpPr>
          <p:nvPr>
            <p:ph type="dt" sz="half" idx="10"/>
          </p:nvPr>
        </p:nvSpPr>
        <p:spPr/>
        <p:txBody>
          <a:bodyPr/>
          <a:lstStyle/>
          <a:p>
            <a:fld id="{7B257B98-C46D-4B85-AC23-6A7D29E62D87}" type="datetime1">
              <a:rPr lang="en-IN" smtClean="0"/>
              <a:t>06-04-2025</a:t>
            </a:fld>
            <a:endParaRPr lang="en-IN"/>
          </a:p>
        </p:txBody>
      </p:sp>
      <p:sp>
        <p:nvSpPr>
          <p:cNvPr id="6" name="Footer Placeholder 5">
            <a:extLst>
              <a:ext uri="{FF2B5EF4-FFF2-40B4-BE49-F238E27FC236}">
                <a16:creationId xmlns:a16="http://schemas.microsoft.com/office/drawing/2014/main" id="{F7C74F30-2B6A-AEB4-16EC-BC00EEF762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8A0FDD-6F6A-1009-D67F-AA37D1679E63}"/>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30813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5ED4A-B517-8786-80C5-66A5D60E3A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D582A0-8C90-D236-344C-A748B17103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E268AA-C00C-8080-CFC2-C133EEB97432}"/>
              </a:ext>
            </a:extLst>
          </p:cNvPr>
          <p:cNvSpPr>
            <a:spLocks noGrp="1"/>
          </p:cNvSpPr>
          <p:nvPr>
            <p:ph type="dt" sz="half" idx="10"/>
          </p:nvPr>
        </p:nvSpPr>
        <p:spPr/>
        <p:txBody>
          <a:bodyPr/>
          <a:lstStyle/>
          <a:p>
            <a:fld id="{474459D0-BCFD-42F7-9F47-413DBB93BDAC}" type="datetime1">
              <a:rPr lang="en-IN" smtClean="0"/>
              <a:t>06-04-2025</a:t>
            </a:fld>
            <a:endParaRPr lang="en-IN"/>
          </a:p>
        </p:txBody>
      </p:sp>
      <p:sp>
        <p:nvSpPr>
          <p:cNvPr id="5" name="Footer Placeholder 4">
            <a:extLst>
              <a:ext uri="{FF2B5EF4-FFF2-40B4-BE49-F238E27FC236}">
                <a16:creationId xmlns:a16="http://schemas.microsoft.com/office/drawing/2014/main" id="{532F4E1B-00AD-AFD3-8CEC-C77422E7EB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7DD3F4-68F1-B077-EE39-F361EB35E7D2}"/>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808457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B932FD-435B-D467-5585-DF9F12E8C6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EE6659-9E0E-BDC1-C915-D84CC0929D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B2E90C-31C7-EA19-55C5-1B99079ECB8B}"/>
              </a:ext>
            </a:extLst>
          </p:cNvPr>
          <p:cNvSpPr>
            <a:spLocks noGrp="1"/>
          </p:cNvSpPr>
          <p:nvPr>
            <p:ph type="dt" sz="half" idx="10"/>
          </p:nvPr>
        </p:nvSpPr>
        <p:spPr/>
        <p:txBody>
          <a:bodyPr/>
          <a:lstStyle/>
          <a:p>
            <a:fld id="{9060934B-4BDC-4CB4-BDB9-BFF6CAD7B2A8}" type="datetime1">
              <a:rPr lang="en-IN" smtClean="0"/>
              <a:t>06-04-2025</a:t>
            </a:fld>
            <a:endParaRPr lang="en-IN"/>
          </a:p>
        </p:txBody>
      </p:sp>
      <p:sp>
        <p:nvSpPr>
          <p:cNvPr id="5" name="Footer Placeholder 4">
            <a:extLst>
              <a:ext uri="{FF2B5EF4-FFF2-40B4-BE49-F238E27FC236}">
                <a16:creationId xmlns:a16="http://schemas.microsoft.com/office/drawing/2014/main" id="{E8A15EEB-A01A-F13E-60F1-C05B5D6005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46E890-36DE-584F-0818-6AC88D26C9F5}"/>
              </a:ext>
            </a:extLst>
          </p:cNvPr>
          <p:cNvSpPr>
            <a:spLocks noGrp="1"/>
          </p:cNvSpPr>
          <p:nvPr>
            <p:ph type="sldNum" sz="quarter" idx="12"/>
          </p:nvPr>
        </p:nvSpPr>
        <p:spPr/>
        <p:txBody>
          <a:bodyPr/>
          <a:lstStyle/>
          <a:p>
            <a:fld id="{1B2A20A6-2C11-4CB1-9193-A0D80FC8463A}" type="slidenum">
              <a:rPr lang="en-IN" smtClean="0"/>
              <a:t>‹#›</a:t>
            </a:fld>
            <a:endParaRPr lang="en-IN"/>
          </a:p>
        </p:txBody>
      </p:sp>
    </p:spTree>
    <p:extLst>
      <p:ext uri="{BB962C8B-B14F-4D97-AF65-F5344CB8AC3E}">
        <p14:creationId xmlns:p14="http://schemas.microsoft.com/office/powerpoint/2010/main" val="1813640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2F0FB9-85D7-314A-7868-990DB91E69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C0D864-B93B-152B-017C-DFE292FA3E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E4A768-9F60-DCE0-1C96-3429804866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2E777A-856C-4B0D-A1FB-A20668525992}" type="datetime1">
              <a:rPr lang="en-IN" smtClean="0"/>
              <a:t>06-04-2025</a:t>
            </a:fld>
            <a:endParaRPr lang="en-IN"/>
          </a:p>
        </p:txBody>
      </p:sp>
      <p:sp>
        <p:nvSpPr>
          <p:cNvPr id="5" name="Footer Placeholder 4">
            <a:extLst>
              <a:ext uri="{FF2B5EF4-FFF2-40B4-BE49-F238E27FC236}">
                <a16:creationId xmlns:a16="http://schemas.microsoft.com/office/drawing/2014/main" id="{BC34445C-DE3E-EB82-E099-43AC477889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5E453CB-5C7C-0046-5155-6ACB34DE96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2A20A6-2C11-4CB1-9193-A0D80FC8463A}" type="slidenum">
              <a:rPr lang="en-IN" smtClean="0"/>
              <a:t>‹#›</a:t>
            </a:fld>
            <a:endParaRPr lang="en-IN"/>
          </a:p>
        </p:txBody>
      </p:sp>
    </p:spTree>
    <p:extLst>
      <p:ext uri="{BB962C8B-B14F-4D97-AF65-F5344CB8AC3E}">
        <p14:creationId xmlns:p14="http://schemas.microsoft.com/office/powerpoint/2010/main" val="3247425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7.xml"/><Relationship Id="rId5" Type="http://schemas.openxmlformats.org/officeDocument/2006/relationships/image" Target="../media/image29.emf"/><Relationship Id="rId4" Type="http://schemas.openxmlformats.org/officeDocument/2006/relationships/image" Target="../media/image28.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7.xml"/><Relationship Id="rId4" Type="http://schemas.openxmlformats.org/officeDocument/2006/relationships/image" Target="../media/image43.emf"/></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7C20834-D049-93C3-2686-EDB6F06EA89D}"/>
              </a:ext>
            </a:extLst>
          </p:cNvPr>
          <p:cNvSpPr txBox="1">
            <a:spLocks/>
          </p:cNvSpPr>
          <p:nvPr/>
        </p:nvSpPr>
        <p:spPr>
          <a:xfrm>
            <a:off x="1595119" y="493302"/>
            <a:ext cx="9144000" cy="3686812"/>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atin typeface="Times New Roman" panose="02020603050405020304" pitchFamily="18" charset="0"/>
                <a:cs typeface="Times New Roman" panose="02020603050405020304" pitchFamily="18" charset="0"/>
              </a:rPr>
              <a:t>Python Programming</a:t>
            </a:r>
          </a:p>
          <a:p>
            <a:pPr algn="ctr"/>
            <a:endParaRPr lang="en-US">
              <a:latin typeface="Times New Roman" panose="02020603050405020304" pitchFamily="18" charset="0"/>
              <a:cs typeface="Times New Roman" panose="02020603050405020304" pitchFamily="18" charset="0"/>
            </a:endParaRPr>
          </a:p>
          <a:p>
            <a:pPr algn="ctr"/>
            <a:r>
              <a:rPr lang="en-US">
                <a:latin typeface="Times New Roman" panose="02020603050405020304" pitchFamily="18" charset="0"/>
                <a:cs typeface="Times New Roman" panose="02020603050405020304" pitchFamily="18" charset="0"/>
              </a:rPr>
              <a:t>Unit 3 &amp; 4: </a:t>
            </a:r>
          </a:p>
          <a:p>
            <a:pPr algn="ctr"/>
            <a:r>
              <a:rPr lang="en-US" sz="4000">
                <a:latin typeface="Times New Roman" panose="02020603050405020304" pitchFamily="18" charset="0"/>
                <a:cs typeface="Times New Roman" panose="02020603050405020304" pitchFamily="18" charset="0"/>
              </a:rPr>
              <a:t>Modules and Packages , </a:t>
            </a:r>
          </a:p>
          <a:p>
            <a:pPr algn="ctr"/>
            <a:r>
              <a:rPr lang="en-US" sz="4000">
                <a:latin typeface="Times New Roman" panose="02020603050405020304" pitchFamily="18" charset="0"/>
                <a:cs typeface="Times New Roman" panose="02020603050405020304" pitchFamily="18" charset="0"/>
              </a:rPr>
              <a:t>File Handling, Exceptions</a:t>
            </a:r>
          </a:p>
          <a:p>
            <a:pPr algn="ctr"/>
            <a:r>
              <a:rPr lang="en-US" sz="4000">
                <a:latin typeface="Times New Roman" panose="02020603050405020304" pitchFamily="18" charset="0"/>
                <a:cs typeface="Times New Roman" panose="02020603050405020304" pitchFamily="18" charset="0"/>
              </a:rPr>
              <a:t>&amp; Regular Expressions</a:t>
            </a:r>
          </a:p>
          <a:p>
            <a:pPr algn="ctr"/>
            <a:r>
              <a:rPr lang="en-US" b="1"/>
              <a:t> </a:t>
            </a:r>
          </a:p>
        </p:txBody>
      </p:sp>
      <p:sp>
        <p:nvSpPr>
          <p:cNvPr id="3" name="Slide Number Placeholder 2"/>
          <p:cNvSpPr>
            <a:spLocks noGrp="1"/>
          </p:cNvSpPr>
          <p:nvPr>
            <p:ph type="sldNum" sz="quarter" idx="12"/>
          </p:nvPr>
        </p:nvSpPr>
        <p:spPr/>
        <p:txBody>
          <a:bodyPr/>
          <a:lstStyle/>
          <a:p>
            <a:fld id="{1B2A20A6-2C11-4CB1-9193-A0D80FC8463A}" type="slidenum">
              <a:rPr lang="en-IN" smtClean="0"/>
              <a:t>1</a:t>
            </a:fld>
            <a:endParaRPr lang="en-IN"/>
          </a:p>
        </p:txBody>
      </p:sp>
    </p:spTree>
    <p:extLst>
      <p:ext uri="{BB962C8B-B14F-4D97-AF65-F5344CB8AC3E}">
        <p14:creationId xmlns:p14="http://schemas.microsoft.com/office/powerpoint/2010/main" val="3721817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i="0">
                <a:effectLst/>
                <a:latin typeface="Söhne"/>
              </a:rPr>
              <a:t>Introduction to Modules and Packages in Python</a:t>
            </a:r>
            <a:endParaRPr lang="en-US" sz="3200" b="1"/>
          </a:p>
        </p:txBody>
      </p:sp>
      <p:sp>
        <p:nvSpPr>
          <p:cNvPr id="4" name="Slide Number Placeholder 3"/>
          <p:cNvSpPr>
            <a:spLocks noGrp="1"/>
          </p:cNvSpPr>
          <p:nvPr>
            <p:ph type="sldNum" sz="quarter" idx="12"/>
          </p:nvPr>
        </p:nvSpPr>
        <p:spPr/>
        <p:txBody>
          <a:bodyPr/>
          <a:lstStyle/>
          <a:p>
            <a:fld id="{04EAA311-F8B8-413B-ACCD-5A57951484CD}" type="slidenum">
              <a:rPr lang="en-US" smtClean="0"/>
              <a:t>2</a:t>
            </a:fld>
            <a:endParaRPr lang="en-US"/>
          </a:p>
        </p:txBody>
      </p:sp>
      <p:sp>
        <p:nvSpPr>
          <p:cNvPr id="8" name="TextBox 7">
            <a:extLst>
              <a:ext uri="{FF2B5EF4-FFF2-40B4-BE49-F238E27FC236}">
                <a16:creationId xmlns:a16="http://schemas.microsoft.com/office/drawing/2014/main" id="{2FBB03B0-D26F-E239-D570-C7C7D6070703}"/>
              </a:ext>
            </a:extLst>
          </p:cNvPr>
          <p:cNvSpPr txBox="1"/>
          <p:nvPr/>
        </p:nvSpPr>
        <p:spPr>
          <a:xfrm>
            <a:off x="674914" y="1654352"/>
            <a:ext cx="10602686" cy="512294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b="1">
                <a:solidFill>
                  <a:schemeClr val="accent1">
                    <a:lumMod val="75000"/>
                  </a:schemeClr>
                </a:solidFill>
              </a:rPr>
              <a:t>Python, a versatile and powerful programming language, supports modular programming through the use of modules and packages. </a:t>
            </a:r>
          </a:p>
          <a:p>
            <a:pPr marL="285750" indent="-285750">
              <a:lnSpc>
                <a:spcPct val="150000"/>
              </a:lnSpc>
              <a:buFont typeface="Arial" panose="020B0604020202020204" pitchFamily="34" charset="0"/>
              <a:buChar char="•"/>
            </a:pPr>
            <a:endParaRPr lang="en-US" sz="2000" b="1">
              <a:solidFill>
                <a:schemeClr val="accent1">
                  <a:lumMod val="75000"/>
                </a:schemeClr>
              </a:solidFill>
            </a:endParaRPr>
          </a:p>
          <a:p>
            <a:pPr marL="285750" indent="-285750">
              <a:lnSpc>
                <a:spcPct val="150000"/>
              </a:lnSpc>
              <a:buFont typeface="Arial" panose="020B0604020202020204" pitchFamily="34" charset="0"/>
              <a:buChar char="•"/>
            </a:pPr>
            <a:r>
              <a:rPr lang="en-US" sz="2000" b="1">
                <a:solidFill>
                  <a:schemeClr val="accent1">
                    <a:lumMod val="75000"/>
                  </a:schemeClr>
                </a:solidFill>
              </a:rPr>
              <a:t>A module in Python is a single file containing Python code, such as functions, classes, and variables.</a:t>
            </a:r>
          </a:p>
          <a:p>
            <a:pPr marL="285750" indent="-285750">
              <a:lnSpc>
                <a:spcPct val="150000"/>
              </a:lnSpc>
              <a:buFont typeface="Arial" panose="020B0604020202020204" pitchFamily="34" charset="0"/>
              <a:buChar char="•"/>
            </a:pPr>
            <a:r>
              <a:rPr lang="en-US" sz="2000" b="1">
                <a:solidFill>
                  <a:schemeClr val="accent1">
                    <a:lumMod val="75000"/>
                  </a:schemeClr>
                </a:solidFill>
              </a:rPr>
              <a:t>Think of modules as self-contained units of code that enhance maintainability and reusability.</a:t>
            </a:r>
          </a:p>
          <a:p>
            <a:pPr>
              <a:lnSpc>
                <a:spcPct val="150000"/>
              </a:lnSpc>
            </a:pPr>
            <a:endParaRPr lang="en-US" sz="2000" b="1">
              <a:solidFill>
                <a:schemeClr val="accent1">
                  <a:lumMod val="75000"/>
                </a:schemeClr>
              </a:solidFill>
            </a:endParaRPr>
          </a:p>
          <a:p>
            <a:pPr marL="285750" indent="-285750">
              <a:lnSpc>
                <a:spcPct val="150000"/>
              </a:lnSpc>
              <a:buFont typeface="Arial" panose="020B0604020202020204" pitchFamily="34" charset="0"/>
              <a:buChar char="•"/>
            </a:pPr>
            <a:r>
              <a:rPr lang="en-US" sz="2000" b="1">
                <a:solidFill>
                  <a:schemeClr val="accent1">
                    <a:lumMod val="75000"/>
                  </a:schemeClr>
                </a:solidFill>
              </a:rPr>
              <a:t>A package is a collection of related modules organized in a directory.</a:t>
            </a:r>
          </a:p>
          <a:p>
            <a:pPr marL="285750" indent="-285750">
              <a:lnSpc>
                <a:spcPct val="150000"/>
              </a:lnSpc>
              <a:buFont typeface="Arial" panose="020B0604020202020204" pitchFamily="34" charset="0"/>
              <a:buChar char="•"/>
            </a:pPr>
            <a:r>
              <a:rPr lang="en-US" sz="2000" b="1">
                <a:solidFill>
                  <a:schemeClr val="accent1">
                    <a:lumMod val="75000"/>
                  </a:schemeClr>
                </a:solidFill>
              </a:rPr>
              <a:t>Packages offer a structured approach to organizing code, enhancing project management and collaboration.</a:t>
            </a:r>
          </a:p>
          <a:p>
            <a:pPr marL="285750" indent="-285750">
              <a:lnSpc>
                <a:spcPct val="150000"/>
              </a:lnSpc>
              <a:buFont typeface="Arial" panose="020B0604020202020204" pitchFamily="34" charset="0"/>
              <a:buChar char="•"/>
            </a:pPr>
            <a:r>
              <a:rPr lang="en-US" sz="2000" b="1">
                <a:solidFill>
                  <a:schemeClr val="accent1">
                    <a:lumMod val="75000"/>
                  </a:schemeClr>
                </a:solidFill>
              </a:rPr>
              <a:t>Benefits include code organization, reusability, and collaborative development.</a:t>
            </a:r>
          </a:p>
        </p:txBody>
      </p:sp>
    </p:spTree>
    <p:extLst>
      <p:ext uri="{BB962C8B-B14F-4D97-AF65-F5344CB8AC3E}">
        <p14:creationId xmlns:p14="http://schemas.microsoft.com/office/powerpoint/2010/main" val="4274991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Creating Modules in Python</a:t>
            </a:r>
          </a:p>
        </p:txBody>
      </p:sp>
      <p:sp>
        <p:nvSpPr>
          <p:cNvPr id="4" name="Slide Number Placeholder 3"/>
          <p:cNvSpPr>
            <a:spLocks noGrp="1"/>
          </p:cNvSpPr>
          <p:nvPr>
            <p:ph type="sldNum" sz="quarter" idx="12"/>
          </p:nvPr>
        </p:nvSpPr>
        <p:spPr/>
        <p:txBody>
          <a:bodyPr/>
          <a:lstStyle/>
          <a:p>
            <a:fld id="{04EAA311-F8B8-413B-ACCD-5A57951484CD}" type="slidenum">
              <a:rPr lang="en-US" smtClean="0"/>
              <a:t>3</a:t>
            </a:fld>
            <a:endParaRPr lang="en-US"/>
          </a:p>
        </p:txBody>
      </p:sp>
      <p:sp>
        <p:nvSpPr>
          <p:cNvPr id="5" name="TextBox 4">
            <a:extLst>
              <a:ext uri="{FF2B5EF4-FFF2-40B4-BE49-F238E27FC236}">
                <a16:creationId xmlns:a16="http://schemas.microsoft.com/office/drawing/2014/main" id="{F9BC2008-6D2E-1858-7BFB-28E826291394}"/>
              </a:ext>
            </a:extLst>
          </p:cNvPr>
          <p:cNvSpPr txBox="1"/>
          <p:nvPr/>
        </p:nvSpPr>
        <p:spPr>
          <a:xfrm>
            <a:off x="664028" y="1895679"/>
            <a:ext cx="10918371" cy="235295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a:solidFill>
                  <a:schemeClr val="accent1">
                    <a:lumMod val="75000"/>
                  </a:schemeClr>
                </a:solidFill>
              </a:rPr>
              <a:t>Modules in Python are self-contained units of code.</a:t>
            </a:r>
          </a:p>
          <a:p>
            <a:pPr marL="342900" indent="-342900">
              <a:lnSpc>
                <a:spcPct val="150000"/>
              </a:lnSpc>
              <a:buFont typeface="Arial" panose="020B0604020202020204" pitchFamily="34" charset="0"/>
              <a:buChar char="•"/>
            </a:pPr>
            <a:r>
              <a:rPr lang="en-US" sz="2000" b="1">
                <a:solidFill>
                  <a:schemeClr val="accent1">
                    <a:lumMod val="75000"/>
                  </a:schemeClr>
                </a:solidFill>
              </a:rPr>
              <a:t>To create a module, open your IDE or text editor and create a new file with a .</a:t>
            </a:r>
            <a:r>
              <a:rPr lang="en-US" sz="2000" b="1" err="1">
                <a:solidFill>
                  <a:schemeClr val="accent1">
                    <a:lumMod val="75000"/>
                  </a:schemeClr>
                </a:solidFill>
              </a:rPr>
              <a:t>py</a:t>
            </a:r>
            <a:r>
              <a:rPr lang="en-US" sz="2000" b="1">
                <a:solidFill>
                  <a:schemeClr val="accent1">
                    <a:lumMod val="75000"/>
                  </a:schemeClr>
                </a:solidFill>
              </a:rPr>
              <a:t> extension.</a:t>
            </a:r>
          </a:p>
          <a:p>
            <a:pPr marL="342900" indent="-342900">
              <a:lnSpc>
                <a:spcPct val="150000"/>
              </a:lnSpc>
              <a:buFont typeface="Arial" panose="020B0604020202020204" pitchFamily="34" charset="0"/>
              <a:buChar char="•"/>
            </a:pPr>
            <a:r>
              <a:rPr lang="en-US" sz="2000" b="1">
                <a:solidFill>
                  <a:schemeClr val="accent1">
                    <a:lumMod val="75000"/>
                  </a:schemeClr>
                </a:solidFill>
              </a:rPr>
              <a:t>Define functions, classes, and variables in this file to encapsulate related code.</a:t>
            </a:r>
          </a:p>
          <a:p>
            <a:pPr marL="342900" indent="-342900">
              <a:lnSpc>
                <a:spcPct val="150000"/>
              </a:lnSpc>
              <a:buFont typeface="Arial" panose="020B0604020202020204" pitchFamily="34" charset="0"/>
              <a:buChar char="•"/>
            </a:pPr>
            <a:r>
              <a:rPr lang="en-US" sz="2000" b="1">
                <a:solidFill>
                  <a:schemeClr val="accent1">
                    <a:lumMod val="75000"/>
                  </a:schemeClr>
                </a:solidFill>
              </a:rPr>
              <a:t>Modules can be run independently using the terminal: python module_name.py.</a:t>
            </a:r>
          </a:p>
          <a:p>
            <a:pPr marL="342900" indent="-342900">
              <a:lnSpc>
                <a:spcPct val="150000"/>
              </a:lnSpc>
              <a:buFont typeface="Arial" panose="020B0604020202020204" pitchFamily="34" charset="0"/>
              <a:buChar char="•"/>
            </a:pPr>
            <a:r>
              <a:rPr lang="en-US" sz="2000" b="1">
                <a:solidFill>
                  <a:schemeClr val="accent1">
                    <a:lumMod val="75000"/>
                  </a:schemeClr>
                </a:solidFill>
              </a:rPr>
              <a:t>This allows testing and execution of code within the module.</a:t>
            </a:r>
          </a:p>
        </p:txBody>
      </p:sp>
    </p:spTree>
    <p:extLst>
      <p:ext uri="{BB962C8B-B14F-4D97-AF65-F5344CB8AC3E}">
        <p14:creationId xmlns:p14="http://schemas.microsoft.com/office/powerpoint/2010/main" val="3663148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Creating Packages in Python</a:t>
            </a:r>
          </a:p>
        </p:txBody>
      </p:sp>
      <p:sp>
        <p:nvSpPr>
          <p:cNvPr id="4" name="Slide Number Placeholder 3"/>
          <p:cNvSpPr>
            <a:spLocks noGrp="1"/>
          </p:cNvSpPr>
          <p:nvPr>
            <p:ph type="sldNum" sz="quarter" idx="12"/>
          </p:nvPr>
        </p:nvSpPr>
        <p:spPr/>
        <p:txBody>
          <a:bodyPr/>
          <a:lstStyle/>
          <a:p>
            <a:fld id="{04EAA311-F8B8-413B-ACCD-5A57951484CD}" type="slidenum">
              <a:rPr lang="en-US" smtClean="0"/>
              <a:t>4</a:t>
            </a:fld>
            <a:endParaRPr lang="en-US"/>
          </a:p>
        </p:txBody>
      </p:sp>
      <p:sp>
        <p:nvSpPr>
          <p:cNvPr id="5" name="TextBox 4">
            <a:extLst>
              <a:ext uri="{FF2B5EF4-FFF2-40B4-BE49-F238E27FC236}">
                <a16:creationId xmlns:a16="http://schemas.microsoft.com/office/drawing/2014/main" id="{805C3B80-F7C8-2967-96D7-0C9593710F42}"/>
              </a:ext>
            </a:extLst>
          </p:cNvPr>
          <p:cNvSpPr txBox="1"/>
          <p:nvPr/>
        </p:nvSpPr>
        <p:spPr>
          <a:xfrm>
            <a:off x="849086" y="1934367"/>
            <a:ext cx="9699171" cy="235295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a:solidFill>
                  <a:schemeClr val="accent1">
                    <a:lumMod val="75000"/>
                  </a:schemeClr>
                </a:solidFill>
              </a:rPr>
              <a:t>Packages in Python are collections of related modules organized in a directory.</a:t>
            </a:r>
          </a:p>
          <a:p>
            <a:pPr marL="342900" indent="-342900">
              <a:lnSpc>
                <a:spcPct val="150000"/>
              </a:lnSpc>
              <a:buFont typeface="Arial" panose="020B0604020202020204" pitchFamily="34" charset="0"/>
              <a:buChar char="•"/>
            </a:pPr>
            <a:r>
              <a:rPr lang="en-US" sz="2000" b="1">
                <a:solidFill>
                  <a:schemeClr val="accent1">
                    <a:lumMod val="75000"/>
                  </a:schemeClr>
                </a:solidFill>
              </a:rPr>
              <a:t>To create a package:</a:t>
            </a:r>
          </a:p>
          <a:p>
            <a:pPr marL="800100" lvl="1" indent="-342900">
              <a:lnSpc>
                <a:spcPct val="150000"/>
              </a:lnSpc>
              <a:buFont typeface="Arial" panose="020B0604020202020204" pitchFamily="34" charset="0"/>
              <a:buChar char="•"/>
            </a:pPr>
            <a:r>
              <a:rPr lang="en-US" sz="2000" b="1">
                <a:solidFill>
                  <a:schemeClr val="accent1">
                    <a:lumMod val="75000"/>
                  </a:schemeClr>
                </a:solidFill>
              </a:rPr>
              <a:t>Organize related modules into a directory.</a:t>
            </a:r>
          </a:p>
          <a:p>
            <a:pPr marL="800100" lvl="1" indent="-342900">
              <a:lnSpc>
                <a:spcPct val="150000"/>
              </a:lnSpc>
              <a:buFont typeface="Arial" panose="020B0604020202020204" pitchFamily="34" charset="0"/>
              <a:buChar char="•"/>
            </a:pPr>
            <a:r>
              <a:rPr lang="en-US" sz="2000" b="1">
                <a:solidFill>
                  <a:schemeClr val="accent1">
                    <a:lumMod val="75000"/>
                  </a:schemeClr>
                </a:solidFill>
              </a:rPr>
              <a:t>Include an __init__.py file to signal that it's a package.</a:t>
            </a:r>
          </a:p>
          <a:p>
            <a:pPr marL="342900" indent="-342900">
              <a:lnSpc>
                <a:spcPct val="150000"/>
              </a:lnSpc>
              <a:buFont typeface="Arial" panose="020B0604020202020204" pitchFamily="34" charset="0"/>
              <a:buChar char="•"/>
            </a:pPr>
            <a:r>
              <a:rPr lang="en-US" sz="2000" b="1">
                <a:solidFill>
                  <a:schemeClr val="accent1">
                    <a:lumMod val="75000"/>
                  </a:schemeClr>
                </a:solidFill>
              </a:rPr>
              <a:t>Packages provide a structured way to manage and organize code.</a:t>
            </a:r>
          </a:p>
        </p:txBody>
      </p:sp>
    </p:spTree>
    <p:extLst>
      <p:ext uri="{BB962C8B-B14F-4D97-AF65-F5344CB8AC3E}">
        <p14:creationId xmlns:p14="http://schemas.microsoft.com/office/powerpoint/2010/main" val="2457801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from…import Statement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a:t>
            </a:fld>
            <a:endParaRPr lang="en-US"/>
          </a:p>
        </p:txBody>
      </p:sp>
      <p:pic>
        <p:nvPicPr>
          <p:cNvPr id="7" name="Picture 6"/>
          <p:cNvPicPr>
            <a:picLocks noChangeAspect="1"/>
          </p:cNvPicPr>
          <p:nvPr/>
        </p:nvPicPr>
        <p:blipFill>
          <a:blip r:embed="rId2"/>
          <a:stretch>
            <a:fillRect/>
          </a:stretch>
        </p:blipFill>
        <p:spPr>
          <a:xfrm>
            <a:off x="1406212" y="3380446"/>
            <a:ext cx="2947046" cy="1841953"/>
          </a:xfrm>
          <a:prstGeom prst="rect">
            <a:avLst/>
          </a:prstGeom>
        </p:spPr>
      </p:pic>
      <p:pic>
        <p:nvPicPr>
          <p:cNvPr id="9" name="Picture 8"/>
          <p:cNvPicPr>
            <a:picLocks noChangeAspect="1"/>
          </p:cNvPicPr>
          <p:nvPr/>
        </p:nvPicPr>
        <p:blipFill rotWithShape="1">
          <a:blip r:embed="rId3"/>
          <a:srcRect l="259" t="47427" r="66339" b="9483"/>
          <a:stretch/>
        </p:blipFill>
        <p:spPr>
          <a:xfrm>
            <a:off x="199053" y="6078794"/>
            <a:ext cx="3513137" cy="607593"/>
          </a:xfrm>
          <a:prstGeom prst="rect">
            <a:avLst/>
          </a:prstGeom>
        </p:spPr>
      </p:pic>
      <p:sp>
        <p:nvSpPr>
          <p:cNvPr id="11" name="TextBox 10"/>
          <p:cNvSpPr txBox="1"/>
          <p:nvPr/>
        </p:nvSpPr>
        <p:spPr>
          <a:xfrm>
            <a:off x="199053" y="3390677"/>
            <a:ext cx="2414319" cy="369332"/>
          </a:xfrm>
          <a:prstGeom prst="rect">
            <a:avLst/>
          </a:prstGeom>
          <a:noFill/>
        </p:spPr>
        <p:txBody>
          <a:bodyPr wrap="square" rtlCol="0">
            <a:spAutoFit/>
          </a:bodyPr>
          <a:lstStyle/>
          <a:p>
            <a:r>
              <a:rPr lang="en-IN"/>
              <a:t>Example:</a:t>
            </a:r>
          </a:p>
        </p:txBody>
      </p:sp>
      <p:sp>
        <p:nvSpPr>
          <p:cNvPr id="5" name="Rectangle 4"/>
          <p:cNvSpPr/>
          <p:nvPr/>
        </p:nvSpPr>
        <p:spPr>
          <a:xfrm>
            <a:off x="160179" y="1574875"/>
            <a:ext cx="11752292" cy="1754326"/>
          </a:xfrm>
          <a:prstGeom prst="rect">
            <a:avLst/>
          </a:prstGeom>
        </p:spPr>
        <p:txBody>
          <a:bodyPr wrap="square">
            <a:spAutoFit/>
          </a:bodyPr>
          <a:lstStyle/>
          <a:p>
            <a:pPr algn="just">
              <a:lnSpc>
                <a:spcPct val="150000"/>
              </a:lnSpc>
            </a:pPr>
            <a:r>
              <a:rPr lang="en-IN" b="1">
                <a:solidFill>
                  <a:schemeClr val="accent1">
                    <a:lumMod val="75000"/>
                  </a:schemeClr>
                </a:solidFill>
              </a:rPr>
              <a:t>A module may contain definition for many variables and functions. When you import a module, you can use any variable or function defined in that module. But if you want to use only selected variables or functions, then you can use the from...import statement. For example, in the aforementioned program you are using only the path variable in the sys module, so you could have better written from sys import path.</a:t>
            </a:r>
          </a:p>
        </p:txBody>
      </p:sp>
      <p:sp>
        <p:nvSpPr>
          <p:cNvPr id="6" name="Rectangle 5"/>
          <p:cNvSpPr/>
          <p:nvPr/>
        </p:nvSpPr>
        <p:spPr>
          <a:xfrm>
            <a:off x="160178" y="5227485"/>
            <a:ext cx="11752293" cy="874022"/>
          </a:xfrm>
          <a:prstGeom prst="rect">
            <a:avLst/>
          </a:prstGeom>
        </p:spPr>
        <p:txBody>
          <a:bodyPr wrap="square">
            <a:spAutoFit/>
          </a:bodyPr>
          <a:lstStyle/>
          <a:p>
            <a:pPr>
              <a:lnSpc>
                <a:spcPct val="150000"/>
              </a:lnSpc>
            </a:pPr>
            <a:r>
              <a:rPr lang="en-IN" b="1">
                <a:solidFill>
                  <a:schemeClr val="accent1">
                    <a:lumMod val="75000"/>
                  </a:schemeClr>
                </a:solidFill>
              </a:rPr>
              <a:t>To import more than one item from a module, use a comma separated list. For example, to import the value of pi and </a:t>
            </a:r>
            <a:r>
              <a:rPr lang="en-IN" b="1" err="1">
                <a:solidFill>
                  <a:schemeClr val="accent1">
                    <a:lumMod val="75000"/>
                  </a:schemeClr>
                </a:solidFill>
              </a:rPr>
              <a:t>sqrt</a:t>
            </a:r>
            <a:r>
              <a:rPr lang="en-IN" b="1">
                <a:solidFill>
                  <a:schemeClr val="accent1">
                    <a:lumMod val="75000"/>
                  </a:schemeClr>
                </a:solidFill>
              </a:rPr>
              <a:t>() from the math module you can write</a:t>
            </a:r>
            <a:r>
              <a:rPr lang="en-IN">
                <a:latin typeface="TimesNewRomanPSMT"/>
              </a:rPr>
              <a:t>,</a:t>
            </a:r>
            <a:endParaRPr lang="en-IN"/>
          </a:p>
        </p:txBody>
      </p:sp>
    </p:spTree>
    <p:extLst>
      <p:ext uri="{BB962C8B-B14F-4D97-AF65-F5344CB8AC3E}">
        <p14:creationId xmlns:p14="http://schemas.microsoft.com/office/powerpoint/2010/main" val="4256988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Making your own Modules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6</a:t>
            </a:fld>
            <a:endParaRPr lang="en-US"/>
          </a:p>
        </p:txBody>
      </p:sp>
      <p:sp>
        <p:nvSpPr>
          <p:cNvPr id="5" name="Rectangle 4"/>
          <p:cNvSpPr/>
          <p:nvPr/>
        </p:nvSpPr>
        <p:spPr>
          <a:xfrm>
            <a:off x="180975" y="1666955"/>
            <a:ext cx="11830050" cy="369332"/>
          </a:xfrm>
          <a:prstGeom prst="rect">
            <a:avLst/>
          </a:prstGeom>
        </p:spPr>
        <p:txBody>
          <a:bodyPr wrap="square">
            <a:spAutoFit/>
          </a:bodyPr>
          <a:lstStyle/>
          <a:p>
            <a:pPr algn="just"/>
            <a:r>
              <a:rPr lang="en-US" b="1">
                <a:solidFill>
                  <a:schemeClr val="accent1">
                    <a:lumMod val="75000"/>
                  </a:schemeClr>
                </a:solidFill>
              </a:rPr>
              <a:t>Every Python program is a module, that is, every file that you save as .</a:t>
            </a:r>
            <a:r>
              <a:rPr lang="en-US" b="1" err="1">
                <a:solidFill>
                  <a:schemeClr val="accent1">
                    <a:lumMod val="75000"/>
                  </a:schemeClr>
                </a:solidFill>
              </a:rPr>
              <a:t>py</a:t>
            </a:r>
            <a:r>
              <a:rPr lang="en-US" b="1">
                <a:solidFill>
                  <a:schemeClr val="accent1">
                    <a:lumMod val="75000"/>
                  </a:schemeClr>
                </a:solidFill>
              </a:rPr>
              <a:t> extension is a module.  </a:t>
            </a:r>
          </a:p>
        </p:txBody>
      </p:sp>
      <p:pic>
        <p:nvPicPr>
          <p:cNvPr id="6" name="Picture 5"/>
          <p:cNvPicPr>
            <a:picLocks noChangeAspect="1"/>
          </p:cNvPicPr>
          <p:nvPr/>
        </p:nvPicPr>
        <p:blipFill>
          <a:blip r:embed="rId2"/>
          <a:stretch>
            <a:fillRect/>
          </a:stretch>
        </p:blipFill>
        <p:spPr>
          <a:xfrm>
            <a:off x="1520042" y="2152739"/>
            <a:ext cx="9476406" cy="4133676"/>
          </a:xfrm>
          <a:prstGeom prst="rect">
            <a:avLst/>
          </a:prstGeom>
        </p:spPr>
      </p:pic>
      <p:sp>
        <p:nvSpPr>
          <p:cNvPr id="8" name="TextBox 7"/>
          <p:cNvSpPr txBox="1"/>
          <p:nvPr/>
        </p:nvSpPr>
        <p:spPr>
          <a:xfrm>
            <a:off x="185738" y="2281260"/>
            <a:ext cx="1215550" cy="369332"/>
          </a:xfrm>
          <a:prstGeom prst="rect">
            <a:avLst/>
          </a:prstGeom>
          <a:noFill/>
        </p:spPr>
        <p:txBody>
          <a:bodyPr wrap="square" rtlCol="0">
            <a:spAutoFit/>
          </a:bodyPr>
          <a:lstStyle/>
          <a:p>
            <a:r>
              <a:rPr lang="en-IN"/>
              <a:t>Examples:</a:t>
            </a:r>
          </a:p>
        </p:txBody>
      </p:sp>
    </p:spTree>
    <p:extLst>
      <p:ext uri="{BB962C8B-B14F-4D97-AF65-F5344CB8AC3E}">
        <p14:creationId xmlns:p14="http://schemas.microsoft.com/office/powerpoint/2010/main" val="1581091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a:t>
            </a:r>
            <a:r>
              <a:rPr lang="en-US" sz="3200" b="1" err="1"/>
              <a:t>dir</a:t>
            </a:r>
            <a:r>
              <a:rPr lang="en-US" sz="3200" b="1"/>
              <a:t>() function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7</a:t>
            </a:fld>
            <a:endParaRPr lang="en-US"/>
          </a:p>
        </p:txBody>
      </p:sp>
      <p:sp>
        <p:nvSpPr>
          <p:cNvPr id="5" name="Rectangle 4"/>
          <p:cNvSpPr/>
          <p:nvPr/>
        </p:nvSpPr>
        <p:spPr>
          <a:xfrm>
            <a:off x="180975" y="1578184"/>
            <a:ext cx="11830050" cy="1338828"/>
          </a:xfrm>
          <a:prstGeom prst="rect">
            <a:avLst/>
          </a:prstGeom>
        </p:spPr>
        <p:txBody>
          <a:bodyPr wrap="square">
            <a:spAutoFit/>
          </a:bodyPr>
          <a:lstStyle/>
          <a:p>
            <a:pPr algn="just">
              <a:lnSpc>
                <a:spcPct val="150000"/>
              </a:lnSpc>
            </a:pPr>
            <a:r>
              <a:rPr lang="en-US" b="1" err="1">
                <a:solidFill>
                  <a:srgbClr val="C00000"/>
                </a:solidFill>
              </a:rPr>
              <a:t>dir</a:t>
            </a:r>
            <a:r>
              <a:rPr lang="en-US" b="1">
                <a:solidFill>
                  <a:srgbClr val="C00000"/>
                </a:solidFill>
              </a:rPr>
              <a:t>() </a:t>
            </a:r>
            <a:r>
              <a:rPr lang="en-US" b="1">
                <a:solidFill>
                  <a:schemeClr val="accent1">
                    <a:lumMod val="75000"/>
                  </a:schemeClr>
                </a:solidFill>
              </a:rPr>
              <a:t>is a built-in function that lists the identifiers defined in a module. These identifiers may include functions, classes and variables. If no name is specified, the </a:t>
            </a:r>
            <a:r>
              <a:rPr lang="en-US" b="1" err="1">
                <a:solidFill>
                  <a:schemeClr val="accent1">
                    <a:lumMod val="75000"/>
                  </a:schemeClr>
                </a:solidFill>
              </a:rPr>
              <a:t>dir</a:t>
            </a:r>
            <a:r>
              <a:rPr lang="en-US" b="1">
                <a:solidFill>
                  <a:schemeClr val="accent1">
                    <a:lumMod val="75000"/>
                  </a:schemeClr>
                </a:solidFill>
              </a:rPr>
              <a:t>() will return the list of names defined in the current module. </a:t>
            </a:r>
          </a:p>
        </p:txBody>
      </p:sp>
      <p:pic>
        <p:nvPicPr>
          <p:cNvPr id="9" name="Picture 8"/>
          <p:cNvPicPr>
            <a:picLocks noChangeAspect="1"/>
          </p:cNvPicPr>
          <p:nvPr/>
        </p:nvPicPr>
        <p:blipFill>
          <a:blip r:embed="rId2"/>
          <a:stretch>
            <a:fillRect/>
          </a:stretch>
        </p:blipFill>
        <p:spPr>
          <a:xfrm>
            <a:off x="288297" y="3537453"/>
            <a:ext cx="7814694" cy="2114573"/>
          </a:xfrm>
          <a:prstGeom prst="rect">
            <a:avLst/>
          </a:prstGeom>
        </p:spPr>
      </p:pic>
      <p:sp>
        <p:nvSpPr>
          <p:cNvPr id="7" name="TextBox 6"/>
          <p:cNvSpPr txBox="1"/>
          <p:nvPr/>
        </p:nvSpPr>
        <p:spPr>
          <a:xfrm>
            <a:off x="185738" y="3116823"/>
            <a:ext cx="2414319" cy="369332"/>
          </a:xfrm>
          <a:prstGeom prst="rect">
            <a:avLst/>
          </a:prstGeom>
          <a:noFill/>
        </p:spPr>
        <p:txBody>
          <a:bodyPr wrap="square" rtlCol="0">
            <a:spAutoFit/>
          </a:bodyPr>
          <a:lstStyle/>
          <a:p>
            <a:r>
              <a:rPr lang="en-IN"/>
              <a:t>Example:</a:t>
            </a:r>
          </a:p>
        </p:txBody>
      </p:sp>
    </p:spTree>
    <p:extLst>
      <p:ext uri="{BB962C8B-B14F-4D97-AF65-F5344CB8AC3E}">
        <p14:creationId xmlns:p14="http://schemas.microsoft.com/office/powerpoint/2010/main" val="1376361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Modules and Namespaces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8</a:t>
            </a:fld>
            <a:endParaRPr lang="en-US"/>
          </a:p>
        </p:txBody>
      </p:sp>
      <p:sp>
        <p:nvSpPr>
          <p:cNvPr id="5" name="Rectangle 4"/>
          <p:cNvSpPr/>
          <p:nvPr/>
        </p:nvSpPr>
        <p:spPr>
          <a:xfrm>
            <a:off x="180975" y="1603082"/>
            <a:ext cx="11830050" cy="2169825"/>
          </a:xfrm>
          <a:prstGeom prst="rect">
            <a:avLst/>
          </a:prstGeom>
        </p:spPr>
        <p:txBody>
          <a:bodyPr wrap="square">
            <a:spAutoFit/>
          </a:bodyPr>
          <a:lstStyle/>
          <a:p>
            <a:pPr algn="just">
              <a:lnSpc>
                <a:spcPct val="150000"/>
              </a:lnSpc>
            </a:pPr>
            <a:r>
              <a:rPr lang="en-US" b="1">
                <a:solidFill>
                  <a:schemeClr val="accent1">
                    <a:lumMod val="75000"/>
                  </a:schemeClr>
                </a:solidFill>
              </a:rPr>
              <a:t>A </a:t>
            </a:r>
            <a:r>
              <a:rPr lang="en-US" b="1">
                <a:solidFill>
                  <a:srgbClr val="C00000"/>
                </a:solidFill>
              </a:rPr>
              <a:t>namespace</a:t>
            </a:r>
            <a:r>
              <a:rPr lang="en-US" b="1">
                <a:solidFill>
                  <a:schemeClr val="accent1">
                    <a:lumMod val="75000"/>
                  </a:schemeClr>
                </a:solidFill>
              </a:rPr>
              <a:t> is a container that provides a named context for identifiers. Two identifiers with the same name in the same scope will lead to a name clash. In simple terms, Python does not allow programmers to have two different identifiers with the same name. However, in some situations we need to have same name identifiers. To cater to such situations, namespaces is the keyword. Namespaces enable programs to avoid potential name clashes by associating each identifier with the namespace from which it originates. </a:t>
            </a:r>
          </a:p>
        </p:txBody>
      </p:sp>
      <p:sp>
        <p:nvSpPr>
          <p:cNvPr id="8" name="TextBox 7"/>
          <p:cNvSpPr txBox="1"/>
          <p:nvPr/>
        </p:nvSpPr>
        <p:spPr>
          <a:xfrm>
            <a:off x="185738" y="3846942"/>
            <a:ext cx="1207159" cy="369332"/>
          </a:xfrm>
          <a:prstGeom prst="rect">
            <a:avLst/>
          </a:prstGeom>
          <a:noFill/>
        </p:spPr>
        <p:txBody>
          <a:bodyPr wrap="square" rtlCol="0">
            <a:spAutoFit/>
          </a:bodyPr>
          <a:lstStyle/>
          <a:p>
            <a:r>
              <a:rPr lang="en-IN"/>
              <a:t>Example:</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117" y="3846942"/>
            <a:ext cx="7204364" cy="28394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91296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      Local, Global, and Built-in Namespaces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9</a:t>
            </a:fld>
            <a:endParaRPr lang="en-US"/>
          </a:p>
        </p:txBody>
      </p:sp>
      <p:sp>
        <p:nvSpPr>
          <p:cNvPr id="5" name="Rectangle 4"/>
          <p:cNvSpPr/>
          <p:nvPr/>
        </p:nvSpPr>
        <p:spPr>
          <a:xfrm>
            <a:off x="180975" y="1550504"/>
            <a:ext cx="11830050" cy="3416320"/>
          </a:xfrm>
          <a:prstGeom prst="rect">
            <a:avLst/>
          </a:prstGeom>
        </p:spPr>
        <p:txBody>
          <a:bodyPr wrap="square">
            <a:spAutoFit/>
          </a:bodyPr>
          <a:lstStyle/>
          <a:p>
            <a:pPr algn="just">
              <a:lnSpc>
                <a:spcPct val="150000"/>
              </a:lnSpc>
            </a:pPr>
            <a:r>
              <a:rPr lang="en-US" b="1">
                <a:solidFill>
                  <a:schemeClr val="accent1">
                    <a:lumMod val="75000"/>
                  </a:schemeClr>
                </a:solidFill>
              </a:rPr>
              <a:t>During a program’s execution, there are three main namespaces that are referenced- the built-in namespace, the global namespace, and the local namespace. The built-in namespace, as the name suggests contains names of all the built-in functions, constants, </a:t>
            </a:r>
            <a:r>
              <a:rPr lang="en-US" b="1" err="1">
                <a:solidFill>
                  <a:schemeClr val="accent1">
                    <a:lumMod val="75000"/>
                  </a:schemeClr>
                </a:solidFill>
              </a:rPr>
              <a:t>etc</a:t>
            </a:r>
            <a:r>
              <a:rPr lang="en-US" b="1">
                <a:solidFill>
                  <a:schemeClr val="accent1">
                    <a:lumMod val="75000"/>
                  </a:schemeClr>
                </a:solidFill>
              </a:rPr>
              <a:t> that are already defined in Python. The global namespace contains identifiers of the currently executing module and the local namespace has identifiers defined in the currently executing function (if any). </a:t>
            </a:r>
          </a:p>
          <a:p>
            <a:pPr algn="just">
              <a:lnSpc>
                <a:spcPct val="150000"/>
              </a:lnSpc>
            </a:pPr>
            <a:r>
              <a:rPr lang="en-US" b="1">
                <a:solidFill>
                  <a:schemeClr val="accent1">
                    <a:lumMod val="75000"/>
                  </a:schemeClr>
                </a:solidFill>
              </a:rPr>
              <a:t>When the Python interpreter sees an identifier, it first searches the local namespace, then the global namespace, and finally the built-in namespace. Therefore, if two identifiers with same name are defined in more than one of these namespaces, it becomes masked. </a:t>
            </a:r>
          </a:p>
        </p:txBody>
      </p:sp>
    </p:spTree>
    <p:extLst>
      <p:ext uri="{BB962C8B-B14F-4D97-AF65-F5344CB8AC3E}">
        <p14:creationId xmlns:p14="http://schemas.microsoft.com/office/powerpoint/2010/main" val="1416324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     Local, Global, and Built-in Namespaces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10</a:t>
            </a:fld>
            <a:endParaRPr lang="en-US"/>
          </a:p>
        </p:txBody>
      </p:sp>
      <p:pic>
        <p:nvPicPr>
          <p:cNvPr id="6" name="Picture 5"/>
          <p:cNvPicPr>
            <a:picLocks noChangeAspect="1"/>
          </p:cNvPicPr>
          <p:nvPr/>
        </p:nvPicPr>
        <p:blipFill>
          <a:blip r:embed="rId2"/>
          <a:stretch>
            <a:fillRect/>
          </a:stretch>
        </p:blipFill>
        <p:spPr>
          <a:xfrm>
            <a:off x="1886650" y="1894833"/>
            <a:ext cx="8299358" cy="2201208"/>
          </a:xfrm>
          <a:prstGeom prst="rect">
            <a:avLst/>
          </a:prstGeom>
        </p:spPr>
      </p:pic>
      <p:pic>
        <p:nvPicPr>
          <p:cNvPr id="7" name="Picture 6"/>
          <p:cNvPicPr>
            <a:picLocks noChangeAspect="1"/>
          </p:cNvPicPr>
          <p:nvPr/>
        </p:nvPicPr>
        <p:blipFill>
          <a:blip r:embed="rId3"/>
          <a:stretch>
            <a:fillRect/>
          </a:stretch>
        </p:blipFill>
        <p:spPr>
          <a:xfrm>
            <a:off x="1886650" y="3882262"/>
            <a:ext cx="8299358" cy="2439000"/>
          </a:xfrm>
          <a:prstGeom prst="rect">
            <a:avLst/>
          </a:prstGeom>
        </p:spPr>
      </p:pic>
      <p:sp>
        <p:nvSpPr>
          <p:cNvPr id="9" name="TextBox 8"/>
          <p:cNvSpPr txBox="1"/>
          <p:nvPr/>
        </p:nvSpPr>
        <p:spPr>
          <a:xfrm>
            <a:off x="144442" y="1710167"/>
            <a:ext cx="1518103" cy="369332"/>
          </a:xfrm>
          <a:prstGeom prst="rect">
            <a:avLst/>
          </a:prstGeom>
          <a:noFill/>
        </p:spPr>
        <p:txBody>
          <a:bodyPr wrap="square" rtlCol="0">
            <a:spAutoFit/>
          </a:bodyPr>
          <a:lstStyle/>
          <a:p>
            <a:r>
              <a:rPr lang="en-IN"/>
              <a:t>Example:</a:t>
            </a:r>
          </a:p>
        </p:txBody>
      </p:sp>
    </p:spTree>
    <p:extLst>
      <p:ext uri="{BB962C8B-B14F-4D97-AF65-F5344CB8AC3E}">
        <p14:creationId xmlns:p14="http://schemas.microsoft.com/office/powerpoint/2010/main" val="1418249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Module Private Variables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11</a:t>
            </a:fld>
            <a:endParaRPr lang="en-US"/>
          </a:p>
        </p:txBody>
      </p:sp>
      <p:sp>
        <p:nvSpPr>
          <p:cNvPr id="5" name="Rectangle 4"/>
          <p:cNvSpPr/>
          <p:nvPr/>
        </p:nvSpPr>
        <p:spPr>
          <a:xfrm>
            <a:off x="180975" y="1654849"/>
            <a:ext cx="11830050" cy="3831818"/>
          </a:xfrm>
          <a:prstGeom prst="rect">
            <a:avLst/>
          </a:prstGeom>
        </p:spPr>
        <p:txBody>
          <a:bodyPr wrap="square">
            <a:spAutoFit/>
          </a:bodyPr>
          <a:lstStyle/>
          <a:p>
            <a:pPr algn="just">
              <a:lnSpc>
                <a:spcPct val="150000"/>
              </a:lnSpc>
            </a:pPr>
            <a:r>
              <a:rPr lang="en-US" b="1">
                <a:solidFill>
                  <a:schemeClr val="accent1">
                    <a:lumMod val="75000"/>
                  </a:schemeClr>
                </a:solidFill>
              </a:rPr>
              <a:t>In Python, all identifiers defined in a module are public by default. This means that all identifiers are accessible by any other module that imports it. But, if you want some variables or functions in a module to be privately used within the module, but not to be accessed from outside it, then you need to declare those identifiers as private.</a:t>
            </a:r>
          </a:p>
          <a:p>
            <a:pPr algn="just">
              <a:lnSpc>
                <a:spcPct val="150000"/>
              </a:lnSpc>
            </a:pPr>
            <a:r>
              <a:rPr lang="en-US" b="1">
                <a:solidFill>
                  <a:schemeClr val="accent1">
                    <a:lumMod val="75000"/>
                  </a:schemeClr>
                </a:solidFill>
              </a:rPr>
              <a:t>In Python identifiers whose name starts with two underscores (__) are known as private identifiers. These identifiers can be used only within the module. In no way, they can be accessed from outside the module. Therefore, when the module is imported using the </a:t>
            </a:r>
            <a:r>
              <a:rPr lang="en-US" b="1">
                <a:solidFill>
                  <a:srgbClr val="C00000"/>
                </a:solidFill>
              </a:rPr>
              <a:t>import * form </a:t>
            </a:r>
            <a:r>
              <a:rPr lang="en-US" b="1" err="1">
                <a:solidFill>
                  <a:srgbClr val="C00000"/>
                </a:solidFill>
              </a:rPr>
              <a:t>modulename</a:t>
            </a:r>
            <a:r>
              <a:rPr lang="en-US" b="1"/>
              <a:t>, </a:t>
            </a:r>
            <a:r>
              <a:rPr lang="en-US" b="1" i="1">
                <a:solidFill>
                  <a:schemeClr val="accent1">
                    <a:lumMod val="75000"/>
                  </a:schemeClr>
                </a:solidFill>
              </a:rPr>
              <a:t>all the identifiers of a module’s namespace is imported except the private ones (ones beginning with double underscores). Thus, private identifiers become inaccessible from within the importing module. 	</a:t>
            </a:r>
          </a:p>
        </p:txBody>
      </p:sp>
    </p:spTree>
    <p:extLst>
      <p:ext uri="{BB962C8B-B14F-4D97-AF65-F5344CB8AC3E}">
        <p14:creationId xmlns:p14="http://schemas.microsoft.com/office/powerpoint/2010/main" val="2478042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Packages in Python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12</a:t>
            </a:fld>
            <a:endParaRPr lang="en-US"/>
          </a:p>
        </p:txBody>
      </p:sp>
      <p:sp>
        <p:nvSpPr>
          <p:cNvPr id="5" name="Rectangle 4"/>
          <p:cNvSpPr/>
          <p:nvPr/>
        </p:nvSpPr>
        <p:spPr>
          <a:xfrm>
            <a:off x="106878" y="1168795"/>
            <a:ext cx="11908909" cy="5509200"/>
          </a:xfrm>
          <a:prstGeom prst="rect">
            <a:avLst/>
          </a:prstGeom>
        </p:spPr>
        <p:txBody>
          <a:bodyPr wrap="square">
            <a:spAutoFit/>
          </a:bodyPr>
          <a:lstStyle/>
          <a:p>
            <a:endParaRPr lang="en-US" sz="2800"/>
          </a:p>
          <a:p>
            <a:pPr algn="just">
              <a:lnSpc>
                <a:spcPct val="150000"/>
              </a:lnSpc>
            </a:pPr>
            <a:r>
              <a:rPr lang="en-US" b="1">
                <a:solidFill>
                  <a:schemeClr val="accent1">
                    <a:lumMod val="75000"/>
                  </a:schemeClr>
                </a:solidFill>
              </a:rPr>
              <a:t>A package is a hierarchical file directory structure that has modules and other packages within it. Like modules, you can very easily create packages in Python.</a:t>
            </a:r>
          </a:p>
          <a:p>
            <a:pPr algn="just">
              <a:lnSpc>
                <a:spcPct val="150000"/>
              </a:lnSpc>
            </a:pPr>
            <a:r>
              <a:rPr lang="en-US" b="1">
                <a:solidFill>
                  <a:schemeClr val="accent1">
                    <a:lumMod val="75000"/>
                  </a:schemeClr>
                </a:solidFill>
              </a:rPr>
              <a:t>Every package in Python is a directory which must have a special file called </a:t>
            </a:r>
            <a:r>
              <a:rPr lang="en-US" b="1">
                <a:solidFill>
                  <a:srgbClr val="C00000"/>
                </a:solidFill>
              </a:rPr>
              <a:t>__init__.py. </a:t>
            </a:r>
            <a:r>
              <a:rPr lang="en-US" b="1">
                <a:solidFill>
                  <a:schemeClr val="accent1">
                    <a:lumMod val="75000"/>
                  </a:schemeClr>
                </a:solidFill>
              </a:rPr>
              <a:t>This file may not even have a single line of code. It is simply added to indicate that this directory is not an ordinary directory and contains a Python package. In your programs, you can import a package in the same way as you import any module. </a:t>
            </a:r>
          </a:p>
          <a:p>
            <a:pPr algn="just">
              <a:lnSpc>
                <a:spcPct val="150000"/>
              </a:lnSpc>
            </a:pPr>
            <a:r>
              <a:rPr lang="en-US" b="1">
                <a:solidFill>
                  <a:schemeClr val="accent1">
                    <a:lumMod val="75000"/>
                  </a:schemeClr>
                </a:solidFill>
              </a:rPr>
              <a:t>For example, to create a package called </a:t>
            </a:r>
            <a:r>
              <a:rPr lang="en-US" b="1" err="1">
                <a:solidFill>
                  <a:srgbClr val="C00000"/>
                </a:solidFill>
              </a:rPr>
              <a:t>MyPackage</a:t>
            </a:r>
            <a:r>
              <a:rPr lang="en-US" b="1">
                <a:solidFill>
                  <a:schemeClr val="accent1">
                    <a:lumMod val="75000"/>
                  </a:schemeClr>
                </a:solidFill>
              </a:rPr>
              <a:t>, create a directory called </a:t>
            </a:r>
            <a:r>
              <a:rPr lang="en-US" b="1" err="1">
                <a:solidFill>
                  <a:srgbClr val="C00000"/>
                </a:solidFill>
              </a:rPr>
              <a:t>MyPackage</a:t>
            </a:r>
            <a:r>
              <a:rPr lang="en-US" b="1">
                <a:solidFill>
                  <a:srgbClr val="C00000"/>
                </a:solidFill>
              </a:rPr>
              <a:t> </a:t>
            </a:r>
            <a:r>
              <a:rPr lang="en-US" b="1">
                <a:solidFill>
                  <a:schemeClr val="accent1">
                    <a:lumMod val="75000"/>
                  </a:schemeClr>
                </a:solidFill>
              </a:rPr>
              <a:t>having the module </a:t>
            </a:r>
            <a:r>
              <a:rPr lang="en-US" b="1" err="1">
                <a:solidFill>
                  <a:srgbClr val="C00000"/>
                </a:solidFill>
              </a:rPr>
              <a:t>MyModule</a:t>
            </a:r>
            <a:r>
              <a:rPr lang="en-US" b="1">
                <a:solidFill>
                  <a:srgbClr val="C00000"/>
                </a:solidFill>
              </a:rPr>
              <a:t> </a:t>
            </a:r>
            <a:r>
              <a:rPr lang="en-US" b="1">
                <a:solidFill>
                  <a:schemeClr val="accent1">
                    <a:lumMod val="75000"/>
                  </a:schemeClr>
                </a:solidFill>
              </a:rPr>
              <a:t>and the </a:t>
            </a:r>
            <a:r>
              <a:rPr lang="en-US" b="1">
                <a:solidFill>
                  <a:srgbClr val="C00000"/>
                </a:solidFill>
              </a:rPr>
              <a:t>__init__.py </a:t>
            </a:r>
            <a:r>
              <a:rPr lang="en-US" b="1">
                <a:solidFill>
                  <a:schemeClr val="accent1">
                    <a:lumMod val="75000"/>
                  </a:schemeClr>
                </a:solidFill>
              </a:rPr>
              <a:t>file. Now, to use </a:t>
            </a:r>
            <a:r>
              <a:rPr lang="en-US" b="1" err="1">
                <a:solidFill>
                  <a:srgbClr val="C00000"/>
                </a:solidFill>
              </a:rPr>
              <a:t>MyModule</a:t>
            </a:r>
            <a:r>
              <a:rPr lang="en-US" b="1">
                <a:solidFill>
                  <a:srgbClr val="C00000"/>
                </a:solidFill>
              </a:rPr>
              <a:t> </a:t>
            </a:r>
            <a:r>
              <a:rPr lang="en-US" b="1">
                <a:solidFill>
                  <a:schemeClr val="accent1">
                    <a:lumMod val="75000"/>
                  </a:schemeClr>
                </a:solidFill>
              </a:rPr>
              <a:t>in a program, you must first import it. This can be done in two ways. </a:t>
            </a:r>
          </a:p>
          <a:p>
            <a:pPr algn="just">
              <a:lnSpc>
                <a:spcPct val="150000"/>
              </a:lnSpc>
            </a:pPr>
            <a:r>
              <a:rPr lang="en-US" b="1">
                <a:solidFill>
                  <a:srgbClr val="C00000"/>
                </a:solidFill>
              </a:rPr>
              <a:t>import </a:t>
            </a:r>
            <a:r>
              <a:rPr lang="en-US" b="1" err="1">
                <a:solidFill>
                  <a:srgbClr val="C00000"/>
                </a:solidFill>
              </a:rPr>
              <a:t>MyPackage.MyModule</a:t>
            </a:r>
            <a:r>
              <a:rPr lang="en-US" b="1">
                <a:solidFill>
                  <a:srgbClr val="C00000"/>
                </a:solidFill>
              </a:rPr>
              <a:t> </a:t>
            </a:r>
          </a:p>
          <a:p>
            <a:pPr algn="just">
              <a:lnSpc>
                <a:spcPct val="150000"/>
              </a:lnSpc>
            </a:pPr>
            <a:r>
              <a:rPr lang="en-US" b="1">
                <a:solidFill>
                  <a:schemeClr val="accent1">
                    <a:lumMod val="75000"/>
                  </a:schemeClr>
                </a:solidFill>
              </a:rPr>
              <a:t>or </a:t>
            </a:r>
          </a:p>
          <a:p>
            <a:pPr algn="just">
              <a:lnSpc>
                <a:spcPct val="150000"/>
              </a:lnSpc>
            </a:pPr>
            <a:r>
              <a:rPr lang="en-US" b="1">
                <a:solidFill>
                  <a:srgbClr val="C00000"/>
                </a:solidFill>
              </a:rPr>
              <a:t>from </a:t>
            </a:r>
            <a:r>
              <a:rPr lang="en-US" b="1" err="1">
                <a:solidFill>
                  <a:srgbClr val="C00000"/>
                </a:solidFill>
              </a:rPr>
              <a:t>MyPackage</a:t>
            </a:r>
            <a:r>
              <a:rPr lang="en-US" b="1">
                <a:solidFill>
                  <a:srgbClr val="C00000"/>
                </a:solidFill>
              </a:rPr>
              <a:t> import </a:t>
            </a:r>
            <a:r>
              <a:rPr lang="en-US" b="1" err="1">
                <a:solidFill>
                  <a:srgbClr val="C00000"/>
                </a:solidFill>
              </a:rPr>
              <a:t>MyModule</a:t>
            </a:r>
            <a:r>
              <a:rPr lang="en-US" b="1">
                <a:solidFill>
                  <a:srgbClr val="C00000"/>
                </a:solidFill>
              </a:rPr>
              <a:t> </a:t>
            </a:r>
          </a:p>
        </p:txBody>
      </p:sp>
    </p:spTree>
    <p:extLst>
      <p:ext uri="{BB962C8B-B14F-4D97-AF65-F5344CB8AC3E}">
        <p14:creationId xmlns:p14="http://schemas.microsoft.com/office/powerpoint/2010/main" val="3915490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Globals(), Locals(), And Reload()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13</a:t>
            </a:fld>
            <a:endParaRPr lang="en-US"/>
          </a:p>
        </p:txBody>
      </p:sp>
      <p:sp>
        <p:nvSpPr>
          <p:cNvPr id="5" name="Rectangle 4"/>
          <p:cNvSpPr/>
          <p:nvPr/>
        </p:nvSpPr>
        <p:spPr>
          <a:xfrm>
            <a:off x="166255" y="1340645"/>
            <a:ext cx="11849533" cy="5093702"/>
          </a:xfrm>
          <a:prstGeom prst="rect">
            <a:avLst/>
          </a:prstGeom>
        </p:spPr>
        <p:txBody>
          <a:bodyPr wrap="square">
            <a:spAutoFit/>
          </a:bodyPr>
          <a:lstStyle/>
          <a:p>
            <a:endParaRPr lang="en-US" sz="2800"/>
          </a:p>
          <a:p>
            <a:pPr algn="just">
              <a:lnSpc>
                <a:spcPct val="150000"/>
              </a:lnSpc>
            </a:pPr>
            <a:r>
              <a:rPr lang="en-US" b="1">
                <a:solidFill>
                  <a:schemeClr val="accent1">
                    <a:lumMod val="75000"/>
                  </a:schemeClr>
                </a:solidFill>
              </a:rPr>
              <a:t>The </a:t>
            </a:r>
            <a:r>
              <a:rPr lang="en-US" b="1" err="1">
                <a:solidFill>
                  <a:srgbClr val="C00000"/>
                </a:solidFill>
              </a:rPr>
              <a:t>globals</a:t>
            </a:r>
            <a:r>
              <a:rPr lang="en-US" b="1">
                <a:solidFill>
                  <a:srgbClr val="C00000"/>
                </a:solidFill>
              </a:rPr>
              <a:t>() </a:t>
            </a:r>
            <a:r>
              <a:rPr lang="en-US" b="1">
                <a:solidFill>
                  <a:schemeClr val="accent1">
                    <a:lumMod val="75000"/>
                  </a:schemeClr>
                </a:solidFill>
              </a:rPr>
              <a:t>and</a:t>
            </a:r>
            <a:r>
              <a:rPr lang="en-US" b="1"/>
              <a:t> </a:t>
            </a:r>
            <a:r>
              <a:rPr lang="en-US" b="1">
                <a:solidFill>
                  <a:srgbClr val="C00000"/>
                </a:solidFill>
              </a:rPr>
              <a:t>locals() </a:t>
            </a:r>
            <a:r>
              <a:rPr lang="en-US" b="1">
                <a:solidFill>
                  <a:schemeClr val="accent1">
                    <a:lumMod val="75000"/>
                  </a:schemeClr>
                </a:solidFill>
              </a:rPr>
              <a:t>functions are used to return the names in the global and local namespaces (In Python, each function, module, class, package, </a:t>
            </a:r>
            <a:r>
              <a:rPr lang="en-US" b="1" err="1">
                <a:solidFill>
                  <a:schemeClr val="accent1">
                    <a:lumMod val="75000"/>
                  </a:schemeClr>
                </a:solidFill>
              </a:rPr>
              <a:t>etc</a:t>
            </a:r>
            <a:r>
              <a:rPr lang="en-US" b="1">
                <a:solidFill>
                  <a:schemeClr val="accent1">
                    <a:lumMod val="75000"/>
                  </a:schemeClr>
                </a:solidFill>
              </a:rPr>
              <a:t> owns a “namespace” in which variable names are identified and resolved). The result of these functions is of course, dependent on the location from where they are called. For example, </a:t>
            </a:r>
          </a:p>
          <a:p>
            <a:pPr algn="just">
              <a:lnSpc>
                <a:spcPct val="150000"/>
              </a:lnSpc>
            </a:pPr>
            <a:r>
              <a:rPr lang="en-US" b="1">
                <a:solidFill>
                  <a:schemeClr val="accent1">
                    <a:lumMod val="75000"/>
                  </a:schemeClr>
                </a:solidFill>
              </a:rPr>
              <a:t>If </a:t>
            </a:r>
            <a:r>
              <a:rPr lang="en-US" b="1">
                <a:solidFill>
                  <a:srgbClr val="C00000"/>
                </a:solidFill>
              </a:rPr>
              <a:t>locals() </a:t>
            </a:r>
            <a:r>
              <a:rPr lang="en-US" b="1">
                <a:solidFill>
                  <a:schemeClr val="accent1">
                    <a:lumMod val="75000"/>
                  </a:schemeClr>
                </a:solidFill>
              </a:rPr>
              <a:t>is called from within a function, names that can be accessed locally from that function will be returned. </a:t>
            </a:r>
          </a:p>
          <a:p>
            <a:pPr algn="just">
              <a:lnSpc>
                <a:spcPct val="150000"/>
              </a:lnSpc>
            </a:pPr>
            <a:r>
              <a:rPr lang="en-US" b="1">
                <a:solidFill>
                  <a:schemeClr val="accent1">
                    <a:lumMod val="75000"/>
                  </a:schemeClr>
                </a:solidFill>
              </a:rPr>
              <a:t>If </a:t>
            </a:r>
            <a:r>
              <a:rPr lang="en-US" b="1" err="1">
                <a:solidFill>
                  <a:schemeClr val="accent1">
                    <a:lumMod val="75000"/>
                  </a:schemeClr>
                </a:solidFill>
              </a:rPr>
              <a:t>g</a:t>
            </a:r>
            <a:r>
              <a:rPr lang="en-US" b="1" err="1">
                <a:solidFill>
                  <a:srgbClr val="C00000"/>
                </a:solidFill>
              </a:rPr>
              <a:t>lobals</a:t>
            </a:r>
            <a:r>
              <a:rPr lang="en-US" b="1">
                <a:solidFill>
                  <a:srgbClr val="C00000"/>
                </a:solidFill>
              </a:rPr>
              <a:t>() </a:t>
            </a:r>
            <a:r>
              <a:rPr lang="en-US" b="1">
                <a:solidFill>
                  <a:schemeClr val="accent1">
                    <a:lumMod val="75000"/>
                  </a:schemeClr>
                </a:solidFill>
              </a:rPr>
              <a:t>is called from within a function, all the names that can be accessed globally from that function is returned.</a:t>
            </a:r>
          </a:p>
          <a:p>
            <a:pPr algn="just">
              <a:lnSpc>
                <a:spcPct val="150000"/>
              </a:lnSpc>
            </a:pPr>
            <a:r>
              <a:rPr lang="en-US" b="1">
                <a:solidFill>
                  <a:srgbClr val="C00000"/>
                </a:solidFill>
              </a:rPr>
              <a:t>Reload()- </a:t>
            </a:r>
            <a:r>
              <a:rPr lang="en-US" b="1">
                <a:solidFill>
                  <a:schemeClr val="accent1">
                    <a:lumMod val="75000"/>
                  </a:schemeClr>
                </a:solidFill>
              </a:rPr>
              <a:t>When a module is imported into a program, the code in the module is executed only once. If you want to re-execute the top-level code in a module, you must use the reload() function. This function again imports a module that was previously imported. </a:t>
            </a:r>
          </a:p>
        </p:txBody>
      </p:sp>
    </p:spTree>
    <p:extLst>
      <p:ext uri="{BB962C8B-B14F-4D97-AF65-F5344CB8AC3E}">
        <p14:creationId xmlns:p14="http://schemas.microsoft.com/office/powerpoint/2010/main" val="99624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	Standard Modules: sys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14</a:t>
            </a:fld>
            <a:endParaRPr lang="en-US"/>
          </a:p>
        </p:txBody>
      </p:sp>
      <p:sp>
        <p:nvSpPr>
          <p:cNvPr id="9" name="TextBox 8">
            <a:extLst>
              <a:ext uri="{FF2B5EF4-FFF2-40B4-BE49-F238E27FC236}">
                <a16:creationId xmlns:a16="http://schemas.microsoft.com/office/drawing/2014/main" id="{B25A927A-D936-4F1A-F071-9E01687514CC}"/>
              </a:ext>
            </a:extLst>
          </p:cNvPr>
          <p:cNvSpPr txBox="1"/>
          <p:nvPr/>
        </p:nvSpPr>
        <p:spPr>
          <a:xfrm>
            <a:off x="925286" y="1691269"/>
            <a:ext cx="8479971" cy="4619854"/>
          </a:xfrm>
          <a:prstGeom prst="rect">
            <a:avLst/>
          </a:prstGeom>
          <a:noFill/>
        </p:spPr>
        <p:txBody>
          <a:bodyPr wrap="square">
            <a:spAutoFit/>
          </a:bodyPr>
          <a:lstStyle/>
          <a:p>
            <a:pPr marL="342900" indent="-342900">
              <a:lnSpc>
                <a:spcPct val="150000"/>
              </a:lnSpc>
              <a:buFont typeface="+mj-lt"/>
              <a:buAutoNum type="arabicPeriod"/>
            </a:pPr>
            <a:r>
              <a:rPr lang="en-US" b="1">
                <a:solidFill>
                  <a:schemeClr val="accent1">
                    <a:lumMod val="75000"/>
                  </a:schemeClr>
                </a:solidFill>
              </a:rPr>
              <a:t>Command-Line Arguments:</a:t>
            </a:r>
          </a:p>
          <a:p>
            <a:pPr marL="800100" lvl="1" indent="-342900">
              <a:lnSpc>
                <a:spcPct val="150000"/>
              </a:lnSpc>
              <a:buFont typeface="Arial" panose="020B0604020202020204" pitchFamily="34" charset="0"/>
              <a:buChar char="•"/>
            </a:pPr>
            <a:r>
              <a:rPr lang="en-US" b="1" err="1">
                <a:solidFill>
                  <a:schemeClr val="accent1">
                    <a:lumMod val="75000"/>
                  </a:schemeClr>
                </a:solidFill>
              </a:rPr>
              <a:t>sys.argv</a:t>
            </a:r>
            <a:r>
              <a:rPr lang="en-US" b="1">
                <a:solidFill>
                  <a:schemeClr val="accent1">
                    <a:lumMod val="75000"/>
                  </a:schemeClr>
                </a:solidFill>
              </a:rPr>
              <a:t>: A list containing command-line arguments passed to the script.</a:t>
            </a:r>
          </a:p>
          <a:p>
            <a:pPr marL="342900" indent="-342900">
              <a:lnSpc>
                <a:spcPct val="150000"/>
              </a:lnSpc>
              <a:buFont typeface="+mj-lt"/>
              <a:buAutoNum type="arabicPeriod"/>
            </a:pPr>
            <a:r>
              <a:rPr lang="en-US" b="1">
                <a:solidFill>
                  <a:schemeClr val="accent1">
                    <a:lumMod val="75000"/>
                  </a:schemeClr>
                </a:solidFill>
              </a:rPr>
              <a:t>System Exit:</a:t>
            </a:r>
          </a:p>
          <a:p>
            <a:pPr marL="800100" lvl="1" indent="-342900">
              <a:lnSpc>
                <a:spcPct val="150000"/>
              </a:lnSpc>
              <a:buFont typeface="Arial" panose="020B0604020202020204" pitchFamily="34" charset="0"/>
              <a:buChar char="•"/>
            </a:pPr>
            <a:r>
              <a:rPr lang="en-US" b="1" err="1">
                <a:solidFill>
                  <a:schemeClr val="accent1">
                    <a:lumMod val="75000"/>
                  </a:schemeClr>
                </a:solidFill>
              </a:rPr>
              <a:t>sys.exit</a:t>
            </a:r>
            <a:r>
              <a:rPr lang="en-US" b="1">
                <a:solidFill>
                  <a:schemeClr val="accent1">
                    <a:lumMod val="75000"/>
                  </a:schemeClr>
                </a:solidFill>
              </a:rPr>
              <a:t>(): Function to exit the Python interpreter.</a:t>
            </a:r>
          </a:p>
          <a:p>
            <a:pPr marL="342900" indent="-342900">
              <a:lnSpc>
                <a:spcPct val="150000"/>
              </a:lnSpc>
              <a:buFont typeface="+mj-lt"/>
              <a:buAutoNum type="arabicPeriod"/>
            </a:pPr>
            <a:r>
              <a:rPr lang="en-US" b="1">
                <a:solidFill>
                  <a:schemeClr val="accent1">
                    <a:lumMod val="75000"/>
                  </a:schemeClr>
                </a:solidFill>
              </a:rPr>
              <a:t>Standard I/O Streams:</a:t>
            </a:r>
          </a:p>
          <a:p>
            <a:pPr marL="742950" lvl="1" indent="-285750">
              <a:lnSpc>
                <a:spcPct val="150000"/>
              </a:lnSpc>
              <a:buFont typeface="Arial" panose="020B0604020202020204" pitchFamily="34" charset="0"/>
              <a:buChar char="•"/>
            </a:pPr>
            <a:r>
              <a:rPr lang="en-US" b="1" err="1">
                <a:solidFill>
                  <a:schemeClr val="accent1">
                    <a:lumMod val="75000"/>
                  </a:schemeClr>
                </a:solidFill>
              </a:rPr>
              <a:t>sys.stdin</a:t>
            </a:r>
            <a:r>
              <a:rPr lang="en-US" b="1">
                <a:solidFill>
                  <a:schemeClr val="accent1">
                    <a:lumMod val="75000"/>
                  </a:schemeClr>
                </a:solidFill>
              </a:rPr>
              <a:t>, </a:t>
            </a:r>
            <a:r>
              <a:rPr lang="en-US" b="1" err="1">
                <a:solidFill>
                  <a:schemeClr val="accent1">
                    <a:lumMod val="75000"/>
                  </a:schemeClr>
                </a:solidFill>
              </a:rPr>
              <a:t>sys.stdout</a:t>
            </a:r>
            <a:r>
              <a:rPr lang="en-US" b="1">
                <a:solidFill>
                  <a:schemeClr val="accent1">
                    <a:lumMod val="75000"/>
                  </a:schemeClr>
                </a:solidFill>
              </a:rPr>
              <a:t>, </a:t>
            </a:r>
            <a:r>
              <a:rPr lang="en-US" b="1" err="1">
                <a:solidFill>
                  <a:schemeClr val="accent1">
                    <a:lumMod val="75000"/>
                  </a:schemeClr>
                </a:solidFill>
              </a:rPr>
              <a:t>sys.stderr</a:t>
            </a:r>
            <a:r>
              <a:rPr lang="en-US" b="1">
                <a:solidFill>
                  <a:schemeClr val="accent1">
                    <a:lumMod val="75000"/>
                  </a:schemeClr>
                </a:solidFill>
              </a:rPr>
              <a:t>: Standard input, output, and error streams.</a:t>
            </a:r>
          </a:p>
          <a:p>
            <a:pPr marL="342900" indent="-342900">
              <a:lnSpc>
                <a:spcPct val="150000"/>
              </a:lnSpc>
              <a:buFont typeface="+mj-lt"/>
              <a:buAutoNum type="arabicPeriod"/>
            </a:pPr>
            <a:r>
              <a:rPr lang="en-US" b="1">
                <a:solidFill>
                  <a:schemeClr val="accent1">
                    <a:lumMod val="75000"/>
                  </a:schemeClr>
                </a:solidFill>
              </a:rPr>
              <a:t>System-Specific Information:</a:t>
            </a:r>
          </a:p>
          <a:p>
            <a:pPr marL="800100" lvl="1" indent="-342900">
              <a:lnSpc>
                <a:spcPct val="150000"/>
              </a:lnSpc>
              <a:buFont typeface="Arial" panose="020B0604020202020204" pitchFamily="34" charset="0"/>
              <a:buChar char="•"/>
            </a:pPr>
            <a:r>
              <a:rPr lang="en-US" b="1" err="1">
                <a:solidFill>
                  <a:schemeClr val="accent1">
                    <a:lumMod val="75000"/>
                  </a:schemeClr>
                </a:solidFill>
              </a:rPr>
              <a:t>sys.platform</a:t>
            </a:r>
            <a:r>
              <a:rPr lang="en-US" b="1">
                <a:solidFill>
                  <a:schemeClr val="accent1">
                    <a:lumMod val="75000"/>
                  </a:schemeClr>
                </a:solidFill>
              </a:rPr>
              <a:t>: String identifying the platform.</a:t>
            </a:r>
          </a:p>
          <a:p>
            <a:pPr marL="800100" lvl="1" indent="-342900">
              <a:lnSpc>
                <a:spcPct val="150000"/>
              </a:lnSpc>
              <a:buFont typeface="Arial" panose="020B0604020202020204" pitchFamily="34" charset="0"/>
              <a:buChar char="•"/>
            </a:pPr>
            <a:r>
              <a:rPr lang="en-US" b="1" err="1">
                <a:solidFill>
                  <a:schemeClr val="accent1">
                    <a:lumMod val="75000"/>
                  </a:schemeClr>
                </a:solidFill>
              </a:rPr>
              <a:t>sys.version</a:t>
            </a:r>
            <a:r>
              <a:rPr lang="en-US" b="1">
                <a:solidFill>
                  <a:schemeClr val="accent1">
                    <a:lumMod val="75000"/>
                  </a:schemeClr>
                </a:solidFill>
              </a:rPr>
              <a:t>: String containing the Python version.</a:t>
            </a:r>
          </a:p>
          <a:p>
            <a:pPr marL="342900" indent="-342900">
              <a:lnSpc>
                <a:spcPct val="150000"/>
              </a:lnSpc>
              <a:buFont typeface="+mj-lt"/>
              <a:buAutoNum type="arabicPeriod"/>
            </a:pPr>
            <a:r>
              <a:rPr lang="en-US" b="1">
                <a:solidFill>
                  <a:schemeClr val="accent1">
                    <a:lumMod val="75000"/>
                  </a:schemeClr>
                </a:solidFill>
              </a:rPr>
              <a:t>Module Import Path:</a:t>
            </a:r>
          </a:p>
          <a:p>
            <a:pPr marL="742950" lvl="1" indent="-285750">
              <a:lnSpc>
                <a:spcPct val="150000"/>
              </a:lnSpc>
              <a:buFont typeface="Arial" panose="020B0604020202020204" pitchFamily="34" charset="0"/>
              <a:buChar char="•"/>
            </a:pPr>
            <a:r>
              <a:rPr lang="en-US" b="1">
                <a:solidFill>
                  <a:schemeClr val="accent1">
                    <a:lumMod val="75000"/>
                  </a:schemeClr>
                </a:solidFill>
              </a:rPr>
              <a:t>	</a:t>
            </a:r>
            <a:r>
              <a:rPr lang="en-US" b="1" err="1">
                <a:solidFill>
                  <a:schemeClr val="accent1">
                    <a:lumMod val="75000"/>
                  </a:schemeClr>
                </a:solidFill>
              </a:rPr>
              <a:t>sys.path</a:t>
            </a:r>
            <a:r>
              <a:rPr lang="en-US" b="1">
                <a:solidFill>
                  <a:schemeClr val="accent1">
                    <a:lumMod val="75000"/>
                  </a:schemeClr>
                </a:solidFill>
              </a:rPr>
              <a:t>: List of strings specifying the search path for modules.</a:t>
            </a:r>
          </a:p>
        </p:txBody>
      </p:sp>
    </p:spTree>
    <p:extLst>
      <p:ext uri="{BB962C8B-B14F-4D97-AF65-F5344CB8AC3E}">
        <p14:creationId xmlns:p14="http://schemas.microsoft.com/office/powerpoint/2010/main" val="869943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1848"/>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	Standard Modules: math</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15</a:t>
            </a:fld>
            <a:endParaRPr lang="en-US"/>
          </a:p>
        </p:txBody>
      </p:sp>
      <p:sp>
        <p:nvSpPr>
          <p:cNvPr id="5" name="TextBox 4">
            <a:extLst>
              <a:ext uri="{FF2B5EF4-FFF2-40B4-BE49-F238E27FC236}">
                <a16:creationId xmlns:a16="http://schemas.microsoft.com/office/drawing/2014/main" id="{B250FA38-C14C-7A91-9E8B-DD5CCD9A989F}"/>
              </a:ext>
            </a:extLst>
          </p:cNvPr>
          <p:cNvSpPr txBox="1"/>
          <p:nvPr/>
        </p:nvSpPr>
        <p:spPr>
          <a:xfrm>
            <a:off x="130628" y="1190738"/>
            <a:ext cx="6074229" cy="5447645"/>
          </a:xfrm>
          <a:prstGeom prst="rect">
            <a:avLst/>
          </a:prstGeom>
          <a:noFill/>
        </p:spPr>
        <p:txBody>
          <a:bodyPr wrap="square">
            <a:spAutoFit/>
          </a:bodyPr>
          <a:lstStyle/>
          <a:p>
            <a:pPr indent="-342900">
              <a:buFont typeface="+mj-lt"/>
              <a:buAutoNum type="arabicPeriod"/>
            </a:pPr>
            <a:r>
              <a:rPr lang="en-US" b="1"/>
              <a:t>Basic Mathematical Functions:</a:t>
            </a:r>
            <a:endParaRPr lang="en-US" sz="1600"/>
          </a:p>
          <a:p>
            <a:r>
              <a:rPr lang="en-US" sz="1600" err="1"/>
              <a:t>math.sqrt</a:t>
            </a:r>
            <a:r>
              <a:rPr lang="en-US" sz="1600"/>
              <a:t>(x): Returns the square root of x.</a:t>
            </a:r>
          </a:p>
          <a:p>
            <a:r>
              <a:rPr lang="en-US" sz="1600" err="1"/>
              <a:t>math.pow</a:t>
            </a:r>
            <a:r>
              <a:rPr lang="en-US" sz="1600"/>
              <a:t>(x, y): Returns x raised to the power y.</a:t>
            </a:r>
          </a:p>
          <a:p>
            <a:r>
              <a:rPr lang="en-US" sz="1600" err="1"/>
              <a:t>math.exp</a:t>
            </a:r>
            <a:r>
              <a:rPr lang="en-US" sz="1600"/>
              <a:t>(x): Returns the exponential of x (</a:t>
            </a:r>
            <a:r>
              <a:rPr lang="en-US" sz="1600" err="1"/>
              <a:t>e^x</a:t>
            </a:r>
            <a:r>
              <a:rPr lang="en-US" sz="1600"/>
              <a:t>).</a:t>
            </a:r>
          </a:p>
          <a:p>
            <a:r>
              <a:rPr lang="en-US" sz="1600"/>
              <a:t>math.log(x[, base]): Returns the natural logarithm of x (base e), or the logarithm of x to the specified base.</a:t>
            </a:r>
          </a:p>
          <a:p>
            <a:endParaRPr lang="en-US" b="1"/>
          </a:p>
          <a:p>
            <a:r>
              <a:rPr lang="en-US" b="1"/>
              <a:t>2. Trigonometric Functions:</a:t>
            </a:r>
            <a:endParaRPr lang="en-US" sz="1600"/>
          </a:p>
          <a:p>
            <a:r>
              <a:rPr lang="en-US" sz="1600" err="1"/>
              <a:t>math.sin</a:t>
            </a:r>
            <a:r>
              <a:rPr lang="en-US" sz="1600"/>
              <a:t>(x), </a:t>
            </a:r>
            <a:r>
              <a:rPr lang="en-US" sz="1600" err="1"/>
              <a:t>math.cos</a:t>
            </a:r>
            <a:r>
              <a:rPr lang="en-US" sz="1600"/>
              <a:t>(x), </a:t>
            </a:r>
            <a:r>
              <a:rPr lang="en-US" sz="1600" err="1"/>
              <a:t>math.tan</a:t>
            </a:r>
            <a:r>
              <a:rPr lang="en-US" sz="1600"/>
              <a:t>(x): Returns the sine, cosine, and tangent of x, where x is in radians.</a:t>
            </a:r>
          </a:p>
          <a:p>
            <a:r>
              <a:rPr lang="en-US" sz="1600" err="1"/>
              <a:t>math.radians</a:t>
            </a:r>
            <a:r>
              <a:rPr lang="en-US" sz="1600"/>
              <a:t>(x): Converts angle x from degrees to radians.</a:t>
            </a:r>
          </a:p>
          <a:p>
            <a:r>
              <a:rPr lang="en-US" sz="1600" err="1"/>
              <a:t>math.degrees</a:t>
            </a:r>
            <a:r>
              <a:rPr lang="en-US" sz="1600"/>
              <a:t>(x): Converts angle x from radians to degrees.</a:t>
            </a:r>
          </a:p>
          <a:p>
            <a:endParaRPr lang="en-US" sz="1600"/>
          </a:p>
          <a:p>
            <a:r>
              <a:rPr lang="en-US" b="1"/>
              <a:t>3. Hyperbolic Functions:</a:t>
            </a:r>
            <a:endParaRPr lang="en-US" sz="1600"/>
          </a:p>
          <a:p>
            <a:r>
              <a:rPr lang="en-US" sz="1600" err="1"/>
              <a:t>math.sinh</a:t>
            </a:r>
            <a:r>
              <a:rPr lang="en-US" sz="1600"/>
              <a:t>(x), </a:t>
            </a:r>
            <a:r>
              <a:rPr lang="en-US" sz="1600" err="1"/>
              <a:t>math.cosh</a:t>
            </a:r>
            <a:r>
              <a:rPr lang="en-US" sz="1600"/>
              <a:t>(x), </a:t>
            </a:r>
            <a:r>
              <a:rPr lang="en-US" sz="1600" err="1"/>
              <a:t>math.tanh</a:t>
            </a:r>
            <a:r>
              <a:rPr lang="en-US" sz="1600"/>
              <a:t>(x): Returns the hyperbolic sine, cosine, and tangent of x.</a:t>
            </a:r>
          </a:p>
          <a:p>
            <a:endParaRPr lang="en-US" b="1"/>
          </a:p>
          <a:p>
            <a:r>
              <a:rPr lang="en-US" b="1"/>
              <a:t>4. Angular Conversion:</a:t>
            </a:r>
            <a:endParaRPr lang="en-US" sz="1600"/>
          </a:p>
          <a:p>
            <a:r>
              <a:rPr lang="en-US" sz="1600" err="1"/>
              <a:t>math.asin</a:t>
            </a:r>
            <a:r>
              <a:rPr lang="en-US" sz="1600"/>
              <a:t>(x), </a:t>
            </a:r>
            <a:r>
              <a:rPr lang="en-US" sz="1600" err="1"/>
              <a:t>math.acos</a:t>
            </a:r>
            <a:r>
              <a:rPr lang="en-US" sz="1600"/>
              <a:t>(x), </a:t>
            </a:r>
            <a:r>
              <a:rPr lang="en-US" sz="1600" err="1"/>
              <a:t>math.atan</a:t>
            </a:r>
            <a:r>
              <a:rPr lang="en-US" sz="1600"/>
              <a:t>(x): Returns the arcsine, arccosine, and arctangent of x, where the result is in radians.</a:t>
            </a:r>
          </a:p>
          <a:p>
            <a:r>
              <a:rPr lang="en-US" sz="1600"/>
              <a:t>math.atan2(y, x): Returns the arctangent of y/x, in radians.</a:t>
            </a:r>
          </a:p>
        </p:txBody>
      </p:sp>
      <p:sp>
        <p:nvSpPr>
          <p:cNvPr id="7" name="TextBox 6">
            <a:extLst>
              <a:ext uri="{FF2B5EF4-FFF2-40B4-BE49-F238E27FC236}">
                <a16:creationId xmlns:a16="http://schemas.microsoft.com/office/drawing/2014/main" id="{94AF67F2-748F-C73A-D8E9-C85FB2374457}"/>
              </a:ext>
            </a:extLst>
          </p:cNvPr>
          <p:cNvSpPr txBox="1"/>
          <p:nvPr/>
        </p:nvSpPr>
        <p:spPr>
          <a:xfrm>
            <a:off x="6760029" y="1502688"/>
            <a:ext cx="5301343" cy="4401205"/>
          </a:xfrm>
          <a:prstGeom prst="rect">
            <a:avLst/>
          </a:prstGeom>
          <a:noFill/>
        </p:spPr>
        <p:txBody>
          <a:bodyPr wrap="square">
            <a:spAutoFit/>
          </a:bodyPr>
          <a:lstStyle/>
          <a:p>
            <a:r>
              <a:rPr lang="en-US" b="1"/>
              <a:t>5. Constants:</a:t>
            </a:r>
          </a:p>
          <a:p>
            <a:r>
              <a:rPr lang="en-US" sz="1600" err="1"/>
              <a:t>math.pi</a:t>
            </a:r>
            <a:r>
              <a:rPr lang="en-US" sz="1600"/>
              <a:t>: A constant representing the mathematical constant π (pi).</a:t>
            </a:r>
          </a:p>
          <a:p>
            <a:r>
              <a:rPr lang="en-US" sz="1600" err="1"/>
              <a:t>math.e</a:t>
            </a:r>
            <a:r>
              <a:rPr lang="en-US" sz="1600"/>
              <a:t>: A constant representing the mathematical constant e.</a:t>
            </a:r>
          </a:p>
          <a:p>
            <a:endParaRPr lang="en-US" sz="1600"/>
          </a:p>
          <a:p>
            <a:r>
              <a:rPr lang="en-US" b="1"/>
              <a:t>6. Other Functions:</a:t>
            </a:r>
          </a:p>
          <a:p>
            <a:r>
              <a:rPr lang="en-US" sz="1600" err="1"/>
              <a:t>math.floor</a:t>
            </a:r>
            <a:r>
              <a:rPr lang="en-US" sz="1600"/>
              <a:t>(x), </a:t>
            </a:r>
            <a:r>
              <a:rPr lang="en-US" sz="1600" err="1"/>
              <a:t>math.ceil</a:t>
            </a:r>
            <a:r>
              <a:rPr lang="en-US" sz="1600"/>
              <a:t>(x): Return the floor and ceiling of x as a float, respectively.</a:t>
            </a:r>
          </a:p>
          <a:p>
            <a:r>
              <a:rPr lang="en-US" sz="1600" err="1"/>
              <a:t>math.factorial</a:t>
            </a:r>
            <a:r>
              <a:rPr lang="en-US" sz="1600"/>
              <a:t>(x): Returns the factorial of x.</a:t>
            </a:r>
          </a:p>
          <a:p>
            <a:endParaRPr lang="en-US" b="1"/>
          </a:p>
          <a:p>
            <a:r>
              <a:rPr lang="en-US" b="1"/>
              <a:t>7. Statistical Functions:</a:t>
            </a:r>
          </a:p>
          <a:p>
            <a:r>
              <a:rPr lang="en-US" sz="1600" err="1"/>
              <a:t>math.mean</a:t>
            </a:r>
            <a:r>
              <a:rPr lang="en-US" sz="1600"/>
              <a:t>(</a:t>
            </a:r>
            <a:r>
              <a:rPr lang="en-US" sz="1600" err="1"/>
              <a:t>iterable</a:t>
            </a:r>
            <a:r>
              <a:rPr lang="en-US" sz="1600"/>
              <a:t>): Returns the mean (average) of a sequence of numbers.</a:t>
            </a:r>
          </a:p>
          <a:p>
            <a:r>
              <a:rPr lang="en-US" sz="1600" err="1"/>
              <a:t>math.median</a:t>
            </a:r>
            <a:r>
              <a:rPr lang="en-US" sz="1600"/>
              <a:t>(</a:t>
            </a:r>
            <a:r>
              <a:rPr lang="en-US" sz="1600" err="1"/>
              <a:t>iterable</a:t>
            </a:r>
            <a:r>
              <a:rPr lang="en-US" sz="1600"/>
              <a:t>): Returns the median of a sequence of numbers.</a:t>
            </a:r>
          </a:p>
          <a:p>
            <a:r>
              <a:rPr lang="en-US" sz="1600" err="1"/>
              <a:t>math.stdev</a:t>
            </a:r>
            <a:r>
              <a:rPr lang="en-US" sz="1600"/>
              <a:t>(</a:t>
            </a:r>
            <a:r>
              <a:rPr lang="en-US" sz="1600" err="1"/>
              <a:t>iterable</a:t>
            </a:r>
            <a:r>
              <a:rPr lang="en-US" sz="1600"/>
              <a:t>): Returns the standard deviation of a sequence of numbers.</a:t>
            </a:r>
          </a:p>
        </p:txBody>
      </p:sp>
    </p:spTree>
    <p:extLst>
      <p:ext uri="{BB962C8B-B14F-4D97-AF65-F5344CB8AC3E}">
        <p14:creationId xmlns:p14="http://schemas.microsoft.com/office/powerpoint/2010/main" val="1504037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	Standard Modules: time</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16</a:t>
            </a:fld>
            <a:endParaRPr lang="en-US"/>
          </a:p>
        </p:txBody>
      </p:sp>
      <p:graphicFrame>
        <p:nvGraphicFramePr>
          <p:cNvPr id="6" name="Table 5">
            <a:extLst>
              <a:ext uri="{FF2B5EF4-FFF2-40B4-BE49-F238E27FC236}">
                <a16:creationId xmlns:a16="http://schemas.microsoft.com/office/drawing/2014/main" id="{8B418A59-8385-F409-36ED-83583FC5729C}"/>
              </a:ext>
            </a:extLst>
          </p:cNvPr>
          <p:cNvGraphicFramePr>
            <a:graphicFrameLocks noGrp="1"/>
          </p:cNvGraphicFramePr>
          <p:nvPr>
            <p:extLst>
              <p:ext uri="{D42A27DB-BD31-4B8C-83A1-F6EECF244321}">
                <p14:modId xmlns:p14="http://schemas.microsoft.com/office/powerpoint/2010/main" val="2134775268"/>
              </p:ext>
            </p:extLst>
          </p:nvPr>
        </p:nvGraphicFramePr>
        <p:xfrm>
          <a:off x="914400" y="1788934"/>
          <a:ext cx="10439400" cy="4579542"/>
        </p:xfrm>
        <a:graphic>
          <a:graphicData uri="http://schemas.openxmlformats.org/drawingml/2006/table">
            <a:tbl>
              <a:tblPr/>
              <a:tblGrid>
                <a:gridCol w="3287486">
                  <a:extLst>
                    <a:ext uri="{9D8B030D-6E8A-4147-A177-3AD203B41FA5}">
                      <a16:colId xmlns:a16="http://schemas.microsoft.com/office/drawing/2014/main" val="1966300643"/>
                    </a:ext>
                  </a:extLst>
                </a:gridCol>
                <a:gridCol w="7151914">
                  <a:extLst>
                    <a:ext uri="{9D8B030D-6E8A-4147-A177-3AD203B41FA5}">
                      <a16:colId xmlns:a16="http://schemas.microsoft.com/office/drawing/2014/main" val="4191318625"/>
                    </a:ext>
                  </a:extLst>
                </a:gridCol>
              </a:tblGrid>
              <a:tr h="159682">
                <a:tc>
                  <a:txBody>
                    <a:bodyPr/>
                    <a:lstStyle/>
                    <a:p>
                      <a:pPr fontAlgn="b"/>
                      <a:r>
                        <a:rPr lang="en-US" sz="2000" b="1">
                          <a:effectLst/>
                        </a:rPr>
                        <a:t>Function</a:t>
                      </a:r>
                    </a:p>
                  </a:txBody>
                  <a:tcPr marL="39921" marR="39921" marT="19960" marB="19960"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
                      <a:r>
                        <a:rPr lang="en-US" sz="2000" b="1">
                          <a:effectLst/>
                        </a:rPr>
                        <a:t>Description</a:t>
                      </a:r>
                    </a:p>
                  </a:txBody>
                  <a:tcPr marL="39921" marR="39921" marT="19960" marB="19960"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827692059"/>
                  </a:ext>
                </a:extLst>
              </a:tr>
              <a:tr h="638728">
                <a:tc>
                  <a:txBody>
                    <a:bodyPr/>
                    <a:lstStyle/>
                    <a:p>
                      <a:pPr fontAlgn="base"/>
                      <a:r>
                        <a:rPr lang="en-US" sz="2000">
                          <a:effectLst/>
                        </a:rPr>
                        <a:t>time.time()</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2000">
                          <a:effectLst/>
                        </a:rPr>
                        <a:t>Returns the current time in seconds since the epoch (January 1, 1970).</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12429527"/>
                  </a:ext>
                </a:extLst>
              </a:tr>
              <a:tr h="638728">
                <a:tc>
                  <a:txBody>
                    <a:bodyPr/>
                    <a:lstStyle/>
                    <a:p>
                      <a:pPr fontAlgn="base"/>
                      <a:r>
                        <a:rPr lang="en-US" sz="2000">
                          <a:effectLst/>
                        </a:rPr>
                        <a:t>time.sleep(secs)</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2000">
                          <a:effectLst/>
                        </a:rPr>
                        <a:t>Suspends the execution of the current thread for the given number of seconds.</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10675147"/>
                  </a:ext>
                </a:extLst>
              </a:tr>
              <a:tr h="638728">
                <a:tc>
                  <a:txBody>
                    <a:bodyPr/>
                    <a:lstStyle/>
                    <a:p>
                      <a:pPr fontAlgn="base"/>
                      <a:r>
                        <a:rPr lang="en-US" sz="2000">
                          <a:effectLst/>
                        </a:rPr>
                        <a:t>time.ctime([secs])</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2000">
                          <a:effectLst/>
                        </a:rPr>
                        <a:t>Converts a time in seconds since the epoch to a string representing a local time.</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952243678"/>
                  </a:ext>
                </a:extLst>
              </a:tr>
              <a:tr h="638728">
                <a:tc>
                  <a:txBody>
                    <a:bodyPr/>
                    <a:lstStyle/>
                    <a:p>
                      <a:pPr fontAlgn="base"/>
                      <a:r>
                        <a:rPr lang="en-US" sz="2000" err="1">
                          <a:effectLst/>
                        </a:rPr>
                        <a:t>time.localtime</a:t>
                      </a:r>
                      <a:r>
                        <a:rPr lang="en-US" sz="2000">
                          <a:effectLst/>
                        </a:rPr>
                        <a:t>([secs])</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2000">
                          <a:effectLst/>
                        </a:rPr>
                        <a:t>Converts a time in seconds since the epoch to a </a:t>
                      </a:r>
                      <a:r>
                        <a:rPr lang="en-US" sz="2000" err="1">
                          <a:effectLst/>
                        </a:rPr>
                        <a:t>struct_time</a:t>
                      </a:r>
                      <a:r>
                        <a:rPr lang="en-US" sz="2000">
                          <a:effectLst/>
                        </a:rPr>
                        <a:t> in local time.</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653342942"/>
                  </a:ext>
                </a:extLst>
              </a:tr>
              <a:tr h="878252">
                <a:tc>
                  <a:txBody>
                    <a:bodyPr/>
                    <a:lstStyle/>
                    <a:p>
                      <a:pPr fontAlgn="base"/>
                      <a:r>
                        <a:rPr lang="en-US" sz="2000">
                          <a:effectLst/>
                        </a:rPr>
                        <a:t>time.strftime(format, [t])</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2000">
                          <a:effectLst/>
                        </a:rPr>
                        <a:t>Converts a struct_time object or a time in seconds to a string based on the format string passed.</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557086254"/>
                  </a:ext>
                </a:extLst>
              </a:tr>
              <a:tr h="758490">
                <a:tc>
                  <a:txBody>
                    <a:bodyPr/>
                    <a:lstStyle/>
                    <a:p>
                      <a:pPr fontAlgn="base"/>
                      <a:r>
                        <a:rPr lang="en-US" sz="2000">
                          <a:effectLst/>
                        </a:rPr>
                        <a:t>time.gmtime([secs])</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6350" cap="flat" cmpd="sng" algn="ctr">
                      <a:solidFill>
                        <a:srgbClr val="D9D9E3"/>
                      </a:solidFill>
                      <a:prstDash val="solid"/>
                      <a:round/>
                      <a:headEnd type="none" w="med" len="med"/>
                      <a:tailEnd type="none" w="med" len="med"/>
                    </a:lnB>
                    <a:noFill/>
                  </a:tcPr>
                </a:tc>
                <a:tc>
                  <a:txBody>
                    <a:bodyPr/>
                    <a:lstStyle/>
                    <a:p>
                      <a:pPr fontAlgn="base"/>
                      <a:r>
                        <a:rPr lang="en-US" sz="2000">
                          <a:effectLst/>
                        </a:rPr>
                        <a:t>Similar to </a:t>
                      </a:r>
                      <a:r>
                        <a:rPr lang="en-US" sz="2000" err="1">
                          <a:effectLst/>
                        </a:rPr>
                        <a:t>localtime</a:t>
                      </a:r>
                      <a:r>
                        <a:rPr lang="en-US" sz="2000">
                          <a:effectLst/>
                        </a:rPr>
                        <a:t>(), but returns the Coordinated Universal Time (UTC).</a:t>
                      </a:r>
                    </a:p>
                  </a:txBody>
                  <a:tcPr marL="39921" marR="39921" marT="19960" marB="19960"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635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494277593"/>
                  </a:ext>
                </a:extLst>
              </a:tr>
            </a:tbl>
          </a:graphicData>
        </a:graphic>
      </p:graphicFrame>
    </p:spTree>
    <p:extLst>
      <p:ext uri="{BB962C8B-B14F-4D97-AF65-F5344CB8AC3E}">
        <p14:creationId xmlns:p14="http://schemas.microsoft.com/office/powerpoint/2010/main" val="1772346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	Standard Modules: </a:t>
            </a:r>
            <a:r>
              <a:rPr lang="en-US" sz="3200" b="1" err="1"/>
              <a:t>os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17</a:t>
            </a:fld>
            <a:endParaRPr lang="en-US"/>
          </a:p>
        </p:txBody>
      </p:sp>
      <p:sp>
        <p:nvSpPr>
          <p:cNvPr id="5" name="TextBox 4">
            <a:extLst>
              <a:ext uri="{FF2B5EF4-FFF2-40B4-BE49-F238E27FC236}">
                <a16:creationId xmlns:a16="http://schemas.microsoft.com/office/drawing/2014/main" id="{0E6CD730-1243-4CBC-B27B-EADE493EB5FF}"/>
              </a:ext>
            </a:extLst>
          </p:cNvPr>
          <p:cNvSpPr txBox="1"/>
          <p:nvPr/>
        </p:nvSpPr>
        <p:spPr>
          <a:xfrm>
            <a:off x="228598" y="808383"/>
            <a:ext cx="11745688" cy="646331"/>
          </a:xfrm>
          <a:prstGeom prst="rect">
            <a:avLst/>
          </a:prstGeom>
          <a:noFill/>
        </p:spPr>
        <p:txBody>
          <a:bodyPr wrap="square">
            <a:spAutoFit/>
          </a:bodyPr>
          <a:lstStyle/>
          <a:p>
            <a:pPr marL="285750" indent="-285750">
              <a:buFont typeface="Arial" panose="020B0604020202020204" pitchFamily="34" charset="0"/>
              <a:buChar char="•"/>
            </a:pPr>
            <a:r>
              <a:rPr lang="en-US"/>
              <a:t>The </a:t>
            </a:r>
            <a:r>
              <a:rPr lang="en-US" err="1"/>
              <a:t>os</a:t>
            </a:r>
            <a:r>
              <a:rPr lang="en-US"/>
              <a:t> module in Python provides a way to interact with the operating system, allowing you to perform various system-related tasks</a:t>
            </a:r>
          </a:p>
        </p:txBody>
      </p:sp>
      <p:graphicFrame>
        <p:nvGraphicFramePr>
          <p:cNvPr id="9" name="Table 8">
            <a:extLst>
              <a:ext uri="{FF2B5EF4-FFF2-40B4-BE49-F238E27FC236}">
                <a16:creationId xmlns:a16="http://schemas.microsoft.com/office/drawing/2014/main" id="{9CE1A267-72B5-FAB2-6052-9F284562F9D4}"/>
              </a:ext>
            </a:extLst>
          </p:cNvPr>
          <p:cNvGraphicFramePr>
            <a:graphicFrameLocks noGrp="1"/>
          </p:cNvGraphicFramePr>
          <p:nvPr>
            <p:extLst>
              <p:ext uri="{D42A27DB-BD31-4B8C-83A1-F6EECF244321}">
                <p14:modId xmlns:p14="http://schemas.microsoft.com/office/powerpoint/2010/main" val="269062562"/>
              </p:ext>
            </p:extLst>
          </p:nvPr>
        </p:nvGraphicFramePr>
        <p:xfrm>
          <a:off x="32657" y="1454714"/>
          <a:ext cx="5758543" cy="5361453"/>
        </p:xfrm>
        <a:graphic>
          <a:graphicData uri="http://schemas.openxmlformats.org/drawingml/2006/table">
            <a:tbl>
              <a:tblPr/>
              <a:tblGrid>
                <a:gridCol w="1861457">
                  <a:extLst>
                    <a:ext uri="{9D8B030D-6E8A-4147-A177-3AD203B41FA5}">
                      <a16:colId xmlns:a16="http://schemas.microsoft.com/office/drawing/2014/main" val="1452964655"/>
                    </a:ext>
                  </a:extLst>
                </a:gridCol>
                <a:gridCol w="3897086">
                  <a:extLst>
                    <a:ext uri="{9D8B030D-6E8A-4147-A177-3AD203B41FA5}">
                      <a16:colId xmlns:a16="http://schemas.microsoft.com/office/drawing/2014/main" val="844532456"/>
                    </a:ext>
                  </a:extLst>
                </a:gridCol>
              </a:tblGrid>
              <a:tr h="330549">
                <a:tc>
                  <a:txBody>
                    <a:bodyPr/>
                    <a:lstStyle/>
                    <a:p>
                      <a:pPr fontAlgn="b"/>
                      <a:r>
                        <a:rPr lang="en-US" sz="1600" b="1">
                          <a:effectLst/>
                        </a:rPr>
                        <a:t>Function/Attribute</a:t>
                      </a:r>
                    </a:p>
                  </a:txBody>
                  <a:tcPr marL="17907" marR="17907" marT="8953" marB="8953"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
                      <a:r>
                        <a:rPr lang="en-US" sz="1600" b="1">
                          <a:effectLst/>
                        </a:rPr>
                        <a:t>Description</a:t>
                      </a:r>
                    </a:p>
                  </a:txBody>
                  <a:tcPr marL="17907" marR="17907" marT="8953" marB="8953" anchor="b">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635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279337548"/>
                  </a:ext>
                </a:extLst>
              </a:tr>
              <a:tr h="330549">
                <a:tc>
                  <a:txBody>
                    <a:bodyPr/>
                    <a:lstStyle/>
                    <a:p>
                      <a:pPr fontAlgn="base"/>
                      <a:r>
                        <a:rPr lang="en-US" sz="1600">
                          <a:effectLst/>
                        </a:rPr>
                        <a:t>os.getcwd()</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the current working directory.</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726269205"/>
                  </a:ext>
                </a:extLst>
              </a:tr>
              <a:tr h="635506">
                <a:tc>
                  <a:txBody>
                    <a:bodyPr/>
                    <a:lstStyle/>
                    <a:p>
                      <a:pPr fontAlgn="base"/>
                      <a:r>
                        <a:rPr lang="en-US" sz="1600">
                          <a:effectLst/>
                        </a:rPr>
                        <a:t>os.chdir(path)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Changes the current working directory to the specified 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417803448"/>
                  </a:ext>
                </a:extLst>
              </a:tr>
              <a:tr h="635506">
                <a:tc>
                  <a:txBody>
                    <a:bodyPr/>
                    <a:lstStyle/>
                    <a:p>
                      <a:pPr fontAlgn="base"/>
                      <a:r>
                        <a:rPr lang="en-US" sz="1600">
                          <a:effectLst/>
                        </a:rPr>
                        <a:t>os.listdir(path='.')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a list of filenames in the specified directory (default is the current directory).</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646108032"/>
                  </a:ext>
                </a:extLst>
              </a:tr>
              <a:tr h="330549">
                <a:tc>
                  <a:txBody>
                    <a:bodyPr/>
                    <a:lstStyle/>
                    <a:p>
                      <a:pPr fontAlgn="base"/>
                      <a:r>
                        <a:rPr lang="en-US" sz="1600">
                          <a:effectLst/>
                        </a:rPr>
                        <a:t>os.mkdir(path)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Creates a new directory at the specified 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830507703"/>
                  </a:ext>
                </a:extLst>
              </a:tr>
              <a:tr h="635506">
                <a:tc>
                  <a:txBody>
                    <a:bodyPr/>
                    <a:lstStyle/>
                    <a:p>
                      <a:pPr fontAlgn="base"/>
                      <a:r>
                        <a:rPr lang="en-US" sz="1600">
                          <a:effectLst/>
                        </a:rPr>
                        <a:t>os.makedirs(path)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Creates a directory and any necessary parent directories.</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336705963"/>
                  </a:ext>
                </a:extLst>
              </a:tr>
              <a:tr h="635506">
                <a:tc>
                  <a:txBody>
                    <a:bodyPr/>
                    <a:lstStyle/>
                    <a:p>
                      <a:pPr fontAlgn="base"/>
                      <a:r>
                        <a:rPr lang="en-US" sz="1600">
                          <a:effectLst/>
                        </a:rPr>
                        <a:t>os.path.join(path, *paths)</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Join one or more path components intelligently.</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661918233"/>
                  </a:ext>
                </a:extLst>
              </a:tr>
              <a:tr h="330549">
                <a:tc>
                  <a:txBody>
                    <a:bodyPr/>
                    <a:lstStyle/>
                    <a:p>
                      <a:pPr fontAlgn="base"/>
                      <a:r>
                        <a:rPr lang="en-US" sz="1600">
                          <a:effectLst/>
                        </a:rPr>
                        <a:t>os.path.exists(path)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True if the specified path exists.</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480359143"/>
                  </a:ext>
                </a:extLst>
              </a:tr>
              <a:tr h="330549">
                <a:tc>
                  <a:txBody>
                    <a:bodyPr/>
                    <a:lstStyle/>
                    <a:p>
                      <a:pPr fontAlgn="base"/>
                      <a:r>
                        <a:rPr lang="en-US" sz="1600">
                          <a:effectLst/>
                        </a:rPr>
                        <a:t>os.path.isfile(path)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True if the path is a regular file.</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33444684"/>
                  </a:ext>
                </a:extLst>
              </a:tr>
              <a:tr h="330549">
                <a:tc>
                  <a:txBody>
                    <a:bodyPr/>
                    <a:lstStyle/>
                    <a:p>
                      <a:pPr fontAlgn="base"/>
                      <a:r>
                        <a:rPr lang="en-US" sz="1600">
                          <a:effectLst/>
                        </a:rPr>
                        <a:t>os.path.isdir(path)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True if the path is a directory.</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4098924446"/>
                  </a:ext>
                </a:extLst>
              </a:tr>
              <a:tr h="330549">
                <a:tc>
                  <a:txBody>
                    <a:bodyPr/>
                    <a:lstStyle/>
                    <a:p>
                      <a:pPr fontAlgn="base"/>
                      <a:r>
                        <a:rPr lang="en-US" sz="1600">
                          <a:effectLst/>
                        </a:rPr>
                        <a:t>os.path.abspath(path)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the absolute version of a 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927313372"/>
                  </a:ext>
                </a:extLst>
              </a:tr>
              <a:tr h="410892">
                <a:tc>
                  <a:txBody>
                    <a:bodyPr/>
                    <a:lstStyle/>
                    <a:p>
                      <a:pPr fontAlgn="base"/>
                      <a:r>
                        <a:rPr lang="en-US" sz="1600">
                          <a:effectLst/>
                        </a:rPr>
                        <a:t>os.environ</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A dictionary containing the environment variables.</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759813387"/>
                  </a:ext>
                </a:extLst>
              </a:tr>
            </a:tbl>
          </a:graphicData>
        </a:graphic>
      </p:graphicFrame>
      <p:graphicFrame>
        <p:nvGraphicFramePr>
          <p:cNvPr id="10" name="Table 9">
            <a:extLst>
              <a:ext uri="{FF2B5EF4-FFF2-40B4-BE49-F238E27FC236}">
                <a16:creationId xmlns:a16="http://schemas.microsoft.com/office/drawing/2014/main" id="{7385DD72-0425-831C-BC8D-45A3B6DA5F0D}"/>
              </a:ext>
            </a:extLst>
          </p:cNvPr>
          <p:cNvGraphicFramePr>
            <a:graphicFrameLocks noGrp="1"/>
          </p:cNvGraphicFramePr>
          <p:nvPr>
            <p:extLst>
              <p:ext uri="{D42A27DB-BD31-4B8C-83A1-F6EECF244321}">
                <p14:modId xmlns:p14="http://schemas.microsoft.com/office/powerpoint/2010/main" val="1557622614"/>
              </p:ext>
            </p:extLst>
          </p:nvPr>
        </p:nvGraphicFramePr>
        <p:xfrm>
          <a:off x="5878286" y="1240689"/>
          <a:ext cx="6096000" cy="5617311"/>
        </p:xfrm>
        <a:graphic>
          <a:graphicData uri="http://schemas.openxmlformats.org/drawingml/2006/table">
            <a:tbl>
              <a:tblPr/>
              <a:tblGrid>
                <a:gridCol w="3252807">
                  <a:extLst>
                    <a:ext uri="{9D8B030D-6E8A-4147-A177-3AD203B41FA5}">
                      <a16:colId xmlns:a16="http://schemas.microsoft.com/office/drawing/2014/main" val="406735000"/>
                    </a:ext>
                  </a:extLst>
                </a:gridCol>
                <a:gridCol w="2843193">
                  <a:extLst>
                    <a:ext uri="{9D8B030D-6E8A-4147-A177-3AD203B41FA5}">
                      <a16:colId xmlns:a16="http://schemas.microsoft.com/office/drawing/2014/main" val="3689478289"/>
                    </a:ext>
                  </a:extLst>
                </a:gridCol>
              </a:tblGrid>
              <a:tr h="510799">
                <a:tc>
                  <a:txBody>
                    <a:bodyPr/>
                    <a:lstStyle/>
                    <a:p>
                      <a:pPr fontAlgn="base"/>
                      <a:r>
                        <a:rPr lang="en-US" sz="1600" err="1">
                          <a:effectLst/>
                        </a:rPr>
                        <a:t>os.environ.get</a:t>
                      </a:r>
                      <a:r>
                        <a:rPr lang="en-US" sz="1600">
                          <a:effectLst/>
                        </a:rPr>
                        <a:t>('</a:t>
                      </a:r>
                      <a:r>
                        <a:rPr lang="en-US" sz="1600" err="1">
                          <a:effectLst/>
                        </a:rPr>
                        <a:t>variable_name</a:t>
                      </a:r>
                      <a:r>
                        <a:rPr lang="en-US" sz="1600">
                          <a:effectLst/>
                        </a:rPr>
                        <a:t>')</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the value of the specified environment variable.</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27350342"/>
                  </a:ext>
                </a:extLst>
              </a:tr>
              <a:tr h="455187">
                <a:tc>
                  <a:txBody>
                    <a:bodyPr/>
                    <a:lstStyle/>
                    <a:p>
                      <a:pPr fontAlgn="base"/>
                      <a:r>
                        <a:rPr lang="en-US" sz="1600" err="1">
                          <a:effectLst/>
                        </a:rPr>
                        <a:t>os.system</a:t>
                      </a:r>
                      <a:r>
                        <a:rPr lang="en-US" sz="1600">
                          <a:effectLst/>
                        </a:rPr>
                        <a:t>(command)</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Executes the command (string) in a subshell.</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53868286"/>
                  </a:ext>
                </a:extLst>
              </a:tr>
              <a:tr h="455187">
                <a:tc>
                  <a:txBody>
                    <a:bodyPr/>
                    <a:lstStyle/>
                    <a:p>
                      <a:pPr fontAlgn="base"/>
                      <a:r>
                        <a:rPr lang="en-US" sz="1600" err="1">
                          <a:effectLst/>
                        </a:rPr>
                        <a:t>os.popen</a:t>
                      </a:r>
                      <a:r>
                        <a:rPr lang="en-US" sz="1600">
                          <a:effectLst/>
                        </a:rPr>
                        <a:t>(command)</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Opens a pipe to or from the command.</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945858331"/>
                  </a:ext>
                </a:extLst>
              </a:tr>
              <a:tr h="392919">
                <a:tc>
                  <a:txBody>
                    <a:bodyPr/>
                    <a:lstStyle/>
                    <a:p>
                      <a:pPr fontAlgn="base"/>
                      <a:r>
                        <a:rPr lang="en-US" sz="1600" err="1">
                          <a:effectLst/>
                        </a:rPr>
                        <a:t>os.stat</a:t>
                      </a:r>
                      <a:r>
                        <a:rPr lang="en-US" sz="1600">
                          <a:effectLst/>
                        </a:rPr>
                        <a:t>(path)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information about a file.</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528306866"/>
                  </a:ext>
                </a:extLst>
              </a:tr>
              <a:tr h="316144">
                <a:tc>
                  <a:txBody>
                    <a:bodyPr/>
                    <a:lstStyle/>
                    <a:p>
                      <a:pPr fontAlgn="base"/>
                      <a:r>
                        <a:rPr lang="en-US" sz="1600" err="1">
                          <a:effectLst/>
                        </a:rPr>
                        <a:t>os.remove</a:t>
                      </a:r>
                      <a:r>
                        <a:rPr lang="en-US" sz="1600">
                          <a:effectLst/>
                        </a:rPr>
                        <a:t>(path)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Removes a file.</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385035776"/>
                  </a:ext>
                </a:extLst>
              </a:tr>
              <a:tr h="316144">
                <a:tc>
                  <a:txBody>
                    <a:bodyPr/>
                    <a:lstStyle/>
                    <a:p>
                      <a:pPr fontAlgn="base"/>
                      <a:r>
                        <a:rPr lang="en-US" sz="1600" err="1">
                          <a:effectLst/>
                        </a:rPr>
                        <a:t>os.rmdir</a:t>
                      </a:r>
                      <a:r>
                        <a:rPr lang="en-US" sz="1600">
                          <a:effectLst/>
                        </a:rPr>
                        <a:t>(path)</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Removes an empty directory.</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104849615"/>
                  </a:ext>
                </a:extLst>
              </a:tr>
              <a:tr h="600472">
                <a:tc>
                  <a:txBody>
                    <a:bodyPr/>
                    <a:lstStyle/>
                    <a:p>
                      <a:pPr fontAlgn="base"/>
                      <a:r>
                        <a:rPr lang="en-US" sz="1600">
                          <a:effectLst/>
                        </a:rPr>
                        <a:t>os.name</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the name of the operating system dependent module imported.</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19569523"/>
                  </a:ext>
                </a:extLst>
              </a:tr>
              <a:tr h="600472">
                <a:tc>
                  <a:txBody>
                    <a:bodyPr/>
                    <a:lstStyle/>
                    <a:p>
                      <a:pPr fontAlgn="base"/>
                      <a:r>
                        <a:rPr lang="en-US" sz="1600" err="1">
                          <a:effectLst/>
                        </a:rPr>
                        <a:t>os.system</a:t>
                      </a:r>
                      <a:r>
                        <a:rPr lang="en-US" sz="1600">
                          <a:effectLst/>
                        </a:rPr>
                        <a:t>('clear' if os.name == '</a:t>
                      </a:r>
                      <a:r>
                        <a:rPr lang="en-US" sz="1600" err="1">
                          <a:effectLst/>
                        </a:rPr>
                        <a:t>posix</a:t>
                      </a:r>
                      <a:r>
                        <a:rPr lang="en-US" sz="1600">
                          <a:effectLst/>
                        </a:rPr>
                        <a:t>' else '</a:t>
                      </a:r>
                      <a:r>
                        <a:rPr lang="en-US" sz="1600" err="1">
                          <a:effectLst/>
                        </a:rPr>
                        <a:t>cls</a:t>
                      </a:r>
                      <a:r>
                        <a:rPr lang="en-US" sz="1600">
                          <a:effectLst/>
                        </a:rPr>
                        <a:t>')</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Clears the console screen based on the operating system.</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239450330"/>
                  </a:ext>
                </a:extLst>
              </a:tr>
              <a:tr h="316144">
                <a:tc>
                  <a:txBody>
                    <a:bodyPr/>
                    <a:lstStyle/>
                    <a:p>
                      <a:pPr fontAlgn="base"/>
                      <a:r>
                        <a:rPr lang="en-US" sz="1600" err="1">
                          <a:effectLst/>
                        </a:rPr>
                        <a:t>os.getpid</a:t>
                      </a:r>
                      <a:r>
                        <a:rPr lang="en-US" sz="1600">
                          <a:effectLst/>
                        </a:rPr>
                        <a:t>()</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Returns the current process ID.</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2784373996"/>
                  </a:ext>
                </a:extLst>
              </a:tr>
              <a:tr h="455187">
                <a:tc>
                  <a:txBody>
                    <a:bodyPr/>
                    <a:lstStyle/>
                    <a:p>
                      <a:pPr fontAlgn="base"/>
                      <a:r>
                        <a:rPr lang="en-US" sz="1600" err="1">
                          <a:effectLst/>
                        </a:rPr>
                        <a:t>os.kill</a:t>
                      </a:r>
                      <a:r>
                        <a:rPr lang="en-US" sz="1600">
                          <a:effectLst/>
                        </a:rPr>
                        <a:t>(</a:t>
                      </a:r>
                      <a:r>
                        <a:rPr lang="en-US" sz="1600" err="1">
                          <a:effectLst/>
                        </a:rPr>
                        <a:t>pid</a:t>
                      </a:r>
                      <a:r>
                        <a:rPr lang="en-US" sz="1600">
                          <a:effectLst/>
                        </a:rPr>
                        <a:t>, signal)</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Sends a signal to a process identified by its process ID.</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1127262620"/>
                  </a:ext>
                </a:extLst>
              </a:tr>
              <a:tr h="392919">
                <a:tc>
                  <a:txBody>
                    <a:bodyPr/>
                    <a:lstStyle/>
                    <a:p>
                      <a:pPr fontAlgn="base"/>
                      <a:r>
                        <a:rPr lang="en-US" sz="1600" err="1">
                          <a:effectLst/>
                        </a:rPr>
                        <a:t>os.chmod</a:t>
                      </a:r>
                      <a:r>
                        <a:rPr lang="en-US" sz="1600">
                          <a:effectLst/>
                        </a:rPr>
                        <a:t>(path, mode)</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tc>
                  <a:txBody>
                    <a:bodyPr/>
                    <a:lstStyle/>
                    <a:p>
                      <a:pPr fontAlgn="base"/>
                      <a:r>
                        <a:rPr lang="en-US" sz="1600">
                          <a:effectLst/>
                        </a:rPr>
                        <a:t>Changes the permissions of a file.</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999297914"/>
                  </a:ext>
                </a:extLst>
              </a:tr>
              <a:tr h="455187">
                <a:tc>
                  <a:txBody>
                    <a:bodyPr/>
                    <a:lstStyle/>
                    <a:p>
                      <a:pPr fontAlgn="base"/>
                      <a:r>
                        <a:rPr lang="en-US" sz="1600" err="1">
                          <a:effectLst/>
                        </a:rPr>
                        <a:t>os.chown</a:t>
                      </a:r>
                      <a:r>
                        <a:rPr lang="en-US" sz="1600">
                          <a:effectLst/>
                        </a:rPr>
                        <a:t>(path, </a:t>
                      </a:r>
                      <a:r>
                        <a:rPr lang="en-US" sz="1600" err="1">
                          <a:effectLst/>
                        </a:rPr>
                        <a:t>uid</a:t>
                      </a:r>
                      <a:r>
                        <a:rPr lang="en-US" sz="1600">
                          <a:effectLst/>
                        </a:rPr>
                        <a:t>, gid)</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6350" cap="flat" cmpd="sng" algn="ctr">
                      <a:solidFill>
                        <a:srgbClr val="D9D9E3"/>
                      </a:solidFill>
                      <a:prstDash val="solid"/>
                      <a:round/>
                      <a:headEnd type="none" w="med" len="med"/>
                      <a:tailEnd type="none" w="med" len="med"/>
                    </a:lnB>
                    <a:noFill/>
                  </a:tcPr>
                </a:tc>
                <a:tc>
                  <a:txBody>
                    <a:bodyPr/>
                    <a:lstStyle/>
                    <a:p>
                      <a:pPr fontAlgn="base"/>
                      <a:r>
                        <a:rPr lang="en-US" sz="1600">
                          <a:effectLst/>
                        </a:rPr>
                        <a:t>Changes the owner and group id of a file.</a:t>
                      </a:r>
                    </a:p>
                  </a:txBody>
                  <a:tcPr marL="17907" marR="17907" marT="8953" marB="8953" anchor="ctr">
                    <a:lnL w="6350" cap="flat" cmpd="sng" algn="ctr">
                      <a:solidFill>
                        <a:srgbClr val="D9D9E3"/>
                      </a:solidFill>
                      <a:prstDash val="solid"/>
                      <a:round/>
                      <a:headEnd type="none" w="med" len="med"/>
                      <a:tailEnd type="none" w="med" len="med"/>
                    </a:lnL>
                    <a:lnR w="635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6350" cap="flat" cmpd="sng" algn="ctr">
                      <a:solidFill>
                        <a:srgbClr val="D9D9E3"/>
                      </a:solidFill>
                      <a:prstDash val="solid"/>
                      <a:round/>
                      <a:headEnd type="none" w="med" len="med"/>
                      <a:tailEnd type="none" w="med" len="med"/>
                    </a:lnB>
                    <a:noFill/>
                  </a:tcPr>
                </a:tc>
                <a:extLst>
                  <a:ext uri="{0D108BD9-81ED-4DB2-BD59-A6C34878D82A}">
                    <a16:rowId xmlns:a16="http://schemas.microsoft.com/office/drawing/2014/main" val="3742505568"/>
                  </a:ext>
                </a:extLst>
              </a:tr>
            </a:tbl>
          </a:graphicData>
        </a:graphic>
      </p:graphicFrame>
    </p:spTree>
    <p:extLst>
      <p:ext uri="{BB962C8B-B14F-4D97-AF65-F5344CB8AC3E}">
        <p14:creationId xmlns:p14="http://schemas.microsoft.com/office/powerpoint/2010/main" val="356451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6725"/>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	Standard Modules: </a:t>
            </a:r>
            <a:r>
              <a:rPr lang="en-US" sz="3200" b="1" err="1"/>
              <a:t>timeit</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18</a:t>
            </a:fld>
            <a:endParaRPr lang="en-US"/>
          </a:p>
        </p:txBody>
      </p:sp>
      <p:sp>
        <p:nvSpPr>
          <p:cNvPr id="5" name="TextBox 4">
            <a:extLst>
              <a:ext uri="{FF2B5EF4-FFF2-40B4-BE49-F238E27FC236}">
                <a16:creationId xmlns:a16="http://schemas.microsoft.com/office/drawing/2014/main" id="{9EA49A11-EFBB-46CE-3D53-7D1247029605}"/>
              </a:ext>
            </a:extLst>
          </p:cNvPr>
          <p:cNvSpPr txBox="1"/>
          <p:nvPr/>
        </p:nvSpPr>
        <p:spPr>
          <a:xfrm>
            <a:off x="359228" y="933946"/>
            <a:ext cx="11473543" cy="1015663"/>
          </a:xfrm>
          <a:prstGeom prst="rect">
            <a:avLst/>
          </a:prstGeom>
          <a:noFill/>
        </p:spPr>
        <p:txBody>
          <a:bodyPr wrap="square">
            <a:spAutoFit/>
          </a:bodyPr>
          <a:lstStyle/>
          <a:p>
            <a:pPr marL="285750" indent="-28575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The </a:t>
            </a:r>
            <a:r>
              <a:rPr lang="en-US" sz="2000" err="1">
                <a:latin typeface="Times New Roman" panose="02020603050405020304" pitchFamily="18" charset="0"/>
                <a:cs typeface="Times New Roman" panose="02020603050405020304" pitchFamily="18" charset="0"/>
              </a:rPr>
              <a:t>timeit</a:t>
            </a:r>
            <a:r>
              <a:rPr lang="en-US" sz="2000">
                <a:latin typeface="Times New Roman" panose="02020603050405020304" pitchFamily="18" charset="0"/>
                <a:cs typeface="Times New Roman" panose="02020603050405020304" pitchFamily="18" charset="0"/>
              </a:rPr>
              <a:t> module in Python is a convenient tool for measuring the execution time of small bits of Python code.</a:t>
            </a:r>
          </a:p>
          <a:p>
            <a:pPr marL="285750" indent="-28575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It provides a simple way to assess the performance of code snippets</a:t>
            </a:r>
          </a:p>
        </p:txBody>
      </p:sp>
      <p:sp>
        <p:nvSpPr>
          <p:cNvPr id="10" name="TextBox 9">
            <a:extLst>
              <a:ext uri="{FF2B5EF4-FFF2-40B4-BE49-F238E27FC236}">
                <a16:creationId xmlns:a16="http://schemas.microsoft.com/office/drawing/2014/main" id="{5F83CF8A-01F9-5951-8B36-A205D6B1F153}"/>
              </a:ext>
            </a:extLst>
          </p:cNvPr>
          <p:cNvSpPr txBox="1"/>
          <p:nvPr/>
        </p:nvSpPr>
        <p:spPr>
          <a:xfrm>
            <a:off x="97971" y="2304473"/>
            <a:ext cx="3429002" cy="3724096"/>
          </a:xfrm>
          <a:prstGeom prst="rect">
            <a:avLst/>
          </a:prstGeom>
          <a:noFill/>
        </p:spPr>
        <p:txBody>
          <a:bodyPr wrap="square">
            <a:spAutoFit/>
          </a:bodyPr>
          <a:lstStyle/>
          <a:p>
            <a:r>
              <a:rPr lang="en-US" sz="2000" b="1" err="1">
                <a:latin typeface="Times New Roman" panose="02020603050405020304" pitchFamily="18" charset="0"/>
                <a:cs typeface="Times New Roman" panose="02020603050405020304" pitchFamily="18" charset="0"/>
              </a:rPr>
              <a:t>timeit.timeit</a:t>
            </a:r>
            <a:r>
              <a:rPr lang="en-US" sz="2000" b="1">
                <a:latin typeface="Times New Roman" panose="02020603050405020304" pitchFamily="18" charset="0"/>
                <a:cs typeface="Times New Roman" panose="02020603050405020304" pitchFamily="18" charset="0"/>
              </a:rPr>
              <a:t>() Function:</a:t>
            </a:r>
          </a:p>
          <a:p>
            <a:endParaRPr lang="en-US"/>
          </a:p>
          <a:p>
            <a:pPr marL="285750" indent="-28575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The </a:t>
            </a:r>
            <a:r>
              <a:rPr lang="en-US" sz="2000" err="1">
                <a:latin typeface="Times New Roman" panose="02020603050405020304" pitchFamily="18" charset="0"/>
                <a:cs typeface="Times New Roman" panose="02020603050405020304" pitchFamily="18" charset="0"/>
              </a:rPr>
              <a:t>timeit.timeit</a:t>
            </a:r>
            <a:r>
              <a:rPr lang="en-US" sz="2000">
                <a:latin typeface="Times New Roman" panose="02020603050405020304" pitchFamily="18" charset="0"/>
                <a:cs typeface="Times New Roman" panose="02020603050405020304" pitchFamily="18" charset="0"/>
              </a:rPr>
              <a:t>(</a:t>
            </a:r>
            <a:r>
              <a:rPr lang="en-US" sz="2000" err="1">
                <a:latin typeface="Times New Roman" panose="02020603050405020304" pitchFamily="18" charset="0"/>
                <a:cs typeface="Times New Roman" panose="02020603050405020304" pitchFamily="18" charset="0"/>
              </a:rPr>
              <a:t>stmt</a:t>
            </a:r>
            <a:r>
              <a:rPr lang="en-US" sz="2000">
                <a:latin typeface="Times New Roman" panose="02020603050405020304" pitchFamily="18" charset="0"/>
                <a:cs typeface="Times New Roman" panose="02020603050405020304" pitchFamily="18" charset="0"/>
              </a:rPr>
              <a:t>, setup, timer, number) function takes a statement </a:t>
            </a:r>
            <a:r>
              <a:rPr lang="en-US" sz="2000" err="1">
                <a:latin typeface="Times New Roman" panose="02020603050405020304" pitchFamily="18" charset="0"/>
                <a:cs typeface="Times New Roman" panose="02020603050405020304" pitchFamily="18" charset="0"/>
              </a:rPr>
              <a:t>stmt</a:t>
            </a:r>
            <a:r>
              <a:rPr lang="en-US" sz="2000">
                <a:latin typeface="Times New Roman" panose="02020603050405020304" pitchFamily="18" charset="0"/>
                <a:cs typeface="Times New Roman" panose="02020603050405020304" pitchFamily="18" charset="0"/>
              </a:rPr>
              <a:t>, a setup code setup, a timer function timer, and the number of executions number.</a:t>
            </a:r>
          </a:p>
          <a:p>
            <a:pPr marL="285750" indent="-285750">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It returns the time taken to execute the statement a given number of times.</a:t>
            </a:r>
          </a:p>
        </p:txBody>
      </p:sp>
      <p:sp>
        <p:nvSpPr>
          <p:cNvPr id="18" name="TextBox 17">
            <a:extLst>
              <a:ext uri="{FF2B5EF4-FFF2-40B4-BE49-F238E27FC236}">
                <a16:creationId xmlns:a16="http://schemas.microsoft.com/office/drawing/2014/main" id="{68F138D8-B83A-1C5C-7191-801B1C930B12}"/>
              </a:ext>
            </a:extLst>
          </p:cNvPr>
          <p:cNvSpPr txBox="1"/>
          <p:nvPr/>
        </p:nvSpPr>
        <p:spPr>
          <a:xfrm>
            <a:off x="3733801" y="2008447"/>
            <a:ext cx="8207827" cy="3970318"/>
          </a:xfrm>
          <a:prstGeom prst="rect">
            <a:avLst/>
          </a:prstGeom>
          <a:noFill/>
        </p:spPr>
        <p:txBody>
          <a:bodyPr wrap="square">
            <a:spAutoFit/>
          </a:bodyPr>
          <a:lstStyle/>
          <a:p>
            <a:r>
              <a:rPr lang="en-US" b="0">
                <a:solidFill>
                  <a:srgbClr val="AF00DB"/>
                </a:solidFill>
                <a:effectLst/>
                <a:latin typeface="Courier New" panose="02070309020205020404" pitchFamily="49" charset="0"/>
              </a:rPr>
              <a:t>import</a:t>
            </a:r>
            <a:r>
              <a:rPr lang="en-US" b="0">
                <a:solidFill>
                  <a:srgbClr val="000000"/>
                </a:solidFill>
                <a:effectLst/>
                <a:latin typeface="Courier New" panose="02070309020205020404" pitchFamily="49" charset="0"/>
              </a:rPr>
              <a:t> </a:t>
            </a:r>
            <a:r>
              <a:rPr lang="en-US" b="0" err="1">
                <a:solidFill>
                  <a:srgbClr val="000000"/>
                </a:solidFill>
                <a:effectLst/>
                <a:latin typeface="Courier New" panose="02070309020205020404" pitchFamily="49" charset="0"/>
              </a:rPr>
              <a:t>timeit</a:t>
            </a:r>
            <a:endParaRPr lang="en-US" b="0">
              <a:solidFill>
                <a:srgbClr val="000000"/>
              </a:solidFill>
              <a:effectLst/>
              <a:latin typeface="Courier New" panose="02070309020205020404" pitchFamily="49" charset="0"/>
            </a:endParaRPr>
          </a:p>
          <a:p>
            <a:r>
              <a:rPr lang="en-US" b="0">
                <a:solidFill>
                  <a:srgbClr val="0000FF"/>
                </a:solidFill>
                <a:effectLst/>
                <a:latin typeface="Courier New" panose="02070309020205020404" pitchFamily="49" charset="0"/>
              </a:rPr>
              <a:t>def</a:t>
            </a:r>
            <a:r>
              <a:rPr lang="en-US" b="0">
                <a:solidFill>
                  <a:srgbClr val="000000"/>
                </a:solidFill>
                <a:effectLst/>
                <a:latin typeface="Courier New" panose="02070309020205020404" pitchFamily="49" charset="0"/>
              </a:rPr>
              <a:t> </a:t>
            </a:r>
            <a:r>
              <a:rPr lang="en-US" b="0">
                <a:solidFill>
                  <a:srgbClr val="795E26"/>
                </a:solidFill>
                <a:effectLst/>
                <a:latin typeface="Courier New" panose="02070309020205020404" pitchFamily="49" charset="0"/>
              </a:rPr>
              <a:t>func1</a:t>
            </a:r>
            <a:r>
              <a:rPr lang="en-US" b="0">
                <a:solidFill>
                  <a:srgbClr val="000000"/>
                </a:solidFill>
                <a:effectLst/>
                <a:latin typeface="Courier New" panose="02070309020205020404" pitchFamily="49" charset="0"/>
              </a:rPr>
              <a:t>(</a:t>
            </a:r>
            <a:r>
              <a:rPr lang="en-US" b="0">
                <a:solidFill>
                  <a:srgbClr val="001080"/>
                </a:solidFill>
                <a:effectLst/>
                <a:latin typeface="Courier New" panose="02070309020205020404" pitchFamily="49" charset="0"/>
              </a:rPr>
              <a:t>n</a:t>
            </a:r>
            <a:r>
              <a:rPr lang="en-US" b="0">
                <a:solidFill>
                  <a:srgbClr val="000000"/>
                </a:solidFill>
                <a:effectLst/>
                <a:latin typeface="Courier New" panose="02070309020205020404" pitchFamily="49" charset="0"/>
              </a:rPr>
              <a:t>):</a:t>
            </a:r>
          </a:p>
          <a:p>
            <a:r>
              <a:rPr lang="en-US" b="0">
                <a:solidFill>
                  <a:srgbClr val="000000"/>
                </a:solidFill>
                <a:effectLst/>
                <a:latin typeface="Courier New" panose="02070309020205020404" pitchFamily="49" charset="0"/>
              </a:rPr>
              <a:t>    </a:t>
            </a:r>
            <a:r>
              <a:rPr lang="en-US" b="0">
                <a:solidFill>
                  <a:srgbClr val="AF00DB"/>
                </a:solidFill>
                <a:effectLst/>
                <a:latin typeface="Courier New" panose="02070309020205020404" pitchFamily="49" charset="0"/>
              </a:rPr>
              <a:t>return</a:t>
            </a:r>
            <a:r>
              <a:rPr lang="en-US" b="0">
                <a:solidFill>
                  <a:srgbClr val="000000"/>
                </a:solidFill>
                <a:effectLst/>
                <a:latin typeface="Courier New" panose="02070309020205020404" pitchFamily="49" charset="0"/>
              </a:rPr>
              <a:t> [</a:t>
            </a:r>
            <a:r>
              <a:rPr lang="en-US" b="0" err="1">
                <a:solidFill>
                  <a:srgbClr val="000000"/>
                </a:solidFill>
                <a:effectLst/>
                <a:latin typeface="Courier New" panose="02070309020205020404" pitchFamily="49" charset="0"/>
              </a:rPr>
              <a:t>i</a:t>
            </a:r>
            <a:r>
              <a:rPr lang="en-US" b="0">
                <a:solidFill>
                  <a:srgbClr val="000000"/>
                </a:solidFill>
                <a:effectLst/>
                <a:latin typeface="Courier New" panose="02070309020205020404" pitchFamily="49" charset="0"/>
              </a:rPr>
              <a:t> </a:t>
            </a:r>
            <a:r>
              <a:rPr lang="en-US" b="0">
                <a:solidFill>
                  <a:srgbClr val="AF00DB"/>
                </a:solidFill>
                <a:effectLst/>
                <a:latin typeface="Courier New" panose="02070309020205020404" pitchFamily="49" charset="0"/>
              </a:rPr>
              <a:t>for</a:t>
            </a:r>
            <a:r>
              <a:rPr lang="en-US" b="0">
                <a:solidFill>
                  <a:srgbClr val="000000"/>
                </a:solidFill>
                <a:effectLst/>
                <a:latin typeface="Courier New" panose="02070309020205020404" pitchFamily="49" charset="0"/>
              </a:rPr>
              <a:t> </a:t>
            </a:r>
            <a:r>
              <a:rPr lang="en-US" b="0" err="1">
                <a:solidFill>
                  <a:srgbClr val="000000"/>
                </a:solidFill>
                <a:effectLst/>
                <a:latin typeface="Courier New" panose="02070309020205020404" pitchFamily="49" charset="0"/>
              </a:rPr>
              <a:t>i</a:t>
            </a:r>
            <a:r>
              <a:rPr lang="en-US" b="0">
                <a:solidFill>
                  <a:srgbClr val="000000"/>
                </a:solidFill>
                <a:effectLst/>
                <a:latin typeface="Courier New" panose="02070309020205020404" pitchFamily="49" charset="0"/>
              </a:rPr>
              <a:t> </a:t>
            </a:r>
            <a:r>
              <a:rPr lang="en-US" b="0">
                <a:solidFill>
                  <a:srgbClr val="0000FF"/>
                </a:solidFill>
                <a:effectLst/>
                <a:latin typeface="Courier New" panose="02070309020205020404" pitchFamily="49" charset="0"/>
              </a:rPr>
              <a:t>in</a:t>
            </a:r>
            <a:r>
              <a:rPr lang="en-US" b="0">
                <a:solidFill>
                  <a:srgbClr val="000000"/>
                </a:solidFill>
                <a:effectLst/>
                <a:latin typeface="Courier New" panose="02070309020205020404" pitchFamily="49" charset="0"/>
              </a:rPr>
              <a:t> </a:t>
            </a:r>
            <a:r>
              <a:rPr lang="en-US" b="0">
                <a:solidFill>
                  <a:srgbClr val="795E26"/>
                </a:solidFill>
                <a:effectLst/>
                <a:latin typeface="Courier New" panose="02070309020205020404" pitchFamily="49" charset="0"/>
              </a:rPr>
              <a:t>range</a:t>
            </a:r>
            <a:r>
              <a:rPr lang="en-US" b="0">
                <a:solidFill>
                  <a:srgbClr val="000000"/>
                </a:solidFill>
                <a:effectLst/>
                <a:latin typeface="Courier New" panose="02070309020205020404" pitchFamily="49" charset="0"/>
              </a:rPr>
              <a:t>(n)]</a:t>
            </a:r>
          </a:p>
          <a:p>
            <a:br>
              <a:rPr lang="en-US" b="0">
                <a:solidFill>
                  <a:srgbClr val="000000"/>
                </a:solidFill>
                <a:effectLst/>
                <a:latin typeface="Courier New" panose="02070309020205020404" pitchFamily="49" charset="0"/>
              </a:rPr>
            </a:br>
            <a:r>
              <a:rPr lang="en-US" b="0">
                <a:solidFill>
                  <a:srgbClr val="0000FF"/>
                </a:solidFill>
                <a:effectLst/>
                <a:latin typeface="Courier New" panose="02070309020205020404" pitchFamily="49" charset="0"/>
              </a:rPr>
              <a:t>def</a:t>
            </a:r>
            <a:r>
              <a:rPr lang="en-US" b="0">
                <a:solidFill>
                  <a:srgbClr val="000000"/>
                </a:solidFill>
                <a:effectLst/>
                <a:latin typeface="Courier New" panose="02070309020205020404" pitchFamily="49" charset="0"/>
              </a:rPr>
              <a:t> </a:t>
            </a:r>
            <a:r>
              <a:rPr lang="en-US" b="0">
                <a:solidFill>
                  <a:srgbClr val="795E26"/>
                </a:solidFill>
                <a:effectLst/>
                <a:latin typeface="Courier New" panose="02070309020205020404" pitchFamily="49" charset="0"/>
              </a:rPr>
              <a:t>func2</a:t>
            </a:r>
            <a:r>
              <a:rPr lang="en-US" b="0">
                <a:solidFill>
                  <a:srgbClr val="000000"/>
                </a:solidFill>
                <a:effectLst/>
                <a:latin typeface="Courier New" panose="02070309020205020404" pitchFamily="49" charset="0"/>
              </a:rPr>
              <a:t>(</a:t>
            </a:r>
            <a:r>
              <a:rPr lang="en-US" b="0">
                <a:solidFill>
                  <a:srgbClr val="001080"/>
                </a:solidFill>
                <a:effectLst/>
                <a:latin typeface="Courier New" panose="02070309020205020404" pitchFamily="49" charset="0"/>
              </a:rPr>
              <a:t>n</a:t>
            </a:r>
            <a:r>
              <a:rPr lang="en-US" b="0">
                <a:solidFill>
                  <a:srgbClr val="000000"/>
                </a:solidFill>
                <a:effectLst/>
                <a:latin typeface="Courier New" panose="02070309020205020404" pitchFamily="49" charset="0"/>
              </a:rPr>
              <a:t>):</a:t>
            </a:r>
          </a:p>
          <a:p>
            <a:r>
              <a:rPr lang="en-US" b="0">
                <a:solidFill>
                  <a:srgbClr val="000000"/>
                </a:solidFill>
                <a:effectLst/>
                <a:latin typeface="Courier New" panose="02070309020205020404" pitchFamily="49" charset="0"/>
              </a:rPr>
              <a:t>    </a:t>
            </a:r>
            <a:r>
              <a:rPr lang="en-US" b="0">
                <a:solidFill>
                  <a:srgbClr val="AF00DB"/>
                </a:solidFill>
                <a:effectLst/>
                <a:latin typeface="Courier New" panose="02070309020205020404" pitchFamily="49" charset="0"/>
              </a:rPr>
              <a:t>return</a:t>
            </a:r>
            <a:r>
              <a:rPr lang="en-US" b="0">
                <a:solidFill>
                  <a:srgbClr val="000000"/>
                </a:solidFill>
                <a:effectLst/>
                <a:latin typeface="Courier New" panose="02070309020205020404" pitchFamily="49" charset="0"/>
              </a:rPr>
              <a:t> </a:t>
            </a:r>
            <a:r>
              <a:rPr lang="en-US" b="0">
                <a:solidFill>
                  <a:srgbClr val="257693"/>
                </a:solidFill>
                <a:effectLst/>
                <a:latin typeface="Courier New" panose="02070309020205020404" pitchFamily="49" charset="0"/>
              </a:rPr>
              <a:t>list</a:t>
            </a:r>
            <a:r>
              <a:rPr lang="en-US" b="0">
                <a:solidFill>
                  <a:srgbClr val="000000"/>
                </a:solidFill>
                <a:effectLst/>
                <a:latin typeface="Courier New" panose="02070309020205020404" pitchFamily="49" charset="0"/>
              </a:rPr>
              <a:t>(</a:t>
            </a:r>
            <a:r>
              <a:rPr lang="en-US" b="0">
                <a:solidFill>
                  <a:srgbClr val="795E26"/>
                </a:solidFill>
                <a:effectLst/>
                <a:latin typeface="Courier New" panose="02070309020205020404" pitchFamily="49" charset="0"/>
              </a:rPr>
              <a:t>range</a:t>
            </a:r>
            <a:r>
              <a:rPr lang="en-US" b="0">
                <a:solidFill>
                  <a:srgbClr val="000000"/>
                </a:solidFill>
                <a:effectLst/>
                <a:latin typeface="Courier New" panose="02070309020205020404" pitchFamily="49" charset="0"/>
              </a:rPr>
              <a:t>(n))</a:t>
            </a:r>
          </a:p>
          <a:p>
            <a:br>
              <a:rPr lang="en-US" b="0">
                <a:solidFill>
                  <a:srgbClr val="000000"/>
                </a:solidFill>
                <a:effectLst/>
                <a:latin typeface="Courier New" panose="02070309020205020404" pitchFamily="49" charset="0"/>
              </a:rPr>
            </a:br>
            <a:r>
              <a:rPr lang="en-US" b="0">
                <a:solidFill>
                  <a:srgbClr val="008000"/>
                </a:solidFill>
                <a:effectLst/>
                <a:latin typeface="Courier New" panose="02070309020205020404" pitchFamily="49" charset="0"/>
              </a:rPr>
              <a:t># Time the execution of each function</a:t>
            </a:r>
            <a:endParaRPr lang="en-US" b="0">
              <a:solidFill>
                <a:srgbClr val="000000"/>
              </a:solidFill>
              <a:effectLst/>
              <a:latin typeface="Courier New" panose="02070309020205020404" pitchFamily="49" charset="0"/>
            </a:endParaRPr>
          </a:p>
          <a:p>
            <a:r>
              <a:rPr lang="en-US" b="0">
                <a:solidFill>
                  <a:srgbClr val="000000"/>
                </a:solidFill>
                <a:effectLst/>
                <a:latin typeface="Courier New" panose="02070309020205020404" pitchFamily="49" charset="0"/>
              </a:rPr>
              <a:t>time1 = </a:t>
            </a:r>
            <a:r>
              <a:rPr lang="en-US" b="0" err="1">
                <a:solidFill>
                  <a:srgbClr val="000000"/>
                </a:solidFill>
                <a:effectLst/>
                <a:latin typeface="Courier New" panose="02070309020205020404" pitchFamily="49" charset="0"/>
              </a:rPr>
              <a:t>timeit.timeit</a:t>
            </a:r>
            <a:r>
              <a:rPr lang="en-US" b="0">
                <a:solidFill>
                  <a:srgbClr val="000000"/>
                </a:solidFill>
                <a:effectLst/>
                <a:latin typeface="Courier New" panose="02070309020205020404" pitchFamily="49" charset="0"/>
              </a:rPr>
              <a:t>(</a:t>
            </a:r>
            <a:r>
              <a:rPr lang="en-US" b="0">
                <a:solidFill>
                  <a:srgbClr val="0000FF"/>
                </a:solidFill>
                <a:effectLst/>
                <a:latin typeface="Courier New" panose="02070309020205020404" pitchFamily="49" charset="0"/>
              </a:rPr>
              <a:t>lambda</a:t>
            </a:r>
            <a:r>
              <a:rPr lang="en-US" b="0">
                <a:solidFill>
                  <a:srgbClr val="000000"/>
                </a:solidFill>
                <a:effectLst/>
                <a:latin typeface="Courier New" panose="02070309020205020404" pitchFamily="49" charset="0"/>
              </a:rPr>
              <a:t>: func1(</a:t>
            </a:r>
            <a:r>
              <a:rPr lang="en-US" b="0">
                <a:solidFill>
                  <a:srgbClr val="116644"/>
                </a:solidFill>
                <a:effectLst/>
                <a:latin typeface="Courier New" panose="02070309020205020404" pitchFamily="49" charset="0"/>
              </a:rPr>
              <a:t>1000000</a:t>
            </a:r>
            <a:r>
              <a:rPr lang="en-US" b="0">
                <a:solidFill>
                  <a:srgbClr val="000000"/>
                </a:solidFill>
                <a:effectLst/>
                <a:latin typeface="Courier New" panose="02070309020205020404" pitchFamily="49" charset="0"/>
              </a:rPr>
              <a:t>), number=</a:t>
            </a:r>
            <a:r>
              <a:rPr lang="en-US" b="0">
                <a:solidFill>
                  <a:srgbClr val="116644"/>
                </a:solidFill>
                <a:effectLst/>
                <a:latin typeface="Courier New" panose="02070309020205020404" pitchFamily="49" charset="0"/>
              </a:rPr>
              <a:t>1000</a:t>
            </a:r>
            <a:r>
              <a:rPr lang="en-US" b="0">
                <a:solidFill>
                  <a:srgbClr val="000000"/>
                </a:solidFill>
                <a:effectLst/>
                <a:latin typeface="Courier New" panose="02070309020205020404" pitchFamily="49" charset="0"/>
              </a:rPr>
              <a:t>)</a:t>
            </a:r>
          </a:p>
          <a:p>
            <a:r>
              <a:rPr lang="en-US" b="0">
                <a:solidFill>
                  <a:srgbClr val="000000"/>
                </a:solidFill>
                <a:effectLst/>
                <a:latin typeface="Courier New" panose="02070309020205020404" pitchFamily="49" charset="0"/>
              </a:rPr>
              <a:t>time2 = </a:t>
            </a:r>
            <a:r>
              <a:rPr lang="en-US" b="0" err="1">
                <a:solidFill>
                  <a:srgbClr val="000000"/>
                </a:solidFill>
                <a:effectLst/>
                <a:latin typeface="Courier New" panose="02070309020205020404" pitchFamily="49" charset="0"/>
              </a:rPr>
              <a:t>timeit.timeit</a:t>
            </a:r>
            <a:r>
              <a:rPr lang="en-US" b="0">
                <a:solidFill>
                  <a:srgbClr val="000000"/>
                </a:solidFill>
                <a:effectLst/>
                <a:latin typeface="Courier New" panose="02070309020205020404" pitchFamily="49" charset="0"/>
              </a:rPr>
              <a:t>(</a:t>
            </a:r>
            <a:r>
              <a:rPr lang="en-US" b="0">
                <a:solidFill>
                  <a:srgbClr val="0000FF"/>
                </a:solidFill>
                <a:effectLst/>
                <a:latin typeface="Courier New" panose="02070309020205020404" pitchFamily="49" charset="0"/>
              </a:rPr>
              <a:t>lambda</a:t>
            </a:r>
            <a:r>
              <a:rPr lang="en-US" b="0">
                <a:solidFill>
                  <a:srgbClr val="000000"/>
                </a:solidFill>
                <a:effectLst/>
                <a:latin typeface="Courier New" panose="02070309020205020404" pitchFamily="49" charset="0"/>
              </a:rPr>
              <a:t>: func2(</a:t>
            </a:r>
            <a:r>
              <a:rPr lang="en-US" b="0">
                <a:solidFill>
                  <a:srgbClr val="116644"/>
                </a:solidFill>
                <a:effectLst/>
                <a:latin typeface="Courier New" panose="02070309020205020404" pitchFamily="49" charset="0"/>
              </a:rPr>
              <a:t>1000000</a:t>
            </a:r>
            <a:r>
              <a:rPr lang="en-US" b="0">
                <a:solidFill>
                  <a:srgbClr val="000000"/>
                </a:solidFill>
                <a:effectLst/>
                <a:latin typeface="Courier New" panose="02070309020205020404" pitchFamily="49" charset="0"/>
              </a:rPr>
              <a:t>), number=</a:t>
            </a:r>
            <a:r>
              <a:rPr lang="en-US" b="0">
                <a:solidFill>
                  <a:srgbClr val="116644"/>
                </a:solidFill>
                <a:effectLst/>
                <a:latin typeface="Courier New" panose="02070309020205020404" pitchFamily="49" charset="0"/>
              </a:rPr>
              <a:t>1000</a:t>
            </a:r>
            <a:r>
              <a:rPr lang="en-US" b="0">
                <a:solidFill>
                  <a:srgbClr val="000000"/>
                </a:solidFill>
                <a:effectLst/>
                <a:latin typeface="Courier New" panose="02070309020205020404" pitchFamily="49" charset="0"/>
              </a:rPr>
              <a:t>)</a:t>
            </a:r>
          </a:p>
          <a:p>
            <a:br>
              <a:rPr lang="en-US" b="0">
                <a:solidFill>
                  <a:srgbClr val="000000"/>
                </a:solidFill>
                <a:effectLst/>
                <a:latin typeface="Courier New" panose="02070309020205020404" pitchFamily="49" charset="0"/>
              </a:rPr>
            </a:br>
            <a:r>
              <a:rPr lang="en-US" b="0">
                <a:solidFill>
                  <a:srgbClr val="008000"/>
                </a:solidFill>
                <a:effectLst/>
                <a:latin typeface="Courier New" panose="02070309020205020404" pitchFamily="49" charset="0"/>
              </a:rPr>
              <a:t># Print the results</a:t>
            </a:r>
            <a:endParaRPr lang="en-US" b="0">
              <a:solidFill>
                <a:srgbClr val="000000"/>
              </a:solidFill>
              <a:effectLst/>
              <a:latin typeface="Courier New" panose="02070309020205020404" pitchFamily="49" charset="0"/>
            </a:endParaRPr>
          </a:p>
          <a:p>
            <a:r>
              <a:rPr lang="en-US" b="0">
                <a:solidFill>
                  <a:srgbClr val="795E26"/>
                </a:solidFill>
                <a:effectLst/>
                <a:latin typeface="Courier New" panose="02070309020205020404" pitchFamily="49" charset="0"/>
              </a:rPr>
              <a:t>print</a:t>
            </a:r>
            <a:r>
              <a:rPr lang="en-US" b="0">
                <a:solidFill>
                  <a:srgbClr val="000000"/>
                </a:solidFill>
                <a:effectLst/>
                <a:latin typeface="Courier New" panose="02070309020205020404" pitchFamily="49" charset="0"/>
              </a:rPr>
              <a:t>(</a:t>
            </a:r>
            <a:r>
              <a:rPr lang="en-US" b="0" err="1">
                <a:solidFill>
                  <a:srgbClr val="0000FF"/>
                </a:solidFill>
                <a:effectLst/>
                <a:latin typeface="Courier New" panose="02070309020205020404" pitchFamily="49" charset="0"/>
              </a:rPr>
              <a:t>f</a:t>
            </a:r>
            <a:r>
              <a:rPr lang="en-US" b="0" err="1">
                <a:solidFill>
                  <a:srgbClr val="A31515"/>
                </a:solidFill>
                <a:effectLst/>
                <a:latin typeface="Courier New" panose="02070309020205020404" pitchFamily="49" charset="0"/>
              </a:rPr>
              <a:t>"Time</a:t>
            </a:r>
            <a:r>
              <a:rPr lang="en-US" b="0">
                <a:solidFill>
                  <a:srgbClr val="A31515"/>
                </a:solidFill>
                <a:effectLst/>
                <a:latin typeface="Courier New" panose="02070309020205020404" pitchFamily="49" charset="0"/>
              </a:rPr>
              <a:t> taken by func1: </a:t>
            </a:r>
            <a:r>
              <a:rPr lang="en-US" b="0">
                <a:solidFill>
                  <a:srgbClr val="000000"/>
                </a:solidFill>
                <a:effectLst/>
                <a:latin typeface="Courier New" panose="02070309020205020404" pitchFamily="49" charset="0"/>
              </a:rPr>
              <a:t>{time1</a:t>
            </a:r>
            <a:r>
              <a:rPr lang="en-US" b="0">
                <a:solidFill>
                  <a:srgbClr val="116644"/>
                </a:solidFill>
                <a:effectLst/>
                <a:latin typeface="Courier New" panose="02070309020205020404" pitchFamily="49" charset="0"/>
              </a:rPr>
              <a:t>:.4f</a:t>
            </a:r>
            <a:r>
              <a:rPr lang="en-US" b="0">
                <a:solidFill>
                  <a:srgbClr val="000000"/>
                </a:solidFill>
                <a:effectLst/>
                <a:latin typeface="Courier New" panose="02070309020205020404" pitchFamily="49" charset="0"/>
              </a:rPr>
              <a:t>}</a:t>
            </a:r>
            <a:r>
              <a:rPr lang="en-US" b="0">
                <a:solidFill>
                  <a:srgbClr val="A31515"/>
                </a:solidFill>
                <a:effectLst/>
                <a:latin typeface="Courier New" panose="02070309020205020404" pitchFamily="49" charset="0"/>
              </a:rPr>
              <a:t> seconds"</a:t>
            </a:r>
            <a:r>
              <a:rPr lang="en-US" b="0">
                <a:solidFill>
                  <a:srgbClr val="000000"/>
                </a:solidFill>
                <a:effectLst/>
                <a:latin typeface="Courier New" panose="02070309020205020404" pitchFamily="49" charset="0"/>
              </a:rPr>
              <a:t>)</a:t>
            </a:r>
          </a:p>
          <a:p>
            <a:r>
              <a:rPr lang="en-US" b="0">
                <a:solidFill>
                  <a:srgbClr val="795E26"/>
                </a:solidFill>
                <a:effectLst/>
                <a:latin typeface="Courier New" panose="02070309020205020404" pitchFamily="49" charset="0"/>
              </a:rPr>
              <a:t>print</a:t>
            </a:r>
            <a:r>
              <a:rPr lang="en-US" b="0">
                <a:solidFill>
                  <a:srgbClr val="000000"/>
                </a:solidFill>
                <a:effectLst/>
                <a:latin typeface="Courier New" panose="02070309020205020404" pitchFamily="49" charset="0"/>
              </a:rPr>
              <a:t>(</a:t>
            </a:r>
            <a:r>
              <a:rPr lang="en-US" b="0" err="1">
                <a:solidFill>
                  <a:srgbClr val="0000FF"/>
                </a:solidFill>
                <a:effectLst/>
                <a:latin typeface="Courier New" panose="02070309020205020404" pitchFamily="49" charset="0"/>
              </a:rPr>
              <a:t>f</a:t>
            </a:r>
            <a:r>
              <a:rPr lang="en-US" b="0" err="1">
                <a:solidFill>
                  <a:srgbClr val="A31515"/>
                </a:solidFill>
                <a:effectLst/>
                <a:latin typeface="Courier New" panose="02070309020205020404" pitchFamily="49" charset="0"/>
              </a:rPr>
              <a:t>"Time</a:t>
            </a:r>
            <a:r>
              <a:rPr lang="en-US" b="0">
                <a:solidFill>
                  <a:srgbClr val="A31515"/>
                </a:solidFill>
                <a:effectLst/>
                <a:latin typeface="Courier New" panose="02070309020205020404" pitchFamily="49" charset="0"/>
              </a:rPr>
              <a:t> taken by func2: </a:t>
            </a:r>
            <a:r>
              <a:rPr lang="en-US" b="0">
                <a:solidFill>
                  <a:srgbClr val="000000"/>
                </a:solidFill>
                <a:effectLst/>
                <a:latin typeface="Courier New" panose="02070309020205020404" pitchFamily="49" charset="0"/>
              </a:rPr>
              <a:t>{time2</a:t>
            </a:r>
            <a:r>
              <a:rPr lang="en-US" b="0">
                <a:solidFill>
                  <a:srgbClr val="116644"/>
                </a:solidFill>
                <a:effectLst/>
                <a:latin typeface="Courier New" panose="02070309020205020404" pitchFamily="49" charset="0"/>
              </a:rPr>
              <a:t>:.4f</a:t>
            </a:r>
            <a:r>
              <a:rPr lang="en-US" b="0">
                <a:solidFill>
                  <a:srgbClr val="000000"/>
                </a:solidFill>
                <a:effectLst/>
                <a:latin typeface="Courier New" panose="02070309020205020404" pitchFamily="49" charset="0"/>
              </a:rPr>
              <a:t>}</a:t>
            </a:r>
            <a:r>
              <a:rPr lang="en-US" b="0">
                <a:solidFill>
                  <a:srgbClr val="A31515"/>
                </a:solidFill>
                <a:effectLst/>
                <a:latin typeface="Courier New" panose="02070309020205020404" pitchFamily="49" charset="0"/>
              </a:rPr>
              <a:t> seconds"</a:t>
            </a:r>
            <a:r>
              <a:rPr lang="en-US" b="0">
                <a:solidFill>
                  <a:srgbClr val="000000"/>
                </a:solidFill>
                <a:effectLst/>
                <a:latin typeface="Courier New" panose="02070309020205020404" pitchFamily="49" charset="0"/>
              </a:rPr>
              <a:t>)</a:t>
            </a:r>
          </a:p>
        </p:txBody>
      </p:sp>
      <p:sp>
        <p:nvSpPr>
          <p:cNvPr id="20" name="TextBox 19">
            <a:extLst>
              <a:ext uri="{FF2B5EF4-FFF2-40B4-BE49-F238E27FC236}">
                <a16:creationId xmlns:a16="http://schemas.microsoft.com/office/drawing/2014/main" id="{1A7EBFAE-69A1-FB21-4205-DCF52CEA5D18}"/>
              </a:ext>
            </a:extLst>
          </p:cNvPr>
          <p:cNvSpPr txBox="1"/>
          <p:nvPr/>
        </p:nvSpPr>
        <p:spPr>
          <a:xfrm>
            <a:off x="4528457" y="5978765"/>
            <a:ext cx="6096000" cy="923330"/>
          </a:xfrm>
          <a:prstGeom prst="rect">
            <a:avLst/>
          </a:prstGeom>
          <a:noFill/>
        </p:spPr>
        <p:txBody>
          <a:bodyPr wrap="square">
            <a:spAutoFit/>
          </a:bodyPr>
          <a:lstStyle/>
          <a:p>
            <a:r>
              <a:rPr lang="en-US" b="0" i="0">
                <a:solidFill>
                  <a:srgbClr val="212121"/>
                </a:solidFill>
                <a:effectLst/>
                <a:latin typeface="Courier New" panose="02070309020205020404" pitchFamily="49" charset="0"/>
              </a:rPr>
              <a:t>O/P:</a:t>
            </a:r>
          </a:p>
          <a:p>
            <a:r>
              <a:rPr lang="en-US" b="0" i="0">
                <a:solidFill>
                  <a:srgbClr val="212121"/>
                </a:solidFill>
                <a:effectLst/>
                <a:latin typeface="Courier New" panose="02070309020205020404" pitchFamily="49" charset="0"/>
              </a:rPr>
              <a:t>Time taken by func1: 54.4587 seconds</a:t>
            </a:r>
          </a:p>
          <a:p>
            <a:r>
              <a:rPr lang="en-US" b="0" i="0">
                <a:solidFill>
                  <a:srgbClr val="212121"/>
                </a:solidFill>
                <a:effectLst/>
                <a:latin typeface="Courier New" panose="02070309020205020404" pitchFamily="49" charset="0"/>
              </a:rPr>
              <a:t>Time taken by func2: 21.4928 seconds</a:t>
            </a:r>
            <a:endParaRPr lang="en-US"/>
          </a:p>
        </p:txBody>
      </p:sp>
    </p:spTree>
    <p:extLst>
      <p:ext uri="{BB962C8B-B14F-4D97-AF65-F5344CB8AC3E}">
        <p14:creationId xmlns:p14="http://schemas.microsoft.com/office/powerpoint/2010/main" val="3975964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File</a:t>
            </a:r>
          </a:p>
        </p:txBody>
      </p:sp>
      <p:sp>
        <p:nvSpPr>
          <p:cNvPr id="4" name="Slide Number Placeholder 3"/>
          <p:cNvSpPr>
            <a:spLocks noGrp="1"/>
          </p:cNvSpPr>
          <p:nvPr>
            <p:ph type="sldNum" sz="quarter" idx="12"/>
          </p:nvPr>
        </p:nvSpPr>
        <p:spPr/>
        <p:txBody>
          <a:bodyPr/>
          <a:lstStyle/>
          <a:p>
            <a:fld id="{04EAA311-F8B8-413B-ACCD-5A57951484CD}" type="slidenum">
              <a:rPr lang="en-US" smtClean="0"/>
              <a:t>19</a:t>
            </a:fld>
            <a:endParaRPr lang="en-US"/>
          </a:p>
        </p:txBody>
      </p:sp>
      <p:sp>
        <p:nvSpPr>
          <p:cNvPr id="6" name="Rectangle 5"/>
          <p:cNvSpPr/>
          <p:nvPr/>
        </p:nvSpPr>
        <p:spPr>
          <a:xfrm>
            <a:off x="157163" y="1726467"/>
            <a:ext cx="11884416" cy="3970318"/>
          </a:xfrm>
          <a:prstGeom prst="rect">
            <a:avLst/>
          </a:prstGeom>
        </p:spPr>
        <p:txBody>
          <a:bodyPr wrap="square">
            <a:spAutoFit/>
          </a:bodyPr>
          <a:lstStyle/>
          <a:p>
            <a:pPr algn="just">
              <a:lnSpc>
                <a:spcPct val="200000"/>
              </a:lnSpc>
            </a:pPr>
            <a:r>
              <a:rPr lang="en-US" b="1">
                <a:solidFill>
                  <a:schemeClr val="accent1">
                    <a:lumMod val="75000"/>
                  </a:schemeClr>
                </a:solidFill>
              </a:rPr>
              <a:t>A </a:t>
            </a:r>
            <a:r>
              <a:rPr lang="en-US" b="1">
                <a:solidFill>
                  <a:srgbClr val="C00000"/>
                </a:solidFill>
              </a:rPr>
              <a:t>file</a:t>
            </a:r>
            <a:r>
              <a:rPr lang="en-US" b="1">
                <a:solidFill>
                  <a:schemeClr val="accent1">
                    <a:lumMod val="75000"/>
                  </a:schemeClr>
                </a:solidFill>
              </a:rPr>
              <a:t> is a collection of data stored on a secondary storage device like hard disk. </a:t>
            </a:r>
          </a:p>
          <a:p>
            <a:pPr algn="just">
              <a:lnSpc>
                <a:spcPct val="200000"/>
              </a:lnSpc>
            </a:pPr>
            <a:r>
              <a:rPr lang="en-US" b="1">
                <a:solidFill>
                  <a:schemeClr val="accent1">
                    <a:lumMod val="75000"/>
                  </a:schemeClr>
                </a:solidFill>
              </a:rPr>
              <a:t> A file is basically used because real-life applications involve large amounts of data and in such situations the console oriented I/O operations pose two major problems: </a:t>
            </a:r>
          </a:p>
          <a:p>
            <a:pPr algn="just">
              <a:lnSpc>
                <a:spcPct val="200000"/>
              </a:lnSpc>
            </a:pPr>
            <a:r>
              <a:rPr lang="en-US" b="1">
                <a:solidFill>
                  <a:schemeClr val="accent1">
                    <a:lumMod val="75000"/>
                  </a:schemeClr>
                </a:solidFill>
              </a:rPr>
              <a:t>• First, it becomes cumbersome and time consuming to handle huge amount of data through terminals. </a:t>
            </a:r>
          </a:p>
          <a:p>
            <a:pPr algn="just">
              <a:lnSpc>
                <a:spcPct val="200000"/>
              </a:lnSpc>
            </a:pPr>
            <a:r>
              <a:rPr lang="en-US" b="1">
                <a:solidFill>
                  <a:schemeClr val="accent1">
                    <a:lumMod val="75000"/>
                  </a:schemeClr>
                </a:solidFill>
              </a:rPr>
              <a:t>• Second, when doing I/O using terminal, the entire data is lost when either the program is terminated or computer is turned off. Therefore, it becomes necessary to store data on a permanent storage (the disks) and read whenever necessary, without destroying the data. </a:t>
            </a:r>
          </a:p>
        </p:txBody>
      </p:sp>
    </p:spTree>
    <p:extLst>
      <p:ext uri="{BB962C8B-B14F-4D97-AF65-F5344CB8AC3E}">
        <p14:creationId xmlns:p14="http://schemas.microsoft.com/office/powerpoint/2010/main" val="787996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File Path </a:t>
            </a:r>
          </a:p>
        </p:txBody>
      </p:sp>
      <p:sp>
        <p:nvSpPr>
          <p:cNvPr id="4" name="Slide Number Placeholder 3"/>
          <p:cNvSpPr>
            <a:spLocks noGrp="1"/>
          </p:cNvSpPr>
          <p:nvPr>
            <p:ph type="sldNum" sz="quarter" idx="12"/>
          </p:nvPr>
        </p:nvSpPr>
        <p:spPr/>
        <p:txBody>
          <a:bodyPr/>
          <a:lstStyle/>
          <a:p>
            <a:fld id="{04EAA311-F8B8-413B-ACCD-5A57951484CD}" type="slidenum">
              <a:rPr lang="en-US" smtClean="0"/>
              <a:t>20</a:t>
            </a:fld>
            <a:endParaRPr lang="en-US"/>
          </a:p>
        </p:txBody>
      </p:sp>
      <p:sp>
        <p:nvSpPr>
          <p:cNvPr id="5" name="Rectangle 4"/>
          <p:cNvSpPr/>
          <p:nvPr/>
        </p:nvSpPr>
        <p:spPr>
          <a:xfrm>
            <a:off x="118754" y="1610460"/>
            <a:ext cx="8711348" cy="5193729"/>
          </a:xfrm>
          <a:prstGeom prst="rect">
            <a:avLst/>
          </a:prstGeom>
        </p:spPr>
        <p:txBody>
          <a:bodyPr wrap="square">
            <a:spAutoFit/>
          </a:bodyPr>
          <a:lstStyle/>
          <a:p>
            <a:pPr algn="just">
              <a:lnSpc>
                <a:spcPct val="150000"/>
              </a:lnSpc>
            </a:pPr>
            <a:r>
              <a:rPr lang="en-US" sz="1700" b="1">
                <a:solidFill>
                  <a:schemeClr val="accent1">
                    <a:lumMod val="75000"/>
                  </a:schemeClr>
                </a:solidFill>
              </a:rPr>
              <a:t>Files that we use are stored on a storage medium like the hard disk in such a way that they can be easily retrieved as and when required. </a:t>
            </a:r>
          </a:p>
          <a:p>
            <a:pPr algn="just">
              <a:lnSpc>
                <a:spcPct val="150000"/>
              </a:lnSpc>
            </a:pPr>
            <a:r>
              <a:rPr lang="en-US" sz="1700" b="1">
                <a:solidFill>
                  <a:schemeClr val="accent1">
                    <a:lumMod val="75000"/>
                  </a:schemeClr>
                </a:solidFill>
              </a:rPr>
              <a:t>Every file is identified by its path that begins from the root node or the root folder. In Windows, C:\ (also known as C drive) is the root folder but you can also have a path that starts from other drives like D:\, E:\, etc. The file path is also known as</a:t>
            </a:r>
            <a:r>
              <a:rPr lang="en-US" sz="1700" b="1">
                <a:solidFill>
                  <a:srgbClr val="C00000"/>
                </a:solidFill>
              </a:rPr>
              <a:t> </a:t>
            </a:r>
            <a:r>
              <a:rPr lang="en-US" sz="1700" b="1" i="1">
                <a:solidFill>
                  <a:srgbClr val="C00000"/>
                </a:solidFill>
              </a:rPr>
              <a:t>pathname</a:t>
            </a:r>
            <a:r>
              <a:rPr lang="en-US" sz="1700" b="1" i="1">
                <a:solidFill>
                  <a:schemeClr val="accent1">
                    <a:lumMod val="75000"/>
                  </a:schemeClr>
                </a:solidFill>
              </a:rPr>
              <a:t>.</a:t>
            </a:r>
          </a:p>
          <a:p>
            <a:pPr algn="just">
              <a:lnSpc>
                <a:spcPct val="150000"/>
              </a:lnSpc>
            </a:pPr>
            <a:r>
              <a:rPr lang="en-US" sz="1700" b="1">
                <a:solidFill>
                  <a:srgbClr val="C00000"/>
                </a:solidFill>
              </a:rPr>
              <a:t>Relative Path and Absolute Path </a:t>
            </a:r>
          </a:p>
          <a:p>
            <a:pPr algn="just">
              <a:lnSpc>
                <a:spcPct val="150000"/>
              </a:lnSpc>
            </a:pPr>
            <a:r>
              <a:rPr lang="en-US" sz="1700" b="1">
                <a:solidFill>
                  <a:schemeClr val="accent1">
                    <a:lumMod val="75000"/>
                  </a:schemeClr>
                </a:solidFill>
              </a:rPr>
              <a:t>A file path can be either </a:t>
            </a:r>
            <a:r>
              <a:rPr lang="en-US" sz="1700" b="1" i="1">
                <a:solidFill>
                  <a:schemeClr val="accent1">
                    <a:lumMod val="75000"/>
                  </a:schemeClr>
                </a:solidFill>
              </a:rPr>
              <a:t>relative </a:t>
            </a:r>
            <a:r>
              <a:rPr lang="en-US" sz="1700" b="1">
                <a:solidFill>
                  <a:schemeClr val="accent1">
                    <a:lumMod val="75000"/>
                  </a:schemeClr>
                </a:solidFill>
              </a:rPr>
              <a:t>or </a:t>
            </a:r>
            <a:r>
              <a:rPr lang="en-US" sz="1700" b="1" i="1">
                <a:solidFill>
                  <a:schemeClr val="accent1">
                    <a:lumMod val="75000"/>
                  </a:schemeClr>
                </a:solidFill>
              </a:rPr>
              <a:t>absolute</a:t>
            </a:r>
            <a:r>
              <a:rPr lang="en-US" sz="1700" b="1">
                <a:solidFill>
                  <a:srgbClr val="C00000"/>
                </a:solidFill>
              </a:rPr>
              <a:t>.</a:t>
            </a:r>
            <a:r>
              <a:rPr lang="en-US" sz="1700" b="1">
                <a:solidFill>
                  <a:schemeClr val="accent1">
                    <a:lumMod val="75000"/>
                  </a:schemeClr>
                </a:solidFill>
              </a:rPr>
              <a:t> While an absolute path always contains the root and the complete directory list to specify the exact location the file, relative path needs to be combined with another path in order to access a file. It starts with respect to the current working directory and therefore lacks the leading slashes. For example, C:\Students\Under Graduate\BTech_CS.docx but Under Graduate\BTech_CS.docx is a relative path as only a part of the complete path is specified. </a:t>
            </a:r>
          </a:p>
        </p:txBody>
      </p:sp>
      <p:pic>
        <p:nvPicPr>
          <p:cNvPr id="6" name="Picture 5"/>
          <p:cNvPicPr>
            <a:picLocks noChangeAspect="1"/>
          </p:cNvPicPr>
          <p:nvPr/>
        </p:nvPicPr>
        <p:blipFill>
          <a:blip r:embed="rId2"/>
          <a:stretch>
            <a:fillRect/>
          </a:stretch>
        </p:blipFill>
        <p:spPr>
          <a:xfrm>
            <a:off x="8941431" y="3281593"/>
            <a:ext cx="3233737" cy="2556742"/>
          </a:xfrm>
          <a:prstGeom prst="rect">
            <a:avLst/>
          </a:prstGeom>
        </p:spPr>
      </p:pic>
    </p:spTree>
    <p:extLst>
      <p:ext uri="{BB962C8B-B14F-4D97-AF65-F5344CB8AC3E}">
        <p14:creationId xmlns:p14="http://schemas.microsoft.com/office/powerpoint/2010/main" val="1882784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ASCII Text Files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21</a:t>
            </a:fld>
            <a:endParaRPr lang="en-US"/>
          </a:p>
        </p:txBody>
      </p:sp>
      <p:sp>
        <p:nvSpPr>
          <p:cNvPr id="5" name="Rectangle 4"/>
          <p:cNvSpPr/>
          <p:nvPr/>
        </p:nvSpPr>
        <p:spPr>
          <a:xfrm>
            <a:off x="65315" y="1562705"/>
            <a:ext cx="12061370" cy="5147628"/>
          </a:xfrm>
          <a:prstGeom prst="rect">
            <a:avLst/>
          </a:prstGeom>
        </p:spPr>
        <p:txBody>
          <a:bodyPr wrap="square">
            <a:spAutoFit/>
          </a:bodyPr>
          <a:lstStyle/>
          <a:p>
            <a:pPr algn="just">
              <a:lnSpc>
                <a:spcPct val="150000"/>
              </a:lnSpc>
            </a:pPr>
            <a:r>
              <a:rPr lang="en-US" sz="1700" b="1">
                <a:solidFill>
                  <a:schemeClr val="accent1">
                    <a:lumMod val="75000"/>
                  </a:schemeClr>
                </a:solidFill>
              </a:rPr>
              <a:t>A </a:t>
            </a:r>
            <a:r>
              <a:rPr lang="en-US" sz="1700" b="1" i="1">
                <a:solidFill>
                  <a:srgbClr val="C00000"/>
                </a:solidFill>
              </a:rPr>
              <a:t>text file </a:t>
            </a:r>
            <a:r>
              <a:rPr lang="en-US" sz="1700" b="1">
                <a:solidFill>
                  <a:schemeClr val="accent1">
                    <a:lumMod val="75000"/>
                  </a:schemeClr>
                </a:solidFill>
              </a:rPr>
              <a:t>is a stream of characters that can be sequentially processed by a computer in forward direction. For this reason a text file is usually opened for only one kind of operation (reading, writing, or appending) at any given time. Because text files can process characters, they can only read or write data one character at a time. In Python, a text stream is treated as a special kind of file. </a:t>
            </a:r>
          </a:p>
          <a:p>
            <a:pPr algn="just">
              <a:lnSpc>
                <a:spcPct val="150000"/>
              </a:lnSpc>
            </a:pPr>
            <a:r>
              <a:rPr lang="en-US" sz="1700" b="1">
                <a:solidFill>
                  <a:schemeClr val="accent1">
                    <a:lumMod val="75000"/>
                  </a:schemeClr>
                </a:solidFill>
              </a:rPr>
              <a:t>Depending on the requirements of the operating system and on the operation that has to be performed (read/write operation) on the file, the newline characters may be converted to or from carriage-return/linefeed combinations. Besides this, other character conversions may also be done to satisfy the storage requirements of the operating system. However, these conversions occur transparently to process a text file. In a text file, each line contains zero or more characters and ends with one or more characters </a:t>
            </a:r>
          </a:p>
          <a:p>
            <a:pPr algn="just">
              <a:lnSpc>
                <a:spcPct val="150000"/>
              </a:lnSpc>
            </a:pPr>
            <a:r>
              <a:rPr lang="en-US" sz="1700" b="1">
                <a:solidFill>
                  <a:schemeClr val="accent1">
                    <a:lumMod val="75000"/>
                  </a:schemeClr>
                </a:solidFill>
              </a:rPr>
              <a:t>Another important thing is that when a text file is used, there are actually two representations of data- internal or external. For example, an integer value will be represented as a number that occupies 2 or 4 bytes of memory internally but externally the integer value will be represented as a string of characters representing its decimal or hexadecimal value.</a:t>
            </a:r>
          </a:p>
        </p:txBody>
      </p:sp>
    </p:spTree>
    <p:extLst>
      <p:ext uri="{BB962C8B-B14F-4D97-AF65-F5344CB8AC3E}">
        <p14:creationId xmlns:p14="http://schemas.microsoft.com/office/powerpoint/2010/main" val="4259468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Binary Files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22</a:t>
            </a:fld>
            <a:endParaRPr lang="en-US"/>
          </a:p>
        </p:txBody>
      </p:sp>
      <p:sp>
        <p:nvSpPr>
          <p:cNvPr id="5" name="Rectangle 4"/>
          <p:cNvSpPr/>
          <p:nvPr/>
        </p:nvSpPr>
        <p:spPr>
          <a:xfrm>
            <a:off x="142875" y="1763836"/>
            <a:ext cx="11787188" cy="4247317"/>
          </a:xfrm>
          <a:prstGeom prst="rect">
            <a:avLst/>
          </a:prstGeom>
        </p:spPr>
        <p:txBody>
          <a:bodyPr wrap="square">
            <a:spAutoFit/>
          </a:bodyPr>
          <a:lstStyle/>
          <a:p>
            <a:pPr algn="just">
              <a:lnSpc>
                <a:spcPct val="150000"/>
              </a:lnSpc>
            </a:pPr>
            <a:r>
              <a:rPr lang="en-US" b="1">
                <a:solidFill>
                  <a:schemeClr val="accent1">
                    <a:lumMod val="75000"/>
                  </a:schemeClr>
                </a:solidFill>
              </a:rPr>
              <a:t>A </a:t>
            </a:r>
            <a:r>
              <a:rPr lang="en-US" b="1" i="1">
                <a:solidFill>
                  <a:srgbClr val="C00000"/>
                </a:solidFill>
              </a:rPr>
              <a:t>binary file </a:t>
            </a:r>
            <a:r>
              <a:rPr lang="en-US" b="1">
                <a:solidFill>
                  <a:schemeClr val="accent1">
                    <a:lumMod val="75000"/>
                  </a:schemeClr>
                </a:solidFill>
              </a:rPr>
              <a:t>is a file which may contain any type of data, encoded in binary form for computer storage and processing purposes. It includes files such as word processing documents, PDFs, images, spreadsheets, videos, zip files and other executable programs. Like a text file, a binary file is a collection of bytes. A binary file is also referred to as a character stream with following two essential differences.</a:t>
            </a:r>
          </a:p>
          <a:p>
            <a:pPr algn="just">
              <a:lnSpc>
                <a:spcPct val="150000"/>
              </a:lnSpc>
            </a:pPr>
            <a:r>
              <a:rPr lang="en-US" b="1">
                <a:solidFill>
                  <a:schemeClr val="accent1">
                    <a:lumMod val="75000"/>
                  </a:schemeClr>
                </a:solidFill>
              </a:rPr>
              <a:t>• A binary file does not require any special processing of the data and each byte of data is transferred to or from the disk unprocessed. </a:t>
            </a:r>
          </a:p>
          <a:p>
            <a:pPr algn="just">
              <a:lnSpc>
                <a:spcPct val="150000"/>
              </a:lnSpc>
            </a:pPr>
            <a:r>
              <a:rPr lang="en-US" b="1">
                <a:solidFill>
                  <a:schemeClr val="accent1">
                    <a:lumMod val="75000"/>
                  </a:schemeClr>
                </a:solidFill>
              </a:rPr>
              <a:t>• Python places no constructs on the file, and it may be read from, or written to, in any manner the programmer wants. </a:t>
            </a:r>
          </a:p>
          <a:p>
            <a:pPr algn="just">
              <a:lnSpc>
                <a:spcPct val="150000"/>
              </a:lnSpc>
            </a:pPr>
            <a:r>
              <a:rPr lang="en-US" b="1">
                <a:solidFill>
                  <a:schemeClr val="accent1">
                    <a:lumMod val="75000"/>
                  </a:schemeClr>
                </a:solidFill>
              </a:rPr>
              <a:t>While text files can be processed sequentially, binary files, on the other hand, can be either processed sequentially or randomly depending on the needs of the application. </a:t>
            </a:r>
          </a:p>
        </p:txBody>
      </p:sp>
    </p:spTree>
    <p:extLst>
      <p:ext uri="{BB962C8B-B14F-4D97-AF65-F5344CB8AC3E}">
        <p14:creationId xmlns:p14="http://schemas.microsoft.com/office/powerpoint/2010/main" val="1942176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Open() Function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23</a:t>
            </a:fld>
            <a:endParaRPr lang="en-US"/>
          </a:p>
        </p:txBody>
      </p:sp>
      <p:sp>
        <p:nvSpPr>
          <p:cNvPr id="5" name="Rectangle 4"/>
          <p:cNvSpPr/>
          <p:nvPr/>
        </p:nvSpPr>
        <p:spPr>
          <a:xfrm>
            <a:off x="166255" y="1763836"/>
            <a:ext cx="11785091" cy="2585323"/>
          </a:xfrm>
          <a:prstGeom prst="rect">
            <a:avLst/>
          </a:prstGeom>
        </p:spPr>
        <p:txBody>
          <a:bodyPr wrap="square">
            <a:spAutoFit/>
          </a:bodyPr>
          <a:lstStyle/>
          <a:p>
            <a:pPr algn="just">
              <a:lnSpc>
                <a:spcPct val="150000"/>
              </a:lnSpc>
            </a:pPr>
            <a:r>
              <a:rPr lang="en-US" b="1">
                <a:solidFill>
                  <a:schemeClr val="accent1">
                    <a:lumMod val="75000"/>
                  </a:schemeClr>
                </a:solidFill>
              </a:rPr>
              <a:t>Before reading from or writing to a file, you must first open it using Python’s built-in open() function. This function creates a file object, which will be used to invoke methods associated with it. The syntax of open() is: </a:t>
            </a:r>
          </a:p>
          <a:p>
            <a:pPr algn="just">
              <a:lnSpc>
                <a:spcPct val="150000"/>
              </a:lnSpc>
            </a:pPr>
            <a:r>
              <a:rPr lang="en-US" b="1" err="1">
                <a:solidFill>
                  <a:srgbClr val="C00000"/>
                </a:solidFill>
              </a:rPr>
              <a:t>fileObj</a:t>
            </a:r>
            <a:r>
              <a:rPr lang="en-US" b="1">
                <a:solidFill>
                  <a:srgbClr val="C00000"/>
                </a:solidFill>
              </a:rPr>
              <a:t> = open(</a:t>
            </a:r>
            <a:r>
              <a:rPr lang="en-US" b="1" err="1">
                <a:solidFill>
                  <a:srgbClr val="C00000"/>
                </a:solidFill>
              </a:rPr>
              <a:t>file_name</a:t>
            </a:r>
            <a:r>
              <a:rPr lang="en-US" b="1">
                <a:solidFill>
                  <a:srgbClr val="C00000"/>
                </a:solidFill>
              </a:rPr>
              <a:t> [, </a:t>
            </a:r>
            <a:r>
              <a:rPr lang="en-US" b="1" err="1">
                <a:solidFill>
                  <a:srgbClr val="C00000"/>
                </a:solidFill>
              </a:rPr>
              <a:t>access_mode</a:t>
            </a:r>
            <a:r>
              <a:rPr lang="en-US" b="1">
                <a:solidFill>
                  <a:srgbClr val="C00000"/>
                </a:solidFill>
              </a:rPr>
              <a:t>]) </a:t>
            </a:r>
          </a:p>
          <a:p>
            <a:pPr algn="just">
              <a:lnSpc>
                <a:spcPct val="150000"/>
              </a:lnSpc>
            </a:pPr>
            <a:r>
              <a:rPr lang="en-US" b="1">
                <a:solidFill>
                  <a:schemeClr val="accent1">
                    <a:lumMod val="75000"/>
                  </a:schemeClr>
                </a:solidFill>
              </a:rPr>
              <a:t>Here, </a:t>
            </a:r>
          </a:p>
          <a:p>
            <a:pPr algn="just">
              <a:lnSpc>
                <a:spcPct val="150000"/>
              </a:lnSpc>
            </a:pPr>
            <a:r>
              <a:rPr lang="en-US" b="1" i="1" err="1">
                <a:solidFill>
                  <a:schemeClr val="accent1">
                    <a:lumMod val="75000"/>
                  </a:schemeClr>
                </a:solidFill>
              </a:rPr>
              <a:t>file_name</a:t>
            </a:r>
            <a:r>
              <a:rPr lang="en-US" b="1">
                <a:solidFill>
                  <a:schemeClr val="accent1">
                    <a:lumMod val="75000"/>
                  </a:schemeClr>
                </a:solidFill>
              </a:rPr>
              <a:t> is a string value that specifies name of the file that you want to access. </a:t>
            </a:r>
          </a:p>
          <a:p>
            <a:pPr algn="just">
              <a:lnSpc>
                <a:spcPct val="150000"/>
              </a:lnSpc>
            </a:pPr>
            <a:r>
              <a:rPr lang="en-US" b="1" i="1" err="1">
                <a:solidFill>
                  <a:schemeClr val="accent1">
                    <a:lumMod val="75000"/>
                  </a:schemeClr>
                </a:solidFill>
              </a:rPr>
              <a:t>access_mode</a:t>
            </a:r>
            <a:r>
              <a:rPr lang="en-US" b="1" i="1">
                <a:solidFill>
                  <a:schemeClr val="accent1">
                    <a:lumMod val="75000"/>
                  </a:schemeClr>
                </a:solidFill>
              </a:rPr>
              <a:t> </a:t>
            </a:r>
            <a:r>
              <a:rPr lang="en-US" b="1">
                <a:solidFill>
                  <a:schemeClr val="accent1">
                    <a:lumMod val="75000"/>
                  </a:schemeClr>
                </a:solidFill>
              </a:rPr>
              <a:t>indicates the mode in which the file has to be opened, i.e., read, write, append, etc. </a:t>
            </a:r>
          </a:p>
        </p:txBody>
      </p:sp>
      <p:pic>
        <p:nvPicPr>
          <p:cNvPr id="6" name="Picture 5"/>
          <p:cNvPicPr>
            <a:picLocks noChangeAspect="1"/>
          </p:cNvPicPr>
          <p:nvPr/>
        </p:nvPicPr>
        <p:blipFill>
          <a:blip r:embed="rId2"/>
          <a:stretch>
            <a:fillRect/>
          </a:stretch>
        </p:blipFill>
        <p:spPr>
          <a:xfrm>
            <a:off x="1307272" y="4581477"/>
            <a:ext cx="5150070" cy="1587891"/>
          </a:xfrm>
          <a:prstGeom prst="rect">
            <a:avLst/>
          </a:prstGeom>
        </p:spPr>
      </p:pic>
      <p:sp>
        <p:nvSpPr>
          <p:cNvPr id="8" name="TextBox 9"/>
          <p:cNvSpPr txBox="1"/>
          <p:nvPr/>
        </p:nvSpPr>
        <p:spPr>
          <a:xfrm>
            <a:off x="166255" y="4562491"/>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2205881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open() Function – Access Modes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24</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858" y="1662545"/>
            <a:ext cx="7928598" cy="1132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857" y="2794783"/>
            <a:ext cx="7928598" cy="38916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80043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File Object Attributes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25</a:t>
            </a:fld>
            <a:endParaRPr lang="en-US"/>
          </a:p>
        </p:txBody>
      </p:sp>
      <p:sp>
        <p:nvSpPr>
          <p:cNvPr id="5" name="Rectangle 4"/>
          <p:cNvSpPr/>
          <p:nvPr/>
        </p:nvSpPr>
        <p:spPr>
          <a:xfrm>
            <a:off x="133347" y="1675808"/>
            <a:ext cx="11817999" cy="1338828"/>
          </a:xfrm>
          <a:prstGeom prst="rect">
            <a:avLst/>
          </a:prstGeom>
        </p:spPr>
        <p:txBody>
          <a:bodyPr wrap="square">
            <a:spAutoFit/>
          </a:bodyPr>
          <a:lstStyle/>
          <a:p>
            <a:pPr algn="just">
              <a:lnSpc>
                <a:spcPct val="150000"/>
              </a:lnSpc>
            </a:pPr>
            <a:r>
              <a:rPr lang="en-US" b="1">
                <a:solidFill>
                  <a:schemeClr val="accent1">
                    <a:lumMod val="75000"/>
                  </a:schemeClr>
                </a:solidFill>
              </a:rPr>
              <a:t>Once a file is successfully opened, a </a:t>
            </a:r>
            <a:r>
              <a:rPr lang="en-US" b="1" i="1">
                <a:solidFill>
                  <a:srgbClr val="C00000"/>
                </a:solidFill>
              </a:rPr>
              <a:t>file </a:t>
            </a:r>
            <a:r>
              <a:rPr lang="en-US" b="1">
                <a:solidFill>
                  <a:srgbClr val="C00000"/>
                </a:solidFill>
              </a:rPr>
              <a:t>object </a:t>
            </a:r>
            <a:r>
              <a:rPr lang="en-US" b="1">
                <a:solidFill>
                  <a:schemeClr val="accent1">
                    <a:lumMod val="75000"/>
                  </a:schemeClr>
                </a:solidFill>
              </a:rPr>
              <a:t>is returned. Using this file object, you can easily access different type of information related to that file. This information can be obtained by reading values of specific attributes of the file. </a:t>
            </a:r>
          </a:p>
        </p:txBody>
      </p:sp>
      <p:pic>
        <p:nvPicPr>
          <p:cNvPr id="6" name="Picture 5"/>
          <p:cNvPicPr>
            <a:picLocks noChangeAspect="1"/>
          </p:cNvPicPr>
          <p:nvPr/>
        </p:nvPicPr>
        <p:blipFill>
          <a:blip r:embed="rId2"/>
          <a:stretch>
            <a:fillRect/>
          </a:stretch>
        </p:blipFill>
        <p:spPr>
          <a:xfrm>
            <a:off x="133347" y="3211151"/>
            <a:ext cx="4298520" cy="1529323"/>
          </a:xfrm>
          <a:prstGeom prst="rect">
            <a:avLst/>
          </a:prstGeom>
        </p:spPr>
      </p:pic>
      <p:pic>
        <p:nvPicPr>
          <p:cNvPr id="7" name="Picture 6"/>
          <p:cNvPicPr>
            <a:picLocks noChangeAspect="1"/>
          </p:cNvPicPr>
          <p:nvPr/>
        </p:nvPicPr>
        <p:blipFill>
          <a:blip r:embed="rId3"/>
          <a:stretch>
            <a:fillRect/>
          </a:stretch>
        </p:blipFill>
        <p:spPr>
          <a:xfrm>
            <a:off x="5016323" y="3521972"/>
            <a:ext cx="6174841" cy="907682"/>
          </a:xfrm>
          <a:prstGeom prst="rect">
            <a:avLst/>
          </a:prstGeom>
        </p:spPr>
      </p:pic>
      <p:pic>
        <p:nvPicPr>
          <p:cNvPr id="8" name="Picture 7"/>
          <p:cNvPicPr>
            <a:picLocks noChangeAspect="1"/>
          </p:cNvPicPr>
          <p:nvPr/>
        </p:nvPicPr>
        <p:blipFill>
          <a:blip r:embed="rId4"/>
          <a:stretch>
            <a:fillRect/>
          </a:stretch>
        </p:blipFill>
        <p:spPr>
          <a:xfrm>
            <a:off x="5016323" y="4429654"/>
            <a:ext cx="6174841" cy="1526483"/>
          </a:xfrm>
          <a:prstGeom prst="rect">
            <a:avLst/>
          </a:prstGeom>
        </p:spPr>
      </p:pic>
      <p:sp>
        <p:nvSpPr>
          <p:cNvPr id="10" name="TextBox 9"/>
          <p:cNvSpPr txBox="1"/>
          <p:nvPr/>
        </p:nvSpPr>
        <p:spPr>
          <a:xfrm>
            <a:off x="5016323" y="3136083"/>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2210163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close () Method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26</a:t>
            </a:fld>
            <a:endParaRPr lang="en-US"/>
          </a:p>
        </p:txBody>
      </p:sp>
      <p:sp>
        <p:nvSpPr>
          <p:cNvPr id="6" name="Rectangle 5"/>
          <p:cNvSpPr/>
          <p:nvPr/>
        </p:nvSpPr>
        <p:spPr>
          <a:xfrm>
            <a:off x="259307" y="1649097"/>
            <a:ext cx="11505064" cy="4662815"/>
          </a:xfrm>
          <a:prstGeom prst="rect">
            <a:avLst/>
          </a:prstGeom>
        </p:spPr>
        <p:txBody>
          <a:bodyPr wrap="square">
            <a:spAutoFit/>
          </a:bodyPr>
          <a:lstStyle/>
          <a:p>
            <a:pPr algn="just">
              <a:lnSpc>
                <a:spcPct val="150000"/>
              </a:lnSpc>
            </a:pPr>
            <a:r>
              <a:rPr lang="en-US" b="1">
                <a:solidFill>
                  <a:schemeClr val="accent1">
                    <a:lumMod val="75000"/>
                  </a:schemeClr>
                </a:solidFill>
              </a:rPr>
              <a:t>The </a:t>
            </a:r>
            <a:r>
              <a:rPr lang="en-US" b="1" i="1">
                <a:solidFill>
                  <a:srgbClr val="C00000"/>
                </a:solidFill>
              </a:rPr>
              <a:t>close() method </a:t>
            </a:r>
            <a:r>
              <a:rPr lang="en-US" b="1">
                <a:solidFill>
                  <a:schemeClr val="accent1">
                    <a:lumMod val="75000"/>
                  </a:schemeClr>
                </a:solidFill>
              </a:rPr>
              <a:t>is used to close the file object. Once a file object is closed, you cannot further read from or write into the file associated with the file object. While closing the file object the close() flushes any unwritten information. Although, Python automatically closes a file when the reference object of a file is reassigned to another file, but as a good programming habit you should always explicitly use the close() method to close a file. The syntax of close() is </a:t>
            </a:r>
            <a:r>
              <a:rPr lang="en-US" b="1" err="1">
                <a:solidFill>
                  <a:srgbClr val="C00000"/>
                </a:solidFill>
              </a:rPr>
              <a:t>fileObj.close</a:t>
            </a:r>
            <a:r>
              <a:rPr lang="en-US" b="1">
                <a:solidFill>
                  <a:srgbClr val="C00000"/>
                </a:solidFill>
              </a:rPr>
              <a:t>() </a:t>
            </a:r>
          </a:p>
          <a:p>
            <a:pPr algn="just">
              <a:lnSpc>
                <a:spcPct val="150000"/>
              </a:lnSpc>
            </a:pPr>
            <a:r>
              <a:rPr lang="en-US" b="1">
                <a:solidFill>
                  <a:schemeClr val="accent1">
                    <a:lumMod val="75000"/>
                  </a:schemeClr>
                </a:solidFill>
              </a:rPr>
              <a:t>The close() method frees up any system resources such as file descriptors, file locks, etc. that are associated with the file. Moreover, there is an upper limit to the number of files a program can open. If that limit is exceeded then the program may even crash or work in unexpected manner. Thus, you can waste lots of memory if you keep many files open unnecessarily and also remember that open files always stand a chance of corruption and data loss. </a:t>
            </a:r>
          </a:p>
          <a:p>
            <a:pPr algn="just">
              <a:lnSpc>
                <a:spcPct val="150000"/>
              </a:lnSpc>
            </a:pPr>
            <a:r>
              <a:rPr lang="en-US" b="1">
                <a:solidFill>
                  <a:schemeClr val="accent1">
                    <a:lumMod val="75000"/>
                  </a:schemeClr>
                </a:solidFill>
              </a:rPr>
              <a:t>Once the file is closed using the close() method, any attempt to use the file object will result in an error. </a:t>
            </a:r>
          </a:p>
        </p:txBody>
      </p:sp>
    </p:spTree>
    <p:extLst>
      <p:ext uri="{BB962C8B-B14F-4D97-AF65-F5344CB8AC3E}">
        <p14:creationId xmlns:p14="http://schemas.microsoft.com/office/powerpoint/2010/main" val="968141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write() and writelines() Methods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27</a:t>
            </a:fld>
            <a:endParaRPr lang="en-US"/>
          </a:p>
        </p:txBody>
      </p:sp>
      <p:sp>
        <p:nvSpPr>
          <p:cNvPr id="6" name="Rectangle 5"/>
          <p:cNvSpPr/>
          <p:nvPr/>
        </p:nvSpPr>
        <p:spPr>
          <a:xfrm>
            <a:off x="192734" y="1645507"/>
            <a:ext cx="11758613" cy="2169825"/>
          </a:xfrm>
          <a:prstGeom prst="rect">
            <a:avLst/>
          </a:prstGeom>
        </p:spPr>
        <p:txBody>
          <a:bodyPr wrap="square">
            <a:spAutoFit/>
          </a:bodyPr>
          <a:lstStyle/>
          <a:p>
            <a:pPr algn="just">
              <a:lnSpc>
                <a:spcPct val="150000"/>
              </a:lnSpc>
            </a:pPr>
            <a:r>
              <a:rPr lang="en-US" b="1">
                <a:solidFill>
                  <a:schemeClr val="accent1">
                    <a:lumMod val="75000"/>
                  </a:schemeClr>
                </a:solidFill>
              </a:rPr>
              <a:t>The </a:t>
            </a:r>
            <a:r>
              <a:rPr lang="en-US" b="1" i="1">
                <a:solidFill>
                  <a:srgbClr val="C00000"/>
                </a:solidFill>
              </a:rPr>
              <a:t>write() method </a:t>
            </a:r>
            <a:r>
              <a:rPr lang="en-US" b="1">
                <a:solidFill>
                  <a:schemeClr val="accent1">
                    <a:lumMod val="75000"/>
                  </a:schemeClr>
                </a:solidFill>
              </a:rPr>
              <a:t>is used to write a string to an already opened file. Of course this string may include numbers, special characters or other symbols. While writing data to a file, you must remember that the write() method does not add a newline character ('\n') to the end of the string. The syntax of write() method is:  </a:t>
            </a:r>
            <a:r>
              <a:rPr lang="en-US" b="1" err="1">
                <a:solidFill>
                  <a:srgbClr val="C00000"/>
                </a:solidFill>
              </a:rPr>
              <a:t>fileObj.write</a:t>
            </a:r>
            <a:r>
              <a:rPr lang="en-US" b="1">
                <a:solidFill>
                  <a:srgbClr val="C00000"/>
                </a:solidFill>
              </a:rPr>
              <a:t>(string)</a:t>
            </a:r>
          </a:p>
          <a:p>
            <a:pPr algn="just">
              <a:lnSpc>
                <a:spcPct val="150000"/>
              </a:lnSpc>
            </a:pPr>
            <a:r>
              <a:rPr lang="en-IN" b="1">
                <a:solidFill>
                  <a:schemeClr val="accent1">
                    <a:lumMod val="75000"/>
                  </a:schemeClr>
                </a:solidFill>
              </a:rPr>
              <a:t>The</a:t>
            </a:r>
            <a:r>
              <a:rPr lang="en-IN" b="1">
                <a:solidFill>
                  <a:srgbClr val="C00000"/>
                </a:solidFill>
              </a:rPr>
              <a:t> </a:t>
            </a:r>
            <a:r>
              <a:rPr lang="en-IN" b="1" i="1" err="1">
                <a:solidFill>
                  <a:srgbClr val="C00000"/>
                </a:solidFill>
              </a:rPr>
              <a:t>writelines</a:t>
            </a:r>
            <a:r>
              <a:rPr lang="en-IN" b="1" i="1">
                <a:solidFill>
                  <a:srgbClr val="C00000"/>
                </a:solidFill>
              </a:rPr>
              <a:t>() method</a:t>
            </a:r>
            <a:r>
              <a:rPr lang="en-IN" b="1" i="1">
                <a:solidFill>
                  <a:schemeClr val="accent1">
                    <a:lumMod val="75000"/>
                  </a:schemeClr>
                </a:solidFill>
              </a:rPr>
              <a:t> </a:t>
            </a:r>
            <a:r>
              <a:rPr lang="en-IN" b="1">
                <a:solidFill>
                  <a:schemeClr val="accent1">
                    <a:lumMod val="75000"/>
                  </a:schemeClr>
                </a:solidFill>
              </a:rPr>
              <a:t>is used to write a list of strings.</a:t>
            </a:r>
            <a:endParaRPr lang="en-US" b="1">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301916" y="4317180"/>
            <a:ext cx="4943113" cy="2004082"/>
          </a:xfrm>
          <a:prstGeom prst="rect">
            <a:avLst/>
          </a:prstGeom>
        </p:spPr>
      </p:pic>
      <p:pic>
        <p:nvPicPr>
          <p:cNvPr id="7" name="Picture 6"/>
          <p:cNvPicPr>
            <a:picLocks noChangeAspect="1"/>
          </p:cNvPicPr>
          <p:nvPr/>
        </p:nvPicPr>
        <p:blipFill>
          <a:blip r:embed="rId3"/>
          <a:stretch>
            <a:fillRect/>
          </a:stretch>
        </p:blipFill>
        <p:spPr>
          <a:xfrm>
            <a:off x="5759355" y="4326865"/>
            <a:ext cx="5969456" cy="1994397"/>
          </a:xfrm>
          <a:prstGeom prst="rect">
            <a:avLst/>
          </a:prstGeom>
        </p:spPr>
      </p:pic>
      <p:sp>
        <p:nvSpPr>
          <p:cNvPr id="9" name="TextBox 9"/>
          <p:cNvSpPr txBox="1"/>
          <p:nvPr/>
        </p:nvSpPr>
        <p:spPr>
          <a:xfrm>
            <a:off x="301916" y="3881590"/>
            <a:ext cx="159512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Examples:</a:t>
            </a:r>
          </a:p>
        </p:txBody>
      </p:sp>
    </p:spTree>
    <p:extLst>
      <p:ext uri="{BB962C8B-B14F-4D97-AF65-F5344CB8AC3E}">
        <p14:creationId xmlns:p14="http://schemas.microsoft.com/office/powerpoint/2010/main" val="4073211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append() Method</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28</a:t>
            </a:fld>
            <a:endParaRPr lang="en-US"/>
          </a:p>
        </p:txBody>
      </p:sp>
      <p:sp>
        <p:nvSpPr>
          <p:cNvPr id="6" name="Rectangle 5"/>
          <p:cNvSpPr/>
          <p:nvPr/>
        </p:nvSpPr>
        <p:spPr>
          <a:xfrm>
            <a:off x="272119" y="1599185"/>
            <a:ext cx="11647760" cy="3000821"/>
          </a:xfrm>
          <a:prstGeom prst="rect">
            <a:avLst/>
          </a:prstGeom>
        </p:spPr>
        <p:txBody>
          <a:bodyPr wrap="square">
            <a:spAutoFit/>
          </a:bodyPr>
          <a:lstStyle/>
          <a:p>
            <a:pPr algn="just">
              <a:lnSpc>
                <a:spcPct val="150000"/>
              </a:lnSpc>
            </a:pPr>
            <a:r>
              <a:rPr lang="en-US" b="1">
                <a:solidFill>
                  <a:schemeClr val="accent1">
                    <a:lumMod val="75000"/>
                  </a:schemeClr>
                </a:solidFill>
              </a:rPr>
              <a:t>Once you have stored some data in a file, you can always open that file again to write more data or append data to it. To append a file, you must open it using </a:t>
            </a:r>
            <a:r>
              <a:rPr lang="en-US" b="1">
                <a:solidFill>
                  <a:srgbClr val="C00000"/>
                </a:solidFill>
              </a:rPr>
              <a:t>'a'</a:t>
            </a:r>
            <a:r>
              <a:rPr lang="en-US" b="1">
                <a:solidFill>
                  <a:schemeClr val="accent1">
                    <a:lumMod val="75000"/>
                  </a:schemeClr>
                </a:solidFill>
              </a:rPr>
              <a:t> or </a:t>
            </a:r>
            <a:r>
              <a:rPr lang="en-US" b="1">
                <a:solidFill>
                  <a:srgbClr val="C00000"/>
                </a:solidFill>
              </a:rPr>
              <a:t>'</a:t>
            </a:r>
            <a:r>
              <a:rPr lang="en-US" b="1" err="1">
                <a:solidFill>
                  <a:srgbClr val="C00000"/>
                </a:solidFill>
              </a:rPr>
              <a:t>ab</a:t>
            </a:r>
            <a:r>
              <a:rPr lang="en-US" b="1">
                <a:solidFill>
                  <a:srgbClr val="C00000"/>
                </a:solidFill>
              </a:rPr>
              <a:t>' </a:t>
            </a:r>
            <a:r>
              <a:rPr lang="en-US" b="1">
                <a:solidFill>
                  <a:schemeClr val="accent1">
                    <a:lumMod val="75000"/>
                  </a:schemeClr>
                </a:solidFill>
              </a:rPr>
              <a:t>mode depending on whether it is a text file or a binary file. Note that if you open a file in 'w' or '</a:t>
            </a:r>
            <a:r>
              <a:rPr lang="en-US" b="1" err="1">
                <a:solidFill>
                  <a:schemeClr val="accent1">
                    <a:lumMod val="75000"/>
                  </a:schemeClr>
                </a:solidFill>
              </a:rPr>
              <a:t>wb</a:t>
            </a:r>
            <a:r>
              <a:rPr lang="en-US" b="1">
                <a:solidFill>
                  <a:schemeClr val="accent1">
                    <a:lumMod val="75000"/>
                  </a:schemeClr>
                </a:solidFill>
              </a:rPr>
              <a:t>' mode and then start writing data into it, then its existing contents would be overwritten. So always open the file in 'a' or '</a:t>
            </a:r>
            <a:r>
              <a:rPr lang="en-US" b="1" err="1">
                <a:solidFill>
                  <a:schemeClr val="accent1">
                    <a:lumMod val="75000"/>
                  </a:schemeClr>
                </a:solidFill>
              </a:rPr>
              <a:t>ab</a:t>
            </a:r>
            <a:r>
              <a:rPr lang="en-US" b="1">
                <a:solidFill>
                  <a:schemeClr val="accent1">
                    <a:lumMod val="75000"/>
                  </a:schemeClr>
                </a:solidFill>
              </a:rPr>
              <a:t>' mode to add more data to existing data stored in the file. </a:t>
            </a:r>
          </a:p>
          <a:p>
            <a:pPr algn="just">
              <a:lnSpc>
                <a:spcPct val="150000"/>
              </a:lnSpc>
            </a:pPr>
            <a:r>
              <a:rPr lang="en-US" b="1">
                <a:solidFill>
                  <a:schemeClr val="accent1">
                    <a:lumMod val="75000"/>
                  </a:schemeClr>
                </a:solidFill>
              </a:rPr>
              <a:t>Appending data is especially essential when creating a log of events or combining a large set of data into one file. </a:t>
            </a:r>
          </a:p>
        </p:txBody>
      </p:sp>
      <p:pic>
        <p:nvPicPr>
          <p:cNvPr id="5" name="Picture 4"/>
          <p:cNvPicPr>
            <a:picLocks noChangeAspect="1"/>
          </p:cNvPicPr>
          <p:nvPr/>
        </p:nvPicPr>
        <p:blipFill>
          <a:blip r:embed="rId2"/>
          <a:stretch>
            <a:fillRect/>
          </a:stretch>
        </p:blipFill>
        <p:spPr>
          <a:xfrm>
            <a:off x="1707498" y="4746519"/>
            <a:ext cx="5757828" cy="1608439"/>
          </a:xfrm>
          <a:prstGeom prst="rect">
            <a:avLst/>
          </a:prstGeom>
        </p:spPr>
      </p:pic>
      <p:sp>
        <p:nvSpPr>
          <p:cNvPr id="8" name="TextBox 9"/>
          <p:cNvSpPr txBox="1"/>
          <p:nvPr/>
        </p:nvSpPr>
        <p:spPr>
          <a:xfrm>
            <a:off x="272119" y="4600006"/>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2453638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read() and readline() Methods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29</a:t>
            </a:fld>
            <a:endParaRPr lang="en-US"/>
          </a:p>
        </p:txBody>
      </p:sp>
      <p:sp>
        <p:nvSpPr>
          <p:cNvPr id="6" name="Rectangle 5"/>
          <p:cNvSpPr/>
          <p:nvPr/>
        </p:nvSpPr>
        <p:spPr>
          <a:xfrm>
            <a:off x="83128" y="1693008"/>
            <a:ext cx="11868220" cy="3000821"/>
          </a:xfrm>
          <a:prstGeom prst="rect">
            <a:avLst/>
          </a:prstGeom>
        </p:spPr>
        <p:txBody>
          <a:bodyPr wrap="square">
            <a:spAutoFit/>
          </a:bodyPr>
          <a:lstStyle/>
          <a:p>
            <a:pPr algn="just">
              <a:lnSpc>
                <a:spcPct val="150000"/>
              </a:lnSpc>
            </a:pPr>
            <a:r>
              <a:rPr lang="en-US" b="1">
                <a:solidFill>
                  <a:schemeClr val="accent1">
                    <a:lumMod val="75000"/>
                  </a:schemeClr>
                </a:solidFill>
              </a:rPr>
              <a:t>The </a:t>
            </a:r>
            <a:r>
              <a:rPr lang="en-US" b="1" i="1">
                <a:solidFill>
                  <a:srgbClr val="C00000"/>
                </a:solidFill>
              </a:rPr>
              <a:t>read() method </a:t>
            </a:r>
            <a:r>
              <a:rPr lang="en-US" b="1">
                <a:solidFill>
                  <a:schemeClr val="accent1">
                    <a:lumMod val="75000"/>
                  </a:schemeClr>
                </a:solidFill>
              </a:rPr>
              <a:t>is used to read a string from an already opened file. As said before, the string can include, alphabets, numbers, characters or other symbols. The syntax of read() method is</a:t>
            </a:r>
            <a:r>
              <a:rPr lang="en-US" b="1">
                <a:solidFill>
                  <a:srgbClr val="C00000"/>
                </a:solidFill>
              </a:rPr>
              <a:t> </a:t>
            </a:r>
            <a:r>
              <a:rPr lang="en-US" b="1" err="1">
                <a:solidFill>
                  <a:srgbClr val="C00000"/>
                </a:solidFill>
              </a:rPr>
              <a:t>fileObj.read</a:t>
            </a:r>
            <a:r>
              <a:rPr lang="en-US" b="1">
                <a:solidFill>
                  <a:srgbClr val="C00000"/>
                </a:solidFill>
              </a:rPr>
              <a:t>([count]) </a:t>
            </a:r>
          </a:p>
          <a:p>
            <a:pPr algn="just">
              <a:lnSpc>
                <a:spcPct val="150000"/>
              </a:lnSpc>
            </a:pPr>
            <a:r>
              <a:rPr lang="en-US" b="1">
                <a:solidFill>
                  <a:schemeClr val="accent1">
                    <a:lumMod val="75000"/>
                  </a:schemeClr>
                </a:solidFill>
              </a:rPr>
              <a:t>In the above syntax, count is an optional parameter which if passed to the read() method specifies the number of bytes to be read from the opened file. The read() method starts reading from the beginning of the file and if </a:t>
            </a:r>
            <a:r>
              <a:rPr lang="en-US" b="1" i="1">
                <a:solidFill>
                  <a:schemeClr val="accent1">
                    <a:lumMod val="75000"/>
                  </a:schemeClr>
                </a:solidFill>
              </a:rPr>
              <a:t>count </a:t>
            </a:r>
            <a:r>
              <a:rPr lang="en-US" b="1">
                <a:solidFill>
                  <a:schemeClr val="accent1">
                    <a:lumMod val="75000"/>
                  </a:schemeClr>
                </a:solidFill>
              </a:rPr>
              <a:t>is missing or has a negative value then, it reads the entire contents of the file (i.e., till the end of file). </a:t>
            </a:r>
          </a:p>
          <a:p>
            <a:pPr algn="just">
              <a:lnSpc>
                <a:spcPct val="150000"/>
              </a:lnSpc>
            </a:pPr>
            <a:r>
              <a:rPr lang="en-IN" b="1">
                <a:solidFill>
                  <a:schemeClr val="accent1">
                    <a:lumMod val="75000"/>
                  </a:schemeClr>
                </a:solidFill>
              </a:rPr>
              <a:t>The </a:t>
            </a:r>
            <a:r>
              <a:rPr lang="en-IN" b="1" i="1" err="1">
                <a:solidFill>
                  <a:srgbClr val="C00000"/>
                </a:solidFill>
              </a:rPr>
              <a:t>readlines</a:t>
            </a:r>
            <a:r>
              <a:rPr lang="en-IN" b="1" i="1">
                <a:solidFill>
                  <a:srgbClr val="C00000"/>
                </a:solidFill>
              </a:rPr>
              <a:t>() method </a:t>
            </a:r>
            <a:r>
              <a:rPr lang="en-IN" b="1">
                <a:solidFill>
                  <a:schemeClr val="accent1">
                    <a:lumMod val="75000"/>
                  </a:schemeClr>
                </a:solidFill>
              </a:rPr>
              <a:t>is used to read all the lines in the file</a:t>
            </a:r>
            <a:endParaRPr lang="en-US" b="1">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1561760" y="4836333"/>
            <a:ext cx="3709213" cy="1729972"/>
          </a:xfrm>
          <a:prstGeom prst="rect">
            <a:avLst/>
          </a:prstGeom>
        </p:spPr>
      </p:pic>
      <p:sp>
        <p:nvSpPr>
          <p:cNvPr id="8" name="TextBox 9"/>
          <p:cNvSpPr txBox="1"/>
          <p:nvPr/>
        </p:nvSpPr>
        <p:spPr>
          <a:xfrm>
            <a:off x="233253" y="4770985"/>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529966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Opening Files using “with” Keyword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30</a:t>
            </a:fld>
            <a:endParaRPr lang="en-US"/>
          </a:p>
        </p:txBody>
      </p:sp>
      <p:sp>
        <p:nvSpPr>
          <p:cNvPr id="6" name="Rectangle 5"/>
          <p:cNvSpPr/>
          <p:nvPr/>
        </p:nvSpPr>
        <p:spPr>
          <a:xfrm>
            <a:off x="106879" y="1681132"/>
            <a:ext cx="11868428" cy="1338828"/>
          </a:xfrm>
          <a:prstGeom prst="rect">
            <a:avLst/>
          </a:prstGeom>
        </p:spPr>
        <p:txBody>
          <a:bodyPr wrap="square">
            <a:spAutoFit/>
          </a:bodyPr>
          <a:lstStyle/>
          <a:p>
            <a:pPr algn="just">
              <a:lnSpc>
                <a:spcPct val="150000"/>
              </a:lnSpc>
            </a:pPr>
            <a:r>
              <a:rPr lang="en-US" b="1">
                <a:solidFill>
                  <a:schemeClr val="accent1">
                    <a:lumMod val="75000"/>
                  </a:schemeClr>
                </a:solidFill>
              </a:rPr>
              <a:t>It is good programming habit to use the with keyword when working with file objects. This has the advantage that the file is properly closed after it is used even if an error occurs during read or write operation or even when you forget to explicitly close the file. </a:t>
            </a:r>
          </a:p>
        </p:txBody>
      </p:sp>
      <p:sp>
        <p:nvSpPr>
          <p:cNvPr id="8" name="TextBox 9"/>
          <p:cNvSpPr txBox="1"/>
          <p:nvPr/>
        </p:nvSpPr>
        <p:spPr>
          <a:xfrm>
            <a:off x="106879" y="3150588"/>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733" y="3231928"/>
            <a:ext cx="8677275"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5318" y="5136928"/>
            <a:ext cx="8677275"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3456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Splitting Words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31</a:t>
            </a:fld>
            <a:endParaRPr lang="en-US"/>
          </a:p>
        </p:txBody>
      </p:sp>
      <p:sp>
        <p:nvSpPr>
          <p:cNvPr id="6" name="Rectangle 5"/>
          <p:cNvSpPr/>
          <p:nvPr/>
        </p:nvSpPr>
        <p:spPr>
          <a:xfrm>
            <a:off x="95004" y="1681132"/>
            <a:ext cx="11856344" cy="923330"/>
          </a:xfrm>
          <a:prstGeom prst="rect">
            <a:avLst/>
          </a:prstGeom>
        </p:spPr>
        <p:txBody>
          <a:bodyPr wrap="square">
            <a:spAutoFit/>
          </a:bodyPr>
          <a:lstStyle/>
          <a:p>
            <a:pPr algn="just">
              <a:lnSpc>
                <a:spcPct val="150000"/>
              </a:lnSpc>
            </a:pPr>
            <a:r>
              <a:rPr lang="en-US" b="1">
                <a:solidFill>
                  <a:schemeClr val="accent1">
                    <a:lumMod val="75000"/>
                  </a:schemeClr>
                </a:solidFill>
              </a:rPr>
              <a:t>Python allows you to read line(s) from a file and splits the line (treated as a string) based on a character. By default, this character is space but you can even specify any other character to split words in the string. </a:t>
            </a:r>
          </a:p>
        </p:txBody>
      </p:sp>
      <p:pic>
        <p:nvPicPr>
          <p:cNvPr id="5" name="Picture 4"/>
          <p:cNvPicPr>
            <a:picLocks noChangeAspect="1"/>
          </p:cNvPicPr>
          <p:nvPr/>
        </p:nvPicPr>
        <p:blipFill>
          <a:blip r:embed="rId2"/>
          <a:stretch>
            <a:fillRect/>
          </a:stretch>
        </p:blipFill>
        <p:spPr>
          <a:xfrm>
            <a:off x="1390440" y="2735090"/>
            <a:ext cx="8313120" cy="2087298"/>
          </a:xfrm>
          <a:prstGeom prst="rect">
            <a:avLst/>
          </a:prstGeom>
        </p:spPr>
      </p:pic>
      <p:sp>
        <p:nvSpPr>
          <p:cNvPr id="8" name="TextBox 9"/>
          <p:cNvSpPr txBox="1"/>
          <p:nvPr/>
        </p:nvSpPr>
        <p:spPr>
          <a:xfrm>
            <a:off x="95004" y="2693117"/>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1905234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a:t>                           </a:t>
            </a:r>
            <a:r>
              <a:rPr lang="en-US" sz="3200" b="1"/>
              <a:t>Some Other Useful File Methods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32</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4775" y="1638794"/>
            <a:ext cx="8471614" cy="48848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9663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File Positions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33</a:t>
            </a:fld>
            <a:endParaRPr lang="en-US"/>
          </a:p>
        </p:txBody>
      </p:sp>
      <p:sp>
        <p:nvSpPr>
          <p:cNvPr id="6" name="Rectangle 5"/>
          <p:cNvSpPr/>
          <p:nvPr/>
        </p:nvSpPr>
        <p:spPr>
          <a:xfrm>
            <a:off x="152236" y="1629533"/>
            <a:ext cx="11799111" cy="4662815"/>
          </a:xfrm>
          <a:prstGeom prst="rect">
            <a:avLst/>
          </a:prstGeom>
        </p:spPr>
        <p:txBody>
          <a:bodyPr wrap="square">
            <a:spAutoFit/>
          </a:bodyPr>
          <a:lstStyle/>
          <a:p>
            <a:pPr algn="just">
              <a:lnSpc>
                <a:spcPct val="150000"/>
              </a:lnSpc>
            </a:pPr>
            <a:r>
              <a:rPr lang="en-US" b="1">
                <a:solidFill>
                  <a:schemeClr val="accent1">
                    <a:lumMod val="75000"/>
                  </a:schemeClr>
                </a:solidFill>
              </a:rPr>
              <a:t>With every file, the file management system associates a pointer often known as </a:t>
            </a:r>
            <a:r>
              <a:rPr lang="en-US" b="1" i="1">
                <a:solidFill>
                  <a:srgbClr val="C00000"/>
                </a:solidFill>
              </a:rPr>
              <a:t>file pointer </a:t>
            </a:r>
            <a:r>
              <a:rPr lang="en-US" b="1">
                <a:solidFill>
                  <a:schemeClr val="accent1">
                    <a:lumMod val="75000"/>
                  </a:schemeClr>
                </a:solidFill>
              </a:rPr>
              <a:t>that facilitate the movement across the file for reading and/ or writing data. The file pointer specifies a location from where the current read or write operation is initiated. Once the read/write operation is completed, the pointer is automatically updated. </a:t>
            </a:r>
          </a:p>
          <a:p>
            <a:pPr algn="just">
              <a:lnSpc>
                <a:spcPct val="150000"/>
              </a:lnSpc>
            </a:pPr>
            <a:r>
              <a:rPr lang="en-US" b="1">
                <a:solidFill>
                  <a:schemeClr val="accent1">
                    <a:lumMod val="75000"/>
                  </a:schemeClr>
                </a:solidFill>
              </a:rPr>
              <a:t>Python has various methods that tells or sets the position of the file pointer. For example, the </a:t>
            </a:r>
            <a:r>
              <a:rPr lang="en-US" b="1">
                <a:solidFill>
                  <a:srgbClr val="C00000"/>
                </a:solidFill>
              </a:rPr>
              <a:t>tell() </a:t>
            </a:r>
            <a:r>
              <a:rPr lang="en-US" b="1">
                <a:solidFill>
                  <a:schemeClr val="accent1">
                    <a:lumMod val="75000"/>
                  </a:schemeClr>
                </a:solidFill>
              </a:rPr>
              <a:t>method tells the current position within the file at which the next read or write operation will occur. It is specified as number of bytes from the beginning of the file. When you just open a file for reading, the file pointer is positioned at location 0, which is the beginning of the file. </a:t>
            </a:r>
          </a:p>
          <a:p>
            <a:pPr algn="just">
              <a:lnSpc>
                <a:spcPct val="150000"/>
              </a:lnSpc>
            </a:pPr>
            <a:r>
              <a:rPr lang="en-US" b="1">
                <a:solidFill>
                  <a:schemeClr val="accent1">
                    <a:lumMod val="75000"/>
                  </a:schemeClr>
                </a:solidFill>
              </a:rPr>
              <a:t>The </a:t>
            </a:r>
            <a:r>
              <a:rPr lang="en-US" b="1">
                <a:solidFill>
                  <a:srgbClr val="C00000"/>
                </a:solidFill>
              </a:rPr>
              <a:t>seek(offset[, from]) </a:t>
            </a:r>
            <a:r>
              <a:rPr lang="en-US" b="1">
                <a:solidFill>
                  <a:schemeClr val="accent1">
                    <a:lumMod val="75000"/>
                  </a:schemeClr>
                </a:solidFill>
              </a:rPr>
              <a:t>method is used to set the position of the file pointer or in simpler terms, move the file pointer to a new location. The offset argument indicates the number of bytes to be moved and the from argument specifies the reference position from where the bytes are to be moved. </a:t>
            </a:r>
          </a:p>
        </p:txBody>
      </p:sp>
    </p:spTree>
    <p:extLst>
      <p:ext uri="{BB962C8B-B14F-4D97-AF65-F5344CB8AC3E}">
        <p14:creationId xmlns:p14="http://schemas.microsoft.com/office/powerpoint/2010/main" val="1723005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File Positions - Example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34</a:t>
            </a:fld>
            <a:endParaRPr lang="en-US"/>
          </a:p>
        </p:txBody>
      </p:sp>
      <p:pic>
        <p:nvPicPr>
          <p:cNvPr id="5" name="Picture 4"/>
          <p:cNvPicPr>
            <a:picLocks noChangeAspect="1"/>
          </p:cNvPicPr>
          <p:nvPr/>
        </p:nvPicPr>
        <p:blipFill>
          <a:blip r:embed="rId2"/>
          <a:stretch>
            <a:fillRect/>
          </a:stretch>
        </p:blipFill>
        <p:spPr>
          <a:xfrm>
            <a:off x="1954891" y="1773543"/>
            <a:ext cx="8282215" cy="4547719"/>
          </a:xfrm>
          <a:prstGeom prst="rect">
            <a:avLst/>
          </a:prstGeom>
        </p:spPr>
      </p:pic>
    </p:spTree>
    <p:extLst>
      <p:ext uri="{BB962C8B-B14F-4D97-AF65-F5344CB8AC3E}">
        <p14:creationId xmlns:p14="http://schemas.microsoft.com/office/powerpoint/2010/main" val="2311733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Renaming and Deleting Files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35</a:t>
            </a:fld>
            <a:endParaRPr lang="en-US"/>
          </a:p>
        </p:txBody>
      </p:sp>
      <p:sp>
        <p:nvSpPr>
          <p:cNvPr id="5" name="Rectangle 4"/>
          <p:cNvSpPr/>
          <p:nvPr/>
        </p:nvSpPr>
        <p:spPr>
          <a:xfrm>
            <a:off x="85333" y="1729284"/>
            <a:ext cx="11866014" cy="3000821"/>
          </a:xfrm>
          <a:prstGeom prst="rect">
            <a:avLst/>
          </a:prstGeom>
        </p:spPr>
        <p:txBody>
          <a:bodyPr wrap="square">
            <a:spAutoFit/>
          </a:bodyPr>
          <a:lstStyle/>
          <a:p>
            <a:pPr algn="just">
              <a:lnSpc>
                <a:spcPct val="150000"/>
              </a:lnSpc>
            </a:pPr>
            <a:r>
              <a:rPr lang="en-US" b="1">
                <a:solidFill>
                  <a:schemeClr val="accent1">
                    <a:lumMod val="75000"/>
                  </a:schemeClr>
                </a:solidFill>
              </a:rPr>
              <a:t>The </a:t>
            </a:r>
            <a:r>
              <a:rPr lang="en-US" b="1" err="1">
                <a:solidFill>
                  <a:srgbClr val="C00000"/>
                </a:solidFill>
              </a:rPr>
              <a:t>os</a:t>
            </a:r>
            <a:r>
              <a:rPr lang="en-US" b="1">
                <a:solidFill>
                  <a:srgbClr val="C00000"/>
                </a:solidFill>
              </a:rPr>
              <a:t> mod</a:t>
            </a:r>
            <a:r>
              <a:rPr lang="en-US" b="1">
                <a:solidFill>
                  <a:schemeClr val="accent1">
                    <a:lumMod val="75000"/>
                  </a:schemeClr>
                </a:solidFill>
              </a:rPr>
              <a:t>ule in Python has various methods that can be used to perform file-processing operations like renaming and deleting files. To use the methods defined in the </a:t>
            </a:r>
            <a:r>
              <a:rPr lang="en-US" b="1" err="1">
                <a:solidFill>
                  <a:schemeClr val="accent1">
                    <a:lumMod val="75000"/>
                  </a:schemeClr>
                </a:solidFill>
              </a:rPr>
              <a:t>os</a:t>
            </a:r>
            <a:r>
              <a:rPr lang="en-US" b="1">
                <a:solidFill>
                  <a:schemeClr val="accent1">
                    <a:lumMod val="75000"/>
                  </a:schemeClr>
                </a:solidFill>
              </a:rPr>
              <a:t> module, you should first import it in your program then call any related functions. </a:t>
            </a:r>
          </a:p>
          <a:p>
            <a:pPr algn="just">
              <a:lnSpc>
                <a:spcPct val="150000"/>
              </a:lnSpc>
            </a:pPr>
            <a:r>
              <a:rPr lang="en-US" b="1">
                <a:solidFill>
                  <a:srgbClr val="C00000"/>
                </a:solidFill>
              </a:rPr>
              <a:t>The rename() Method: </a:t>
            </a:r>
            <a:r>
              <a:rPr lang="en-US" b="1">
                <a:solidFill>
                  <a:schemeClr val="accent1">
                    <a:lumMod val="75000"/>
                  </a:schemeClr>
                </a:solidFill>
              </a:rPr>
              <a:t>The </a:t>
            </a:r>
            <a:r>
              <a:rPr lang="en-US" b="1" i="1">
                <a:solidFill>
                  <a:schemeClr val="accent1">
                    <a:lumMod val="75000"/>
                  </a:schemeClr>
                </a:solidFill>
              </a:rPr>
              <a:t>rename() </a:t>
            </a:r>
            <a:r>
              <a:rPr lang="en-US" b="1">
                <a:solidFill>
                  <a:schemeClr val="accent1">
                    <a:lumMod val="75000"/>
                  </a:schemeClr>
                </a:solidFill>
              </a:rPr>
              <a:t>method takes two arguments, the current filename and the new filename. Its syntax is: </a:t>
            </a:r>
            <a:r>
              <a:rPr lang="en-US" b="1" err="1">
                <a:solidFill>
                  <a:srgbClr val="C00000"/>
                </a:solidFill>
              </a:rPr>
              <a:t>os.rename</a:t>
            </a:r>
            <a:r>
              <a:rPr lang="en-US" b="1">
                <a:solidFill>
                  <a:srgbClr val="C00000"/>
                </a:solidFill>
              </a:rPr>
              <a:t>(</a:t>
            </a:r>
            <a:r>
              <a:rPr lang="en-US" b="1" err="1">
                <a:solidFill>
                  <a:srgbClr val="C00000"/>
                </a:solidFill>
              </a:rPr>
              <a:t>old_file_name</a:t>
            </a:r>
            <a:r>
              <a:rPr lang="en-US" b="1">
                <a:solidFill>
                  <a:srgbClr val="C00000"/>
                </a:solidFill>
              </a:rPr>
              <a:t>, </a:t>
            </a:r>
            <a:r>
              <a:rPr lang="en-US" b="1" err="1">
                <a:solidFill>
                  <a:srgbClr val="C00000"/>
                </a:solidFill>
              </a:rPr>
              <a:t>new_file_name</a:t>
            </a:r>
            <a:r>
              <a:rPr lang="en-US" b="1">
                <a:solidFill>
                  <a:srgbClr val="C00000"/>
                </a:solidFill>
              </a:rPr>
              <a:t>) </a:t>
            </a:r>
          </a:p>
          <a:p>
            <a:pPr>
              <a:lnSpc>
                <a:spcPct val="150000"/>
              </a:lnSpc>
            </a:pPr>
            <a:r>
              <a:rPr lang="en-US" b="1">
                <a:solidFill>
                  <a:srgbClr val="C00000"/>
                </a:solidFill>
              </a:rPr>
              <a:t>The remove() Method: </a:t>
            </a:r>
            <a:r>
              <a:rPr lang="en-US" b="1">
                <a:solidFill>
                  <a:schemeClr val="accent1">
                    <a:lumMod val="75000"/>
                  </a:schemeClr>
                </a:solidFill>
              </a:rPr>
              <a:t>This method can be used to delete file(s). The method takes a filename (name of the file to be deleted) as an argument and deletes that file. Its syntax is: </a:t>
            </a:r>
            <a:r>
              <a:rPr lang="en-US" b="1" err="1">
                <a:solidFill>
                  <a:srgbClr val="C00000"/>
                </a:solidFill>
              </a:rPr>
              <a:t>os.remove</a:t>
            </a:r>
            <a:r>
              <a:rPr lang="en-US" b="1">
                <a:solidFill>
                  <a:srgbClr val="C00000"/>
                </a:solidFill>
              </a:rPr>
              <a:t>(</a:t>
            </a:r>
            <a:r>
              <a:rPr lang="en-US" b="1" err="1">
                <a:solidFill>
                  <a:srgbClr val="C00000"/>
                </a:solidFill>
              </a:rPr>
              <a:t>file_name</a:t>
            </a:r>
            <a:r>
              <a:rPr lang="en-US" b="1">
                <a:solidFill>
                  <a:srgbClr val="C00000"/>
                </a:solidFill>
              </a:rPr>
              <a:t>) </a:t>
            </a:r>
          </a:p>
        </p:txBody>
      </p:sp>
      <p:pic>
        <p:nvPicPr>
          <p:cNvPr id="6" name="Picture 5"/>
          <p:cNvPicPr>
            <a:picLocks noChangeAspect="1"/>
          </p:cNvPicPr>
          <p:nvPr/>
        </p:nvPicPr>
        <p:blipFill>
          <a:blip r:embed="rId2"/>
          <a:stretch>
            <a:fillRect/>
          </a:stretch>
        </p:blipFill>
        <p:spPr>
          <a:xfrm>
            <a:off x="1341912" y="4730105"/>
            <a:ext cx="4180114" cy="1766229"/>
          </a:xfrm>
          <a:prstGeom prst="rect">
            <a:avLst/>
          </a:prstGeom>
        </p:spPr>
      </p:pic>
      <p:pic>
        <p:nvPicPr>
          <p:cNvPr id="7" name="Picture 6"/>
          <p:cNvPicPr>
            <a:picLocks noChangeAspect="1"/>
          </p:cNvPicPr>
          <p:nvPr/>
        </p:nvPicPr>
        <p:blipFill>
          <a:blip r:embed="rId3"/>
          <a:stretch>
            <a:fillRect/>
          </a:stretch>
        </p:blipFill>
        <p:spPr>
          <a:xfrm>
            <a:off x="5692238" y="4772569"/>
            <a:ext cx="2728432" cy="1723765"/>
          </a:xfrm>
          <a:prstGeom prst="rect">
            <a:avLst/>
          </a:prstGeom>
        </p:spPr>
      </p:pic>
      <p:sp>
        <p:nvSpPr>
          <p:cNvPr id="9" name="TextBox 9"/>
          <p:cNvSpPr txBox="1"/>
          <p:nvPr/>
        </p:nvSpPr>
        <p:spPr>
          <a:xfrm>
            <a:off x="85333" y="4657557"/>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Examples:</a:t>
            </a:r>
          </a:p>
        </p:txBody>
      </p:sp>
    </p:spTree>
    <p:extLst>
      <p:ext uri="{BB962C8B-B14F-4D97-AF65-F5344CB8AC3E}">
        <p14:creationId xmlns:p14="http://schemas.microsoft.com/office/powerpoint/2010/main" val="3117850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Directory Methods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36</a:t>
            </a:fld>
            <a:endParaRPr lang="en-US"/>
          </a:p>
        </p:txBody>
      </p:sp>
      <p:sp>
        <p:nvSpPr>
          <p:cNvPr id="6" name="Rectangle 5"/>
          <p:cNvSpPr/>
          <p:nvPr/>
        </p:nvSpPr>
        <p:spPr>
          <a:xfrm>
            <a:off x="83128" y="1550504"/>
            <a:ext cx="11868366" cy="5078313"/>
          </a:xfrm>
          <a:prstGeom prst="rect">
            <a:avLst/>
          </a:prstGeom>
        </p:spPr>
        <p:txBody>
          <a:bodyPr wrap="square">
            <a:spAutoFit/>
          </a:bodyPr>
          <a:lstStyle/>
          <a:p>
            <a:pPr algn="just">
              <a:lnSpc>
                <a:spcPct val="150000"/>
              </a:lnSpc>
            </a:pPr>
            <a:r>
              <a:rPr lang="en-US" b="1">
                <a:solidFill>
                  <a:schemeClr val="accent1">
                    <a:lumMod val="75000"/>
                  </a:schemeClr>
                </a:solidFill>
              </a:rPr>
              <a:t>The</a:t>
            </a:r>
            <a:r>
              <a:rPr lang="en-US" b="1">
                <a:solidFill>
                  <a:srgbClr val="C00000"/>
                </a:solidFill>
              </a:rPr>
              <a:t> </a:t>
            </a:r>
            <a:r>
              <a:rPr lang="en-US" b="1" err="1">
                <a:solidFill>
                  <a:srgbClr val="C00000"/>
                </a:solidFill>
              </a:rPr>
              <a:t>mkdir</a:t>
            </a:r>
            <a:r>
              <a:rPr lang="en-US" b="1">
                <a:solidFill>
                  <a:srgbClr val="C00000"/>
                </a:solidFill>
              </a:rPr>
              <a:t>() </a:t>
            </a:r>
            <a:r>
              <a:rPr lang="en-US" b="1">
                <a:solidFill>
                  <a:schemeClr val="accent1">
                    <a:lumMod val="75000"/>
                  </a:schemeClr>
                </a:solidFill>
              </a:rPr>
              <a:t>Method: The </a:t>
            </a:r>
            <a:r>
              <a:rPr lang="en-US" b="1" err="1">
                <a:solidFill>
                  <a:schemeClr val="accent1">
                    <a:lumMod val="75000"/>
                  </a:schemeClr>
                </a:solidFill>
              </a:rPr>
              <a:t>mkdir</a:t>
            </a:r>
            <a:r>
              <a:rPr lang="en-US" b="1">
                <a:solidFill>
                  <a:schemeClr val="accent1">
                    <a:lumMod val="75000"/>
                  </a:schemeClr>
                </a:solidFill>
              </a:rPr>
              <a:t>()method of the OS module is used to create directories in the current directory. The method takes the name of the directory (the one to be created) as an argument. The syntax of </a:t>
            </a:r>
            <a:r>
              <a:rPr lang="en-US" b="1" err="1">
                <a:solidFill>
                  <a:schemeClr val="accent1">
                    <a:lumMod val="75000"/>
                  </a:schemeClr>
                </a:solidFill>
              </a:rPr>
              <a:t>mkdir</a:t>
            </a:r>
            <a:r>
              <a:rPr lang="en-US" b="1">
                <a:solidFill>
                  <a:schemeClr val="accent1">
                    <a:lumMod val="75000"/>
                  </a:schemeClr>
                </a:solidFill>
              </a:rPr>
              <a:t>() is, </a:t>
            </a:r>
            <a:r>
              <a:rPr lang="en-US" b="1" err="1">
                <a:solidFill>
                  <a:srgbClr val="C00000"/>
                </a:solidFill>
              </a:rPr>
              <a:t>os.mkdir</a:t>
            </a:r>
            <a:r>
              <a:rPr lang="en-US" b="1">
                <a:solidFill>
                  <a:srgbClr val="C00000"/>
                </a:solidFill>
              </a:rPr>
              <a:t>("</a:t>
            </a:r>
            <a:r>
              <a:rPr lang="en-US" b="1" err="1">
                <a:solidFill>
                  <a:srgbClr val="C00000"/>
                </a:solidFill>
              </a:rPr>
              <a:t>new_dir_name</a:t>
            </a:r>
            <a:r>
              <a:rPr lang="en-US" b="1">
                <a:solidFill>
                  <a:srgbClr val="C00000"/>
                </a:solidFill>
              </a:rPr>
              <a:t>") </a:t>
            </a:r>
          </a:p>
          <a:p>
            <a:pPr algn="just">
              <a:lnSpc>
                <a:spcPct val="150000"/>
              </a:lnSpc>
            </a:pPr>
            <a:r>
              <a:rPr lang="en-US" b="1">
                <a:solidFill>
                  <a:schemeClr val="accent1">
                    <a:lumMod val="75000"/>
                  </a:schemeClr>
                </a:solidFill>
              </a:rPr>
              <a:t>The </a:t>
            </a:r>
            <a:r>
              <a:rPr lang="en-US" b="1" err="1">
                <a:solidFill>
                  <a:srgbClr val="C00000"/>
                </a:solidFill>
              </a:rPr>
              <a:t>getcwd</a:t>
            </a:r>
            <a:r>
              <a:rPr lang="en-US" b="1">
                <a:solidFill>
                  <a:srgbClr val="C00000"/>
                </a:solidFill>
              </a:rPr>
              <a:t>() </a:t>
            </a:r>
            <a:r>
              <a:rPr lang="en-US" b="1">
                <a:solidFill>
                  <a:schemeClr val="accent1">
                    <a:lumMod val="75000"/>
                  </a:schemeClr>
                </a:solidFill>
              </a:rPr>
              <a:t>Method: The </a:t>
            </a:r>
            <a:r>
              <a:rPr lang="en-US" b="1" err="1">
                <a:solidFill>
                  <a:schemeClr val="accent1">
                    <a:lumMod val="75000"/>
                  </a:schemeClr>
                </a:solidFill>
              </a:rPr>
              <a:t>getcwd</a:t>
            </a:r>
            <a:r>
              <a:rPr lang="en-US" b="1">
                <a:solidFill>
                  <a:schemeClr val="accent1">
                    <a:lumMod val="75000"/>
                  </a:schemeClr>
                </a:solidFill>
              </a:rPr>
              <a:t>() method is used to display the current working directory (</a:t>
            </a:r>
            <a:r>
              <a:rPr lang="en-US" b="1" err="1">
                <a:solidFill>
                  <a:schemeClr val="accent1">
                    <a:lumMod val="75000"/>
                  </a:schemeClr>
                </a:solidFill>
              </a:rPr>
              <a:t>cwd</a:t>
            </a:r>
            <a:r>
              <a:rPr lang="en-US" b="1">
                <a:solidFill>
                  <a:schemeClr val="accent1">
                    <a:lumMod val="75000"/>
                  </a:schemeClr>
                </a:solidFill>
              </a:rPr>
              <a:t>). </a:t>
            </a:r>
          </a:p>
          <a:p>
            <a:pPr algn="just">
              <a:lnSpc>
                <a:spcPct val="150000"/>
              </a:lnSpc>
            </a:pPr>
            <a:r>
              <a:rPr lang="en-US" b="1" err="1">
                <a:solidFill>
                  <a:srgbClr val="C00000"/>
                </a:solidFill>
              </a:rPr>
              <a:t>os.getcwd</a:t>
            </a:r>
            <a:r>
              <a:rPr lang="en-US" b="1">
                <a:solidFill>
                  <a:srgbClr val="C00000"/>
                </a:solidFill>
              </a:rPr>
              <a:t>() </a:t>
            </a:r>
          </a:p>
          <a:p>
            <a:pPr algn="just">
              <a:lnSpc>
                <a:spcPct val="150000"/>
              </a:lnSpc>
            </a:pPr>
            <a:r>
              <a:rPr lang="en-US" b="1">
                <a:solidFill>
                  <a:schemeClr val="accent1">
                    <a:lumMod val="75000"/>
                  </a:schemeClr>
                </a:solidFill>
              </a:rPr>
              <a:t>The</a:t>
            </a:r>
            <a:r>
              <a:rPr lang="en-US" b="1">
                <a:solidFill>
                  <a:srgbClr val="C00000"/>
                </a:solidFill>
              </a:rPr>
              <a:t> </a:t>
            </a:r>
            <a:r>
              <a:rPr lang="en-US" b="1" err="1">
                <a:solidFill>
                  <a:srgbClr val="C00000"/>
                </a:solidFill>
              </a:rPr>
              <a:t>chdir</a:t>
            </a:r>
            <a:r>
              <a:rPr lang="en-US" b="1">
                <a:solidFill>
                  <a:srgbClr val="C00000"/>
                </a:solidFill>
              </a:rPr>
              <a:t>() </a:t>
            </a:r>
            <a:r>
              <a:rPr lang="en-US" b="1">
                <a:solidFill>
                  <a:schemeClr val="accent1">
                    <a:lumMod val="75000"/>
                  </a:schemeClr>
                </a:solidFill>
              </a:rPr>
              <a:t>Method: The </a:t>
            </a:r>
            <a:r>
              <a:rPr lang="en-US" b="1" err="1">
                <a:solidFill>
                  <a:schemeClr val="accent1">
                    <a:lumMod val="75000"/>
                  </a:schemeClr>
                </a:solidFill>
              </a:rPr>
              <a:t>chdir</a:t>
            </a:r>
            <a:r>
              <a:rPr lang="en-US" b="1">
                <a:solidFill>
                  <a:schemeClr val="accent1">
                    <a:lumMod val="75000"/>
                  </a:schemeClr>
                </a:solidFill>
              </a:rPr>
              <a:t>() method is used to change the current directory. The method takes the name of the directory which you want to make the current directory as an argument. Its syntax is </a:t>
            </a:r>
          </a:p>
          <a:p>
            <a:pPr algn="just">
              <a:lnSpc>
                <a:spcPct val="150000"/>
              </a:lnSpc>
            </a:pPr>
            <a:r>
              <a:rPr lang="en-US" b="1" err="1">
                <a:solidFill>
                  <a:srgbClr val="C00000"/>
                </a:solidFill>
              </a:rPr>
              <a:t>os.chdir</a:t>
            </a:r>
            <a:r>
              <a:rPr lang="en-US" b="1">
                <a:solidFill>
                  <a:srgbClr val="C00000"/>
                </a:solidFill>
              </a:rPr>
              <a:t>("</a:t>
            </a:r>
            <a:r>
              <a:rPr lang="en-US" b="1" err="1">
                <a:solidFill>
                  <a:srgbClr val="C00000"/>
                </a:solidFill>
              </a:rPr>
              <a:t>dir_name</a:t>
            </a:r>
            <a:r>
              <a:rPr lang="en-US" b="1">
                <a:solidFill>
                  <a:srgbClr val="C00000"/>
                </a:solidFill>
              </a:rPr>
              <a:t>") </a:t>
            </a:r>
          </a:p>
          <a:p>
            <a:pPr algn="just">
              <a:lnSpc>
                <a:spcPct val="150000"/>
              </a:lnSpc>
            </a:pPr>
            <a:r>
              <a:rPr lang="en-US" b="1">
                <a:solidFill>
                  <a:schemeClr val="accent1">
                    <a:lumMod val="75000"/>
                  </a:schemeClr>
                </a:solidFill>
              </a:rPr>
              <a:t>The </a:t>
            </a:r>
            <a:r>
              <a:rPr lang="en-US" b="1" err="1">
                <a:solidFill>
                  <a:srgbClr val="C00000"/>
                </a:solidFill>
              </a:rPr>
              <a:t>rmdir</a:t>
            </a:r>
            <a:r>
              <a:rPr lang="en-US" b="1">
                <a:solidFill>
                  <a:srgbClr val="C00000"/>
                </a:solidFill>
              </a:rPr>
              <a:t>() </a:t>
            </a:r>
            <a:r>
              <a:rPr lang="en-US" b="1">
                <a:solidFill>
                  <a:schemeClr val="accent1">
                    <a:lumMod val="75000"/>
                  </a:schemeClr>
                </a:solidFill>
              </a:rPr>
              <a:t>Method: The </a:t>
            </a:r>
            <a:r>
              <a:rPr lang="en-US" b="1" i="1" err="1">
                <a:solidFill>
                  <a:schemeClr val="accent1">
                    <a:lumMod val="75000"/>
                  </a:schemeClr>
                </a:solidFill>
              </a:rPr>
              <a:t>rmdir</a:t>
            </a:r>
            <a:r>
              <a:rPr lang="en-US" b="1" i="1">
                <a:solidFill>
                  <a:schemeClr val="accent1">
                    <a:lumMod val="75000"/>
                  </a:schemeClr>
                </a:solidFill>
              </a:rPr>
              <a:t>() </a:t>
            </a:r>
            <a:r>
              <a:rPr lang="en-US" b="1">
                <a:solidFill>
                  <a:schemeClr val="accent1">
                    <a:lumMod val="75000"/>
                  </a:schemeClr>
                </a:solidFill>
              </a:rPr>
              <a:t>method is used to remove or delete a directory. For this, it accepts name of the directory to be deleted as an argument. However, before removing a directory, it should be absolutely empty and all the contents in it should be removed. The syntax of remove() method is </a:t>
            </a:r>
            <a:r>
              <a:rPr lang="en-US" b="1" err="1">
                <a:solidFill>
                  <a:srgbClr val="C00000"/>
                </a:solidFill>
              </a:rPr>
              <a:t>os.rmdir</a:t>
            </a:r>
            <a:r>
              <a:rPr lang="en-US" b="1">
                <a:solidFill>
                  <a:srgbClr val="C00000"/>
                </a:solidFill>
              </a:rPr>
              <a:t>(("</a:t>
            </a:r>
            <a:r>
              <a:rPr lang="en-US" b="1" err="1">
                <a:solidFill>
                  <a:srgbClr val="C00000"/>
                </a:solidFill>
              </a:rPr>
              <a:t>dir_name</a:t>
            </a:r>
            <a:r>
              <a:rPr lang="en-US" b="1">
                <a:solidFill>
                  <a:srgbClr val="C00000"/>
                </a:solidFill>
              </a:rPr>
              <a:t>") </a:t>
            </a:r>
          </a:p>
          <a:p>
            <a:pPr algn="just">
              <a:lnSpc>
                <a:spcPct val="150000"/>
              </a:lnSpc>
            </a:pPr>
            <a:r>
              <a:rPr lang="en-US" b="1">
                <a:solidFill>
                  <a:schemeClr val="accent1">
                    <a:lumMod val="75000"/>
                  </a:schemeClr>
                </a:solidFill>
              </a:rPr>
              <a:t>The </a:t>
            </a:r>
            <a:r>
              <a:rPr lang="en-US" b="1" err="1">
                <a:solidFill>
                  <a:srgbClr val="C00000"/>
                </a:solidFill>
              </a:rPr>
              <a:t>makedirs</a:t>
            </a:r>
            <a:r>
              <a:rPr lang="en-US" b="1">
                <a:solidFill>
                  <a:srgbClr val="C00000"/>
                </a:solidFill>
              </a:rPr>
              <a:t>() </a:t>
            </a:r>
            <a:r>
              <a:rPr lang="en-US" b="1">
                <a:solidFill>
                  <a:schemeClr val="accent1">
                    <a:lumMod val="75000"/>
                  </a:schemeClr>
                </a:solidFill>
              </a:rPr>
              <a:t>method: The method </a:t>
            </a:r>
            <a:r>
              <a:rPr lang="en-US" b="1" err="1">
                <a:solidFill>
                  <a:schemeClr val="accent1">
                    <a:lumMod val="75000"/>
                  </a:schemeClr>
                </a:solidFill>
              </a:rPr>
              <a:t>mkdirs</a:t>
            </a:r>
            <a:r>
              <a:rPr lang="en-US" b="1">
                <a:solidFill>
                  <a:schemeClr val="accent1">
                    <a:lumMod val="75000"/>
                  </a:schemeClr>
                </a:solidFill>
              </a:rPr>
              <a:t>() is used to create more than one folder</a:t>
            </a:r>
            <a:r>
              <a:rPr lang="en-US"/>
              <a:t>. </a:t>
            </a:r>
          </a:p>
        </p:txBody>
      </p:sp>
    </p:spTree>
    <p:extLst>
      <p:ext uri="{BB962C8B-B14F-4D97-AF65-F5344CB8AC3E}">
        <p14:creationId xmlns:p14="http://schemas.microsoft.com/office/powerpoint/2010/main" val="3501279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Directory Methods  - Examples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37</a:t>
            </a:fld>
            <a:endParaRPr lang="en-US"/>
          </a:p>
        </p:txBody>
      </p:sp>
      <p:pic>
        <p:nvPicPr>
          <p:cNvPr id="5" name="Picture 4"/>
          <p:cNvPicPr>
            <a:picLocks noChangeAspect="1"/>
          </p:cNvPicPr>
          <p:nvPr/>
        </p:nvPicPr>
        <p:blipFill>
          <a:blip r:embed="rId2"/>
          <a:stretch>
            <a:fillRect/>
          </a:stretch>
        </p:blipFill>
        <p:spPr>
          <a:xfrm>
            <a:off x="1236020" y="1672995"/>
            <a:ext cx="3688971" cy="1880063"/>
          </a:xfrm>
          <a:prstGeom prst="rect">
            <a:avLst/>
          </a:prstGeom>
        </p:spPr>
      </p:pic>
      <p:pic>
        <p:nvPicPr>
          <p:cNvPr id="6" name="Picture 5"/>
          <p:cNvPicPr>
            <a:picLocks noChangeAspect="1"/>
          </p:cNvPicPr>
          <p:nvPr/>
        </p:nvPicPr>
        <p:blipFill>
          <a:blip r:embed="rId3"/>
          <a:stretch>
            <a:fillRect/>
          </a:stretch>
        </p:blipFill>
        <p:spPr>
          <a:xfrm>
            <a:off x="5020415" y="1672995"/>
            <a:ext cx="2794612" cy="1905469"/>
          </a:xfrm>
          <a:prstGeom prst="rect">
            <a:avLst/>
          </a:prstGeom>
        </p:spPr>
      </p:pic>
      <p:pic>
        <p:nvPicPr>
          <p:cNvPr id="7" name="Picture 6"/>
          <p:cNvPicPr>
            <a:picLocks noChangeAspect="1"/>
          </p:cNvPicPr>
          <p:nvPr/>
        </p:nvPicPr>
        <p:blipFill>
          <a:blip r:embed="rId4"/>
          <a:stretch>
            <a:fillRect/>
          </a:stretch>
        </p:blipFill>
        <p:spPr>
          <a:xfrm>
            <a:off x="7932717" y="1672995"/>
            <a:ext cx="3134223" cy="1905469"/>
          </a:xfrm>
          <a:prstGeom prst="rect">
            <a:avLst/>
          </a:prstGeom>
        </p:spPr>
      </p:pic>
      <p:pic>
        <p:nvPicPr>
          <p:cNvPr id="8" name="Picture 7"/>
          <p:cNvPicPr>
            <a:picLocks noChangeAspect="1"/>
          </p:cNvPicPr>
          <p:nvPr/>
        </p:nvPicPr>
        <p:blipFill>
          <a:blip r:embed="rId5"/>
          <a:stretch>
            <a:fillRect/>
          </a:stretch>
        </p:blipFill>
        <p:spPr>
          <a:xfrm>
            <a:off x="1236020" y="3607511"/>
            <a:ext cx="10011151" cy="2713751"/>
          </a:xfrm>
          <a:prstGeom prst="rect">
            <a:avLst/>
          </a:prstGeom>
        </p:spPr>
      </p:pic>
    </p:spTree>
    <p:extLst>
      <p:ext uri="{BB962C8B-B14F-4D97-AF65-F5344CB8AC3E}">
        <p14:creationId xmlns:p14="http://schemas.microsoft.com/office/powerpoint/2010/main" val="36330043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Errors and Exceptions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38</a:t>
            </a:fld>
            <a:endParaRPr lang="en-US"/>
          </a:p>
        </p:txBody>
      </p:sp>
      <p:sp>
        <p:nvSpPr>
          <p:cNvPr id="6" name="Rectangle 5"/>
          <p:cNvSpPr/>
          <p:nvPr/>
        </p:nvSpPr>
        <p:spPr>
          <a:xfrm>
            <a:off x="126051" y="1550504"/>
            <a:ext cx="11939897" cy="5078313"/>
          </a:xfrm>
          <a:prstGeom prst="rect">
            <a:avLst/>
          </a:prstGeom>
        </p:spPr>
        <p:txBody>
          <a:bodyPr wrap="square">
            <a:spAutoFit/>
          </a:bodyPr>
          <a:lstStyle/>
          <a:p>
            <a:pPr algn="just">
              <a:lnSpc>
                <a:spcPct val="150000"/>
              </a:lnSpc>
            </a:pPr>
            <a:r>
              <a:rPr lang="en-US" b="1">
                <a:solidFill>
                  <a:schemeClr val="accent1">
                    <a:lumMod val="75000"/>
                  </a:schemeClr>
                </a:solidFill>
              </a:rPr>
              <a:t>The programs that we write may behave abnormally or unexpectedly because of some errors and/or exceptions. The two common types of errors that we very often encounter are </a:t>
            </a:r>
            <a:r>
              <a:rPr lang="en-US" b="1" i="1">
                <a:solidFill>
                  <a:srgbClr val="C00000"/>
                </a:solidFill>
              </a:rPr>
              <a:t>syntax errors </a:t>
            </a:r>
            <a:r>
              <a:rPr lang="en-US" b="1">
                <a:solidFill>
                  <a:schemeClr val="accent1">
                    <a:lumMod val="75000"/>
                  </a:schemeClr>
                </a:solidFill>
              </a:rPr>
              <a:t>and </a:t>
            </a:r>
            <a:r>
              <a:rPr lang="en-US" b="1" i="1">
                <a:solidFill>
                  <a:srgbClr val="C00000"/>
                </a:solidFill>
              </a:rPr>
              <a:t>logic errors</a:t>
            </a:r>
            <a:r>
              <a:rPr lang="en-US" b="1">
                <a:solidFill>
                  <a:schemeClr val="accent1">
                    <a:lumMod val="75000"/>
                  </a:schemeClr>
                </a:solidFill>
              </a:rPr>
              <a:t>. While logic errors occur due to poor understanding of problem and its solution, syntax errors, on the other hand, arises due to poor understanding of the language. However, such errors can be detected by exhaustive debugging and testing of procedures.</a:t>
            </a:r>
          </a:p>
          <a:p>
            <a:pPr algn="just">
              <a:lnSpc>
                <a:spcPct val="150000"/>
              </a:lnSpc>
            </a:pPr>
            <a:r>
              <a:rPr lang="en-US" b="1">
                <a:solidFill>
                  <a:schemeClr val="accent1">
                    <a:lumMod val="75000"/>
                  </a:schemeClr>
                </a:solidFill>
              </a:rPr>
              <a:t>But many a times, we come across some peculiar problems which are often categorized as exceptions. </a:t>
            </a:r>
            <a:r>
              <a:rPr lang="en-US" b="1">
                <a:solidFill>
                  <a:srgbClr val="C00000"/>
                </a:solidFill>
              </a:rPr>
              <a:t>Exceptions are run-time anomalies or unusual conditions </a:t>
            </a:r>
            <a:r>
              <a:rPr lang="en-US" b="1">
                <a:solidFill>
                  <a:schemeClr val="accent1">
                    <a:lumMod val="75000"/>
                  </a:schemeClr>
                </a:solidFill>
              </a:rPr>
              <a:t>(such as divide by zero, accessing arrays out of its bounds, running out of memory or disk space, overflow, and underflow) that a program may encounter during</a:t>
            </a:r>
          </a:p>
          <a:p>
            <a:pPr algn="just">
              <a:lnSpc>
                <a:spcPct val="150000"/>
              </a:lnSpc>
            </a:pPr>
            <a:r>
              <a:rPr lang="en-US" b="1">
                <a:solidFill>
                  <a:schemeClr val="accent1">
                    <a:lumMod val="75000"/>
                  </a:schemeClr>
                </a:solidFill>
              </a:rPr>
              <a:t>execution. Like errors, exceptions can also be categorized as </a:t>
            </a:r>
            <a:r>
              <a:rPr lang="en-US" b="1">
                <a:solidFill>
                  <a:srgbClr val="C00000"/>
                </a:solidFill>
              </a:rPr>
              <a:t>synchronous and asynchronous exceptions</a:t>
            </a:r>
            <a:r>
              <a:rPr lang="en-US" b="1"/>
              <a:t>. </a:t>
            </a:r>
            <a:r>
              <a:rPr lang="en-US" b="1">
                <a:solidFill>
                  <a:schemeClr val="accent1">
                    <a:lumMod val="75000"/>
                  </a:schemeClr>
                </a:solidFill>
              </a:rPr>
              <a:t>While</a:t>
            </a:r>
          </a:p>
          <a:p>
            <a:pPr algn="just">
              <a:lnSpc>
                <a:spcPct val="150000"/>
              </a:lnSpc>
            </a:pPr>
            <a:r>
              <a:rPr lang="en-US" b="1">
                <a:solidFill>
                  <a:schemeClr val="accent1">
                    <a:lumMod val="75000"/>
                  </a:schemeClr>
                </a:solidFill>
              </a:rPr>
              <a:t>synchronous exceptions (like divide by zero, array index out of bound, etc.) can be controlled by the program,</a:t>
            </a:r>
          </a:p>
          <a:p>
            <a:pPr algn="just">
              <a:lnSpc>
                <a:spcPct val="150000"/>
              </a:lnSpc>
            </a:pPr>
            <a:r>
              <a:rPr lang="en-US" b="1">
                <a:solidFill>
                  <a:schemeClr val="accent1">
                    <a:lumMod val="75000"/>
                  </a:schemeClr>
                </a:solidFill>
              </a:rPr>
              <a:t>asynchronous exceptions (like an interrupt from the keyboard, hardware malfunction, or disk failure), on the</a:t>
            </a:r>
          </a:p>
          <a:p>
            <a:pPr algn="just">
              <a:lnSpc>
                <a:spcPct val="150000"/>
              </a:lnSpc>
            </a:pPr>
            <a:r>
              <a:rPr lang="en-US" b="1">
                <a:solidFill>
                  <a:schemeClr val="accent1">
                    <a:lumMod val="75000"/>
                  </a:schemeClr>
                </a:solidFill>
              </a:rPr>
              <a:t>other hand, are caused by events that are beyond the control of the program.</a:t>
            </a:r>
          </a:p>
        </p:txBody>
      </p:sp>
    </p:spTree>
    <p:extLst>
      <p:ext uri="{BB962C8B-B14F-4D97-AF65-F5344CB8AC3E}">
        <p14:creationId xmlns:p14="http://schemas.microsoft.com/office/powerpoint/2010/main" val="966588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Syntax and Logic Errors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39</a:t>
            </a:fld>
            <a:endParaRPr lang="en-US"/>
          </a:p>
        </p:txBody>
      </p:sp>
      <p:sp>
        <p:nvSpPr>
          <p:cNvPr id="5" name="Rectangle 4"/>
          <p:cNvSpPr/>
          <p:nvPr/>
        </p:nvSpPr>
        <p:spPr>
          <a:xfrm>
            <a:off x="123660" y="1702267"/>
            <a:ext cx="11877840" cy="4662815"/>
          </a:xfrm>
          <a:prstGeom prst="rect">
            <a:avLst/>
          </a:prstGeom>
        </p:spPr>
        <p:txBody>
          <a:bodyPr wrap="square">
            <a:spAutoFit/>
          </a:bodyPr>
          <a:lstStyle/>
          <a:p>
            <a:pPr algn="just">
              <a:lnSpc>
                <a:spcPct val="150000"/>
              </a:lnSpc>
            </a:pPr>
            <a:r>
              <a:rPr lang="en-US" b="1" i="1">
                <a:solidFill>
                  <a:srgbClr val="C00000"/>
                </a:solidFill>
              </a:rPr>
              <a:t>Syntax errors </a:t>
            </a:r>
            <a:r>
              <a:rPr lang="en-US" b="1">
                <a:solidFill>
                  <a:schemeClr val="accent1">
                    <a:lumMod val="75000"/>
                  </a:schemeClr>
                </a:solidFill>
              </a:rPr>
              <a:t>occurs when we violate the rules of Python and they are the most common kind of error that we get while learning a new language. For example, consider the lines of code given below.</a:t>
            </a:r>
          </a:p>
          <a:p>
            <a:pPr algn="just">
              <a:lnSpc>
                <a:spcPct val="150000"/>
              </a:lnSpc>
            </a:pPr>
            <a:r>
              <a:rPr lang="en-US" b="1">
                <a:solidFill>
                  <a:schemeClr val="accent1">
                    <a:lumMod val="75000"/>
                  </a:schemeClr>
                </a:solidFill>
              </a:rPr>
              <a:t>&gt;&gt;&gt; </a:t>
            </a:r>
            <a:r>
              <a:rPr lang="en-US" b="1" err="1">
                <a:solidFill>
                  <a:schemeClr val="accent1">
                    <a:lumMod val="75000"/>
                  </a:schemeClr>
                </a:solidFill>
              </a:rPr>
              <a:t>i</a:t>
            </a:r>
            <a:r>
              <a:rPr lang="en-US" b="1">
                <a:solidFill>
                  <a:schemeClr val="accent1">
                    <a:lumMod val="75000"/>
                  </a:schemeClr>
                </a:solidFill>
              </a:rPr>
              <a:t>=0</a:t>
            </a:r>
          </a:p>
          <a:p>
            <a:pPr algn="just">
              <a:lnSpc>
                <a:spcPct val="150000"/>
              </a:lnSpc>
            </a:pPr>
            <a:r>
              <a:rPr lang="en-US" b="1">
                <a:solidFill>
                  <a:schemeClr val="accent1">
                    <a:lumMod val="75000"/>
                  </a:schemeClr>
                </a:solidFill>
              </a:rPr>
              <a:t>&gt;&gt;&gt; if </a:t>
            </a:r>
            <a:r>
              <a:rPr lang="en-US" b="1" err="1">
                <a:solidFill>
                  <a:schemeClr val="accent1">
                    <a:lumMod val="75000"/>
                  </a:schemeClr>
                </a:solidFill>
              </a:rPr>
              <a:t>i</a:t>
            </a:r>
            <a:r>
              <a:rPr lang="en-US" b="1">
                <a:solidFill>
                  <a:schemeClr val="accent1">
                    <a:lumMod val="75000"/>
                  </a:schemeClr>
                </a:solidFill>
              </a:rPr>
              <a:t> == 0 print(</a:t>
            </a:r>
            <a:r>
              <a:rPr lang="en-US" b="1" err="1">
                <a:solidFill>
                  <a:schemeClr val="accent1">
                    <a:lumMod val="75000"/>
                  </a:schemeClr>
                </a:solidFill>
              </a:rPr>
              <a:t>i</a:t>
            </a:r>
            <a:r>
              <a:rPr lang="en-US" b="1">
                <a:solidFill>
                  <a:schemeClr val="accent1">
                    <a:lumMod val="75000"/>
                  </a:schemeClr>
                </a:solidFill>
              </a:rPr>
              <a:t>)</a:t>
            </a:r>
          </a:p>
          <a:p>
            <a:pPr algn="just">
              <a:lnSpc>
                <a:spcPct val="150000"/>
              </a:lnSpc>
            </a:pPr>
            <a:r>
              <a:rPr lang="en-US" b="1" err="1">
                <a:solidFill>
                  <a:schemeClr val="accent1">
                    <a:lumMod val="75000"/>
                  </a:schemeClr>
                </a:solidFill>
              </a:rPr>
              <a:t>SyntaxError</a:t>
            </a:r>
            <a:r>
              <a:rPr lang="en-US" b="1">
                <a:solidFill>
                  <a:schemeClr val="accent1">
                    <a:lumMod val="75000"/>
                  </a:schemeClr>
                </a:solidFill>
              </a:rPr>
              <a:t>: invalid syntax</a:t>
            </a:r>
          </a:p>
          <a:p>
            <a:pPr algn="just">
              <a:lnSpc>
                <a:spcPct val="150000"/>
              </a:lnSpc>
            </a:pPr>
            <a:endParaRPr lang="en-US" b="1">
              <a:solidFill>
                <a:schemeClr val="accent1">
                  <a:lumMod val="75000"/>
                </a:schemeClr>
              </a:solidFill>
            </a:endParaRPr>
          </a:p>
          <a:p>
            <a:pPr algn="just">
              <a:lnSpc>
                <a:spcPct val="150000"/>
              </a:lnSpc>
            </a:pPr>
            <a:r>
              <a:rPr lang="en-US" b="1" i="1">
                <a:solidFill>
                  <a:srgbClr val="C00000"/>
                </a:solidFill>
              </a:rPr>
              <a:t>Logic error </a:t>
            </a:r>
            <a:r>
              <a:rPr lang="en-US" b="1">
                <a:solidFill>
                  <a:schemeClr val="accent1">
                    <a:lumMod val="75000"/>
                  </a:schemeClr>
                </a:solidFill>
              </a:rPr>
              <a:t>specifies all those type of errors in which the program executes but gives incorrect results. Logical error may occur due to wrong algorithm or logic to solve a particular program. In some cases, logic errors may lead to divide by zero or accessing an item in a list where the index of the item is outside the bounds of the list. In this case, the logic error leads to a run-time error that causes the program to terminate abruptly. These types of run-time errors are known as </a:t>
            </a:r>
            <a:r>
              <a:rPr lang="en-US" b="1" i="1">
                <a:solidFill>
                  <a:srgbClr val="C00000"/>
                </a:solidFill>
              </a:rPr>
              <a:t>exceptions</a:t>
            </a:r>
            <a:r>
              <a:rPr lang="en-US" b="1">
                <a:solidFill>
                  <a:schemeClr val="accent1">
                    <a:lumMod val="75000"/>
                  </a:schemeClr>
                </a:solidFill>
              </a:rPr>
              <a:t>.</a:t>
            </a:r>
          </a:p>
        </p:txBody>
      </p:sp>
    </p:spTree>
    <p:extLst>
      <p:ext uri="{BB962C8B-B14F-4D97-AF65-F5344CB8AC3E}">
        <p14:creationId xmlns:p14="http://schemas.microsoft.com/office/powerpoint/2010/main" val="4508579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Exceptions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40</a:t>
            </a:fld>
            <a:endParaRPr lang="en-US"/>
          </a:p>
        </p:txBody>
      </p:sp>
      <p:sp>
        <p:nvSpPr>
          <p:cNvPr id="6" name="Rectangle 5"/>
          <p:cNvSpPr/>
          <p:nvPr/>
        </p:nvSpPr>
        <p:spPr>
          <a:xfrm>
            <a:off x="209550" y="1711652"/>
            <a:ext cx="11772900" cy="3416320"/>
          </a:xfrm>
          <a:prstGeom prst="rect">
            <a:avLst/>
          </a:prstGeom>
        </p:spPr>
        <p:txBody>
          <a:bodyPr wrap="square">
            <a:spAutoFit/>
          </a:bodyPr>
          <a:lstStyle/>
          <a:p>
            <a:pPr algn="just">
              <a:lnSpc>
                <a:spcPct val="150000"/>
              </a:lnSpc>
            </a:pPr>
            <a:r>
              <a:rPr lang="en-US" b="1">
                <a:solidFill>
                  <a:schemeClr val="accent1">
                    <a:lumMod val="75000"/>
                  </a:schemeClr>
                </a:solidFill>
              </a:rPr>
              <a:t>Even if a statement is syntactically correct, it may still cause an error when executed. Such errors that occur</a:t>
            </a:r>
          </a:p>
          <a:p>
            <a:pPr algn="just">
              <a:lnSpc>
                <a:spcPct val="150000"/>
              </a:lnSpc>
            </a:pPr>
            <a:r>
              <a:rPr lang="en-US" b="1">
                <a:solidFill>
                  <a:schemeClr val="accent1">
                    <a:lumMod val="75000"/>
                  </a:schemeClr>
                </a:solidFill>
              </a:rPr>
              <a:t>at run-time (or during execution) are known as</a:t>
            </a:r>
            <a:r>
              <a:rPr lang="en-US" b="1"/>
              <a:t> </a:t>
            </a:r>
            <a:r>
              <a:rPr lang="en-US" b="1" i="1">
                <a:solidFill>
                  <a:srgbClr val="C00000"/>
                </a:solidFill>
              </a:rPr>
              <a:t>exceptions</a:t>
            </a:r>
            <a:r>
              <a:rPr lang="en-US" b="1" i="1"/>
              <a:t>. </a:t>
            </a:r>
            <a:r>
              <a:rPr lang="en-US" b="1">
                <a:solidFill>
                  <a:schemeClr val="accent1">
                    <a:lumMod val="75000"/>
                  </a:schemeClr>
                </a:solidFill>
              </a:rPr>
              <a:t>An exception is an event, which occurs during</a:t>
            </a:r>
          </a:p>
          <a:p>
            <a:pPr algn="just">
              <a:lnSpc>
                <a:spcPct val="150000"/>
              </a:lnSpc>
            </a:pPr>
            <a:r>
              <a:rPr lang="en-US" b="1">
                <a:solidFill>
                  <a:schemeClr val="accent1">
                    <a:lumMod val="75000"/>
                  </a:schemeClr>
                </a:solidFill>
              </a:rPr>
              <a:t>the execution of a program and disrupts the normal flow of the program's instructions. When a program</a:t>
            </a:r>
          </a:p>
          <a:p>
            <a:pPr algn="just">
              <a:lnSpc>
                <a:spcPct val="150000"/>
              </a:lnSpc>
            </a:pPr>
            <a:r>
              <a:rPr lang="en-US" b="1">
                <a:solidFill>
                  <a:schemeClr val="accent1">
                    <a:lumMod val="75000"/>
                  </a:schemeClr>
                </a:solidFill>
              </a:rPr>
              <a:t>encounters a situation which it cannot deal with, it raises an exception. Therefore, we can say that an exception is a Python object that represents an error.</a:t>
            </a:r>
          </a:p>
          <a:p>
            <a:pPr algn="just">
              <a:lnSpc>
                <a:spcPct val="150000"/>
              </a:lnSpc>
            </a:pPr>
            <a:r>
              <a:rPr lang="en-US" b="1">
                <a:solidFill>
                  <a:schemeClr val="accent1">
                    <a:lumMod val="75000"/>
                  </a:schemeClr>
                </a:solidFill>
              </a:rPr>
              <a:t>When a program raises an exception, it must handle the exception or the program will be immediately</a:t>
            </a:r>
          </a:p>
          <a:p>
            <a:pPr algn="just">
              <a:lnSpc>
                <a:spcPct val="150000"/>
              </a:lnSpc>
            </a:pPr>
            <a:r>
              <a:rPr lang="en-US" b="1">
                <a:solidFill>
                  <a:schemeClr val="accent1">
                    <a:lumMod val="75000"/>
                  </a:schemeClr>
                </a:solidFill>
              </a:rPr>
              <a:t>terminated. You can handle exceptions in your programs to end it gracefully, otherwise, if exceptions are not</a:t>
            </a:r>
          </a:p>
          <a:p>
            <a:pPr algn="just">
              <a:lnSpc>
                <a:spcPct val="150000"/>
              </a:lnSpc>
            </a:pPr>
            <a:r>
              <a:rPr lang="en-US" b="1">
                <a:solidFill>
                  <a:schemeClr val="accent1">
                    <a:lumMod val="75000"/>
                  </a:schemeClr>
                </a:solidFill>
              </a:rPr>
              <a:t>handled by programs, then error messages are generated..</a:t>
            </a:r>
          </a:p>
        </p:txBody>
      </p:sp>
    </p:spTree>
    <p:extLst>
      <p:ext uri="{BB962C8B-B14F-4D97-AF65-F5344CB8AC3E}">
        <p14:creationId xmlns:p14="http://schemas.microsoft.com/office/powerpoint/2010/main" val="3213066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Handling Exceptions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41</a:t>
            </a:fld>
            <a:endParaRPr lang="en-US"/>
          </a:p>
        </p:txBody>
      </p:sp>
      <p:sp>
        <p:nvSpPr>
          <p:cNvPr id="5" name="Rectangle 4"/>
          <p:cNvSpPr/>
          <p:nvPr/>
        </p:nvSpPr>
        <p:spPr>
          <a:xfrm>
            <a:off x="130629" y="1594338"/>
            <a:ext cx="11934701" cy="1338828"/>
          </a:xfrm>
          <a:prstGeom prst="rect">
            <a:avLst/>
          </a:prstGeom>
        </p:spPr>
        <p:txBody>
          <a:bodyPr wrap="square">
            <a:spAutoFit/>
          </a:bodyPr>
          <a:lstStyle/>
          <a:p>
            <a:pPr algn="just">
              <a:lnSpc>
                <a:spcPct val="150000"/>
              </a:lnSpc>
            </a:pPr>
            <a:r>
              <a:rPr lang="en-US" b="1">
                <a:solidFill>
                  <a:schemeClr val="accent1">
                    <a:lumMod val="75000"/>
                  </a:schemeClr>
                </a:solidFill>
              </a:rPr>
              <a:t>We can handle exceptions in our program by using </a:t>
            </a:r>
            <a:r>
              <a:rPr lang="en-US" sz="1600" b="1">
                <a:solidFill>
                  <a:schemeClr val="accent1">
                    <a:lumMod val="75000"/>
                  </a:schemeClr>
                </a:solidFill>
              </a:rPr>
              <a:t>try </a:t>
            </a:r>
            <a:r>
              <a:rPr lang="en-US" b="1">
                <a:solidFill>
                  <a:schemeClr val="accent1">
                    <a:lumMod val="75000"/>
                  </a:schemeClr>
                </a:solidFill>
              </a:rPr>
              <a:t>block and </a:t>
            </a:r>
            <a:r>
              <a:rPr lang="en-US" sz="1600" b="1">
                <a:solidFill>
                  <a:schemeClr val="accent1">
                    <a:lumMod val="75000"/>
                  </a:schemeClr>
                </a:solidFill>
              </a:rPr>
              <a:t>except </a:t>
            </a:r>
            <a:r>
              <a:rPr lang="en-US" b="1">
                <a:solidFill>
                  <a:schemeClr val="accent1">
                    <a:lumMod val="75000"/>
                  </a:schemeClr>
                </a:solidFill>
              </a:rPr>
              <a:t>block. A critical operation which can raise exception is placed inside the </a:t>
            </a:r>
            <a:r>
              <a:rPr lang="en-US" sz="1600" b="1">
                <a:solidFill>
                  <a:schemeClr val="accent1">
                    <a:lumMod val="75000"/>
                  </a:schemeClr>
                </a:solidFill>
              </a:rPr>
              <a:t>try </a:t>
            </a:r>
            <a:r>
              <a:rPr lang="en-US" b="1">
                <a:solidFill>
                  <a:schemeClr val="accent1">
                    <a:lumMod val="75000"/>
                  </a:schemeClr>
                </a:solidFill>
              </a:rPr>
              <a:t>block and the code that handles exception is written in </a:t>
            </a:r>
            <a:r>
              <a:rPr lang="en-US" sz="1600" b="1">
                <a:solidFill>
                  <a:schemeClr val="accent1">
                    <a:lumMod val="75000"/>
                  </a:schemeClr>
                </a:solidFill>
              </a:rPr>
              <a:t>except </a:t>
            </a:r>
            <a:r>
              <a:rPr lang="en-US" b="1">
                <a:solidFill>
                  <a:schemeClr val="accent1">
                    <a:lumMod val="75000"/>
                  </a:schemeClr>
                </a:solidFill>
              </a:rPr>
              <a:t>block. The syntax for </a:t>
            </a:r>
            <a:r>
              <a:rPr lang="en-US" sz="1600" b="1">
                <a:solidFill>
                  <a:schemeClr val="accent1">
                    <a:lumMod val="75000"/>
                  </a:schemeClr>
                </a:solidFill>
              </a:rPr>
              <a:t>try–except </a:t>
            </a:r>
            <a:r>
              <a:rPr lang="en-US" b="1">
                <a:solidFill>
                  <a:schemeClr val="accent1">
                    <a:lumMod val="75000"/>
                  </a:schemeClr>
                </a:solidFill>
              </a:rPr>
              <a:t>block can be given as,</a:t>
            </a:r>
          </a:p>
        </p:txBody>
      </p:sp>
      <p:pic>
        <p:nvPicPr>
          <p:cNvPr id="7" name="Picture 6"/>
          <p:cNvPicPr>
            <a:picLocks noChangeAspect="1"/>
          </p:cNvPicPr>
          <p:nvPr/>
        </p:nvPicPr>
        <p:blipFill>
          <a:blip r:embed="rId2"/>
          <a:stretch>
            <a:fillRect/>
          </a:stretch>
        </p:blipFill>
        <p:spPr>
          <a:xfrm>
            <a:off x="219226" y="3363357"/>
            <a:ext cx="2357719" cy="1183901"/>
          </a:xfrm>
          <a:prstGeom prst="rect">
            <a:avLst/>
          </a:prstGeom>
        </p:spPr>
      </p:pic>
      <p:pic>
        <p:nvPicPr>
          <p:cNvPr id="8" name="Picture 7"/>
          <p:cNvPicPr>
            <a:picLocks noChangeAspect="1"/>
          </p:cNvPicPr>
          <p:nvPr/>
        </p:nvPicPr>
        <p:blipFill>
          <a:blip r:embed="rId3"/>
          <a:stretch>
            <a:fillRect/>
          </a:stretch>
        </p:blipFill>
        <p:spPr>
          <a:xfrm>
            <a:off x="2802176" y="3032361"/>
            <a:ext cx="3934651" cy="3288901"/>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4072" y="2828678"/>
            <a:ext cx="4867275"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9"/>
          <p:cNvSpPr txBox="1"/>
          <p:nvPr/>
        </p:nvSpPr>
        <p:spPr>
          <a:xfrm>
            <a:off x="5819774" y="2740033"/>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2313046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Multiple Except Blocks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42</a:t>
            </a:fld>
            <a:endParaRPr lang="en-US"/>
          </a:p>
        </p:txBody>
      </p:sp>
      <p:sp>
        <p:nvSpPr>
          <p:cNvPr id="6" name="Rectangle 5"/>
          <p:cNvSpPr/>
          <p:nvPr/>
        </p:nvSpPr>
        <p:spPr>
          <a:xfrm>
            <a:off x="171449" y="1669258"/>
            <a:ext cx="11282197" cy="2536528"/>
          </a:xfrm>
          <a:prstGeom prst="rect">
            <a:avLst/>
          </a:prstGeom>
        </p:spPr>
        <p:txBody>
          <a:bodyPr wrap="square">
            <a:spAutoFit/>
          </a:bodyPr>
          <a:lstStyle/>
          <a:p>
            <a:pPr algn="just">
              <a:lnSpc>
                <a:spcPct val="150000"/>
              </a:lnSpc>
            </a:pPr>
            <a:r>
              <a:rPr lang="en-US" b="1">
                <a:solidFill>
                  <a:schemeClr val="accent1">
                    <a:lumMod val="75000"/>
                  </a:schemeClr>
                </a:solidFill>
              </a:rPr>
              <a:t>Python allows you to have multiple except blocks for a single try block. The block which matches with the exception generated will get executed. A try block can be associated with more than one except block to specify handlers for different exceptions. However, only one handler will be executed. Exception handlers only handle exceptions that occur in the corresponding try block. We can write our programs that handle selected exceptions. The syntax for specifying multiple except blocks for a single try block can be given as,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790" y="4161006"/>
            <a:ext cx="4788724" cy="25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255881"/>
            <a:ext cx="5182412" cy="21196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9"/>
          <p:cNvSpPr txBox="1"/>
          <p:nvPr/>
        </p:nvSpPr>
        <p:spPr>
          <a:xfrm>
            <a:off x="5985674" y="3890757"/>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4111896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  Multiple Exceptions in a Single Block — Example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43</a:t>
            </a:fld>
            <a:endParaRPr lang="en-US"/>
          </a:p>
        </p:txBody>
      </p:sp>
      <p:pic>
        <p:nvPicPr>
          <p:cNvPr id="5" name="Picture 4"/>
          <p:cNvPicPr>
            <a:picLocks noChangeAspect="1"/>
          </p:cNvPicPr>
          <p:nvPr/>
        </p:nvPicPr>
        <p:blipFill>
          <a:blip r:embed="rId2"/>
          <a:stretch>
            <a:fillRect/>
          </a:stretch>
        </p:blipFill>
        <p:spPr>
          <a:xfrm>
            <a:off x="1282536" y="1779514"/>
            <a:ext cx="8257249" cy="2930885"/>
          </a:xfrm>
          <a:prstGeom prst="rect">
            <a:avLst/>
          </a:prstGeom>
        </p:spPr>
      </p:pic>
    </p:spTree>
    <p:extLst>
      <p:ext uri="{BB962C8B-B14F-4D97-AF65-F5344CB8AC3E}">
        <p14:creationId xmlns:p14="http://schemas.microsoft.com/office/powerpoint/2010/main" val="38676377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except: Block without Exception</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44</a:t>
            </a:fld>
            <a:endParaRPr lang="en-US"/>
          </a:p>
        </p:txBody>
      </p:sp>
      <p:sp>
        <p:nvSpPr>
          <p:cNvPr id="7" name="Rectangle 6"/>
          <p:cNvSpPr/>
          <p:nvPr/>
        </p:nvSpPr>
        <p:spPr>
          <a:xfrm>
            <a:off x="213756" y="1550504"/>
            <a:ext cx="11737591" cy="3000821"/>
          </a:xfrm>
          <a:prstGeom prst="rect">
            <a:avLst/>
          </a:prstGeom>
        </p:spPr>
        <p:txBody>
          <a:bodyPr wrap="square">
            <a:spAutoFit/>
          </a:bodyPr>
          <a:lstStyle/>
          <a:p>
            <a:pPr>
              <a:lnSpc>
                <a:spcPct val="150000"/>
              </a:lnSpc>
            </a:pPr>
            <a:r>
              <a:rPr lang="en-US" b="1">
                <a:solidFill>
                  <a:schemeClr val="accent1">
                    <a:lumMod val="75000"/>
                  </a:schemeClr>
                </a:solidFill>
              </a:rPr>
              <a:t>You can even specify an except block without mentioning any exception (i.e., except:). This type of except</a:t>
            </a:r>
          </a:p>
          <a:p>
            <a:pPr>
              <a:lnSpc>
                <a:spcPct val="150000"/>
              </a:lnSpc>
            </a:pPr>
            <a:r>
              <a:rPr lang="en-US" b="1">
                <a:solidFill>
                  <a:schemeClr val="accent1">
                    <a:lumMod val="75000"/>
                  </a:schemeClr>
                </a:solidFill>
              </a:rPr>
              <a:t>block if present </a:t>
            </a:r>
            <a:r>
              <a:rPr lang="en-US" b="1" u="sng">
                <a:solidFill>
                  <a:schemeClr val="accent1">
                    <a:lumMod val="75000"/>
                  </a:schemeClr>
                </a:solidFill>
              </a:rPr>
              <a:t>should be the last one </a:t>
            </a:r>
            <a:r>
              <a:rPr lang="en-US" b="1">
                <a:solidFill>
                  <a:schemeClr val="accent1">
                    <a:lumMod val="75000"/>
                  </a:schemeClr>
                </a:solidFill>
              </a:rPr>
              <a:t>that can serve as a wildcard (when multiple except blocks are present). But use it with extreme caution, since it may mask a real programming error.</a:t>
            </a:r>
          </a:p>
          <a:p>
            <a:pPr>
              <a:lnSpc>
                <a:spcPct val="150000"/>
              </a:lnSpc>
            </a:pPr>
            <a:r>
              <a:rPr lang="en-US" b="1">
                <a:solidFill>
                  <a:schemeClr val="accent1">
                    <a:lumMod val="75000"/>
                  </a:schemeClr>
                </a:solidFill>
              </a:rPr>
              <a:t>In large software programs, may a times, it is difficult to anticipate all types of possible exceptional</a:t>
            </a:r>
          </a:p>
          <a:p>
            <a:pPr>
              <a:lnSpc>
                <a:spcPct val="150000"/>
              </a:lnSpc>
            </a:pPr>
            <a:r>
              <a:rPr lang="en-US" b="1">
                <a:solidFill>
                  <a:schemeClr val="accent1">
                    <a:lumMod val="75000"/>
                  </a:schemeClr>
                </a:solidFill>
              </a:rPr>
              <a:t>conditions. Therefore, the programmer may not be able to write a different handler (except block) for every</a:t>
            </a:r>
          </a:p>
          <a:p>
            <a:pPr>
              <a:lnSpc>
                <a:spcPct val="150000"/>
              </a:lnSpc>
            </a:pPr>
            <a:r>
              <a:rPr lang="en-US" b="1">
                <a:solidFill>
                  <a:schemeClr val="accent1">
                    <a:lumMod val="75000"/>
                  </a:schemeClr>
                </a:solidFill>
              </a:rPr>
              <a:t>individual type of exception. In such situations, a better idea is to write a handler that would catch all types of exceptions. The syntax to define a handler that would catch every possible exception from the try block is,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482" y="4658418"/>
            <a:ext cx="5581650" cy="196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9628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Except Block Without Exception — Example</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45</a:t>
            </a:fld>
            <a:endParaRPr lang="en-US"/>
          </a:p>
        </p:txBody>
      </p:sp>
      <p:pic>
        <p:nvPicPr>
          <p:cNvPr id="6" name="Picture 5"/>
          <p:cNvPicPr>
            <a:picLocks noChangeAspect="1"/>
          </p:cNvPicPr>
          <p:nvPr/>
        </p:nvPicPr>
        <p:blipFill>
          <a:blip r:embed="rId2"/>
          <a:stretch>
            <a:fillRect/>
          </a:stretch>
        </p:blipFill>
        <p:spPr>
          <a:xfrm>
            <a:off x="1389413" y="1886810"/>
            <a:ext cx="9536864" cy="4065001"/>
          </a:xfrm>
          <a:prstGeom prst="rect">
            <a:avLst/>
          </a:prstGeom>
        </p:spPr>
      </p:pic>
    </p:spTree>
    <p:extLst>
      <p:ext uri="{BB962C8B-B14F-4D97-AF65-F5344CB8AC3E}">
        <p14:creationId xmlns:p14="http://schemas.microsoft.com/office/powerpoint/2010/main" val="6882576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Else Clause</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46</a:t>
            </a:fld>
            <a:endParaRPr lang="en-US"/>
          </a:p>
        </p:txBody>
      </p:sp>
      <p:sp>
        <p:nvSpPr>
          <p:cNvPr id="5" name="Rectangle 4"/>
          <p:cNvSpPr/>
          <p:nvPr/>
        </p:nvSpPr>
        <p:spPr>
          <a:xfrm>
            <a:off x="130629" y="1610069"/>
            <a:ext cx="11820717" cy="923330"/>
          </a:xfrm>
          <a:prstGeom prst="rect">
            <a:avLst/>
          </a:prstGeom>
        </p:spPr>
        <p:txBody>
          <a:bodyPr wrap="square">
            <a:spAutoFit/>
          </a:bodyPr>
          <a:lstStyle/>
          <a:p>
            <a:pPr>
              <a:lnSpc>
                <a:spcPct val="150000"/>
              </a:lnSpc>
            </a:pPr>
            <a:r>
              <a:rPr lang="en-US" b="1">
                <a:solidFill>
                  <a:schemeClr val="accent1">
                    <a:lumMod val="75000"/>
                  </a:schemeClr>
                </a:solidFill>
              </a:rPr>
              <a:t>The try ... except block can optionally have an </a:t>
            </a:r>
            <a:r>
              <a:rPr lang="en-US" b="1" i="1">
                <a:solidFill>
                  <a:schemeClr val="accent1">
                    <a:lumMod val="75000"/>
                  </a:schemeClr>
                </a:solidFill>
              </a:rPr>
              <a:t>else clause</a:t>
            </a:r>
            <a:r>
              <a:rPr lang="en-US" b="1">
                <a:solidFill>
                  <a:schemeClr val="accent1">
                    <a:lumMod val="75000"/>
                  </a:schemeClr>
                </a:solidFill>
              </a:rPr>
              <a:t>, which, when present, must follow all except blocks. The statement(s) in the else block is executed only if the try clause does not raise an exception.</a:t>
            </a:r>
          </a:p>
        </p:txBody>
      </p:sp>
      <p:pic>
        <p:nvPicPr>
          <p:cNvPr id="6" name="Picture 5"/>
          <p:cNvPicPr>
            <a:picLocks noChangeAspect="1"/>
          </p:cNvPicPr>
          <p:nvPr/>
        </p:nvPicPr>
        <p:blipFill>
          <a:blip r:embed="rId3"/>
          <a:stretch>
            <a:fillRect/>
          </a:stretch>
        </p:blipFill>
        <p:spPr>
          <a:xfrm>
            <a:off x="1401701" y="2533399"/>
            <a:ext cx="10162227" cy="3606144"/>
          </a:xfrm>
          <a:prstGeom prst="rect">
            <a:avLst/>
          </a:prstGeom>
        </p:spPr>
      </p:pic>
      <p:sp>
        <p:nvSpPr>
          <p:cNvPr id="8" name="TextBox 9"/>
          <p:cNvSpPr txBox="1"/>
          <p:nvPr/>
        </p:nvSpPr>
        <p:spPr>
          <a:xfrm>
            <a:off x="130629" y="2533399"/>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Examples:</a:t>
            </a:r>
          </a:p>
        </p:txBody>
      </p:sp>
    </p:spTree>
    <p:extLst>
      <p:ext uri="{BB962C8B-B14F-4D97-AF65-F5344CB8AC3E}">
        <p14:creationId xmlns:p14="http://schemas.microsoft.com/office/powerpoint/2010/main" val="22677664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Raising Exceptions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47</a:t>
            </a:fld>
            <a:endParaRPr lang="en-US"/>
          </a:p>
        </p:txBody>
      </p:sp>
      <p:sp>
        <p:nvSpPr>
          <p:cNvPr id="6" name="Rectangle 5"/>
          <p:cNvSpPr/>
          <p:nvPr/>
        </p:nvSpPr>
        <p:spPr>
          <a:xfrm>
            <a:off x="102705" y="1553856"/>
            <a:ext cx="11974500" cy="2169825"/>
          </a:xfrm>
          <a:prstGeom prst="rect">
            <a:avLst/>
          </a:prstGeom>
        </p:spPr>
        <p:txBody>
          <a:bodyPr wrap="square">
            <a:spAutoFit/>
          </a:bodyPr>
          <a:lstStyle/>
          <a:p>
            <a:pPr>
              <a:lnSpc>
                <a:spcPct val="150000"/>
              </a:lnSpc>
            </a:pPr>
            <a:r>
              <a:rPr lang="en-US" b="1">
                <a:solidFill>
                  <a:schemeClr val="accent1">
                    <a:lumMod val="75000"/>
                  </a:schemeClr>
                </a:solidFill>
              </a:rPr>
              <a:t>You can deliberately raise an exception using the raise keyword. The general syntax for the raise statement is, </a:t>
            </a:r>
            <a:r>
              <a:rPr lang="en-US" b="1">
                <a:solidFill>
                  <a:srgbClr val="C00000"/>
                </a:solidFill>
              </a:rPr>
              <a:t>raise [Exception [, </a:t>
            </a:r>
            <a:r>
              <a:rPr lang="en-US" b="1" err="1">
                <a:solidFill>
                  <a:srgbClr val="C00000"/>
                </a:solidFill>
              </a:rPr>
              <a:t>args</a:t>
            </a:r>
            <a:r>
              <a:rPr lang="en-US" b="1">
                <a:solidFill>
                  <a:srgbClr val="C00000"/>
                </a:solidFill>
              </a:rPr>
              <a:t> [, </a:t>
            </a:r>
            <a:r>
              <a:rPr lang="en-US" b="1" err="1">
                <a:solidFill>
                  <a:srgbClr val="C00000"/>
                </a:solidFill>
              </a:rPr>
              <a:t>traceback</a:t>
            </a:r>
            <a:r>
              <a:rPr lang="en-US" b="1">
                <a:solidFill>
                  <a:srgbClr val="C00000"/>
                </a:solidFill>
              </a:rPr>
              <a:t>]]]</a:t>
            </a:r>
          </a:p>
          <a:p>
            <a:pPr>
              <a:lnSpc>
                <a:spcPct val="150000"/>
              </a:lnSpc>
            </a:pPr>
            <a:r>
              <a:rPr lang="en-US" b="1">
                <a:solidFill>
                  <a:schemeClr val="accent1">
                    <a:lumMod val="75000"/>
                  </a:schemeClr>
                </a:solidFill>
              </a:rPr>
              <a:t>Here, Exception is the name of exception to be raised (example, </a:t>
            </a:r>
            <a:r>
              <a:rPr lang="en-US" b="1" err="1">
                <a:solidFill>
                  <a:schemeClr val="accent1">
                    <a:lumMod val="75000"/>
                  </a:schemeClr>
                </a:solidFill>
              </a:rPr>
              <a:t>TypeError</a:t>
            </a:r>
            <a:r>
              <a:rPr lang="en-US" b="1">
                <a:solidFill>
                  <a:schemeClr val="accent1">
                    <a:lumMod val="75000"/>
                  </a:schemeClr>
                </a:solidFill>
              </a:rPr>
              <a:t>). </a:t>
            </a:r>
            <a:r>
              <a:rPr lang="en-US" b="1" i="1" err="1">
                <a:solidFill>
                  <a:schemeClr val="accent1">
                    <a:lumMod val="75000"/>
                  </a:schemeClr>
                </a:solidFill>
              </a:rPr>
              <a:t>args</a:t>
            </a:r>
            <a:r>
              <a:rPr lang="en-US" b="1">
                <a:solidFill>
                  <a:schemeClr val="accent1">
                    <a:lumMod val="75000"/>
                  </a:schemeClr>
                </a:solidFill>
              </a:rPr>
              <a:t> is optional and specifies a value for the exception argument. If </a:t>
            </a:r>
            <a:r>
              <a:rPr lang="en-US" b="1" err="1">
                <a:solidFill>
                  <a:schemeClr val="accent1">
                    <a:lumMod val="75000"/>
                  </a:schemeClr>
                </a:solidFill>
              </a:rPr>
              <a:t>args</a:t>
            </a:r>
            <a:r>
              <a:rPr lang="en-US" b="1">
                <a:solidFill>
                  <a:schemeClr val="accent1">
                    <a:lumMod val="75000"/>
                  </a:schemeClr>
                </a:solidFill>
              </a:rPr>
              <a:t> is not specified, then the exception argument is None. The final</a:t>
            </a:r>
          </a:p>
          <a:p>
            <a:pPr>
              <a:lnSpc>
                <a:spcPct val="150000"/>
              </a:lnSpc>
            </a:pPr>
            <a:r>
              <a:rPr lang="en-US" b="1">
                <a:solidFill>
                  <a:schemeClr val="accent1">
                    <a:lumMod val="75000"/>
                  </a:schemeClr>
                </a:solidFill>
              </a:rPr>
              <a:t>argument, </a:t>
            </a:r>
            <a:r>
              <a:rPr lang="en-US" b="1" i="1" err="1">
                <a:solidFill>
                  <a:schemeClr val="accent1">
                    <a:lumMod val="75000"/>
                  </a:schemeClr>
                </a:solidFill>
              </a:rPr>
              <a:t>traceback</a:t>
            </a:r>
            <a:r>
              <a:rPr lang="en-US" b="1">
                <a:solidFill>
                  <a:schemeClr val="accent1">
                    <a:lumMod val="75000"/>
                  </a:schemeClr>
                </a:solidFill>
              </a:rPr>
              <a:t>, is also optional and if present, is the </a:t>
            </a:r>
            <a:r>
              <a:rPr lang="en-US" b="1" err="1">
                <a:solidFill>
                  <a:schemeClr val="accent1">
                    <a:lumMod val="75000"/>
                  </a:schemeClr>
                </a:solidFill>
              </a:rPr>
              <a:t>traceback</a:t>
            </a:r>
            <a:r>
              <a:rPr lang="en-US" b="1">
                <a:solidFill>
                  <a:schemeClr val="accent1">
                    <a:lumMod val="75000"/>
                  </a:schemeClr>
                </a:solidFill>
              </a:rPr>
              <a:t> object used for the exception.</a:t>
            </a:r>
          </a:p>
        </p:txBody>
      </p:sp>
      <p:pic>
        <p:nvPicPr>
          <p:cNvPr id="7" name="Picture 6"/>
          <p:cNvPicPr>
            <a:picLocks noChangeAspect="1"/>
          </p:cNvPicPr>
          <p:nvPr/>
        </p:nvPicPr>
        <p:blipFill>
          <a:blip r:embed="rId2"/>
          <a:stretch>
            <a:fillRect/>
          </a:stretch>
        </p:blipFill>
        <p:spPr>
          <a:xfrm>
            <a:off x="1243722" y="3862051"/>
            <a:ext cx="7412869" cy="2224850"/>
          </a:xfrm>
          <a:prstGeom prst="rect">
            <a:avLst/>
          </a:prstGeom>
        </p:spPr>
      </p:pic>
      <p:sp>
        <p:nvSpPr>
          <p:cNvPr id="9" name="TextBox 9"/>
          <p:cNvSpPr txBox="1"/>
          <p:nvPr/>
        </p:nvSpPr>
        <p:spPr>
          <a:xfrm>
            <a:off x="102705" y="3862051"/>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1870670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Instantiating Exceptions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48</a:t>
            </a:fld>
            <a:endParaRPr lang="en-US"/>
          </a:p>
        </p:txBody>
      </p:sp>
      <p:sp>
        <p:nvSpPr>
          <p:cNvPr id="5" name="Rectangle 4"/>
          <p:cNvSpPr/>
          <p:nvPr/>
        </p:nvSpPr>
        <p:spPr>
          <a:xfrm>
            <a:off x="119060" y="1550504"/>
            <a:ext cx="11739563" cy="2169825"/>
          </a:xfrm>
          <a:prstGeom prst="rect">
            <a:avLst/>
          </a:prstGeom>
        </p:spPr>
        <p:txBody>
          <a:bodyPr wrap="square">
            <a:spAutoFit/>
          </a:bodyPr>
          <a:lstStyle/>
          <a:p>
            <a:pPr algn="just">
              <a:lnSpc>
                <a:spcPct val="150000"/>
              </a:lnSpc>
            </a:pPr>
            <a:r>
              <a:rPr lang="en-US" b="1">
                <a:solidFill>
                  <a:schemeClr val="accent1">
                    <a:lumMod val="75000"/>
                  </a:schemeClr>
                </a:solidFill>
              </a:rPr>
              <a:t>Python allows programmers to instantiate an exception first before raising it and add any attributes (or arguments) to it as desired. These attributes can be used to give additional information about the error. To instantiate the exception, the except block may specify a variable after the exception name. The variable then becomes an exception instance with the arguments stored in </a:t>
            </a:r>
            <a:r>
              <a:rPr lang="en-US" b="1" err="1">
                <a:solidFill>
                  <a:srgbClr val="C00000"/>
                </a:solidFill>
              </a:rPr>
              <a:t>instance.args</a:t>
            </a:r>
            <a:r>
              <a:rPr lang="en-US" b="1">
                <a:solidFill>
                  <a:schemeClr val="accent1">
                    <a:lumMod val="75000"/>
                  </a:schemeClr>
                </a:solidFill>
              </a:rPr>
              <a:t>. The exception instance also has the </a:t>
            </a:r>
            <a:r>
              <a:rPr lang="en-US" b="1">
                <a:solidFill>
                  <a:srgbClr val="C00000"/>
                </a:solidFill>
              </a:rPr>
              <a:t>__</a:t>
            </a:r>
            <a:r>
              <a:rPr lang="en-US" b="1" err="1">
                <a:solidFill>
                  <a:srgbClr val="C00000"/>
                </a:solidFill>
              </a:rPr>
              <a:t>str</a:t>
            </a:r>
            <a:r>
              <a:rPr lang="en-US" b="1">
                <a:solidFill>
                  <a:srgbClr val="C00000"/>
                </a:solidFill>
              </a:rPr>
              <a:t>__() </a:t>
            </a:r>
            <a:r>
              <a:rPr lang="en-US" b="1">
                <a:solidFill>
                  <a:schemeClr val="accent1">
                    <a:lumMod val="75000"/>
                  </a:schemeClr>
                </a:solidFill>
              </a:rPr>
              <a:t>method defined so that the arguments can be printed directly without using </a:t>
            </a:r>
            <a:r>
              <a:rPr lang="en-US" b="1" err="1">
                <a:solidFill>
                  <a:srgbClr val="C00000"/>
                </a:solidFill>
              </a:rPr>
              <a:t>instance.args</a:t>
            </a:r>
            <a:r>
              <a:rPr lang="en-US" b="1">
                <a:solidFill>
                  <a:schemeClr val="accent1">
                    <a:lumMod val="75000"/>
                  </a:schemeClr>
                </a:solidFill>
              </a:rPr>
              <a: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416" y="3720328"/>
            <a:ext cx="7562850" cy="26009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102705" y="3862051"/>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31831644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531917" y="4429838"/>
            <a:ext cx="6198920" cy="2020065"/>
          </a:xfrm>
          <a:prstGeom prst="rect">
            <a:avLst/>
          </a:prstGeom>
        </p:spPr>
      </p:pic>
      <p:pic>
        <p:nvPicPr>
          <p:cNvPr id="8" name="Picture 7"/>
          <p:cNvPicPr>
            <a:picLocks noChangeAspect="1"/>
          </p:cNvPicPr>
          <p:nvPr/>
        </p:nvPicPr>
        <p:blipFill>
          <a:blip r:embed="rId3"/>
          <a:stretch>
            <a:fillRect/>
          </a:stretch>
        </p:blipFill>
        <p:spPr>
          <a:xfrm>
            <a:off x="8122449" y="1827621"/>
            <a:ext cx="3201101" cy="4128516"/>
          </a:xfrm>
          <a:prstGeom prst="rect">
            <a:avLst/>
          </a:prstGeom>
        </p:spPr>
      </p:pic>
      <p:pic>
        <p:nvPicPr>
          <p:cNvPr id="7" name="Picture 6"/>
          <p:cNvPicPr>
            <a:picLocks noChangeAspect="1"/>
          </p:cNvPicPr>
          <p:nvPr/>
        </p:nvPicPr>
        <p:blipFill>
          <a:blip r:embed="rId4"/>
          <a:stretch>
            <a:fillRect/>
          </a:stretch>
        </p:blipFill>
        <p:spPr>
          <a:xfrm>
            <a:off x="1531917" y="1694326"/>
            <a:ext cx="3955683" cy="2137560"/>
          </a:xfrm>
          <a:prstGeom prst="rect">
            <a:avLst/>
          </a:prstGeom>
        </p:spPr>
      </p:pic>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Handling Exceptions In Invoked Functions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49</a:t>
            </a:fld>
            <a:endParaRPr lang="en-US"/>
          </a:p>
        </p:txBody>
      </p:sp>
      <p:sp>
        <p:nvSpPr>
          <p:cNvPr id="10" name="TextBox 9"/>
          <p:cNvSpPr txBox="1"/>
          <p:nvPr/>
        </p:nvSpPr>
        <p:spPr>
          <a:xfrm>
            <a:off x="1536967" y="4060506"/>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30304348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Built-in and User-defined Exceptions</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50</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463" y="1686297"/>
            <a:ext cx="7908095" cy="3194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463" y="4880759"/>
            <a:ext cx="7908096" cy="1507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33908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finally Block</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51</a:t>
            </a:fld>
            <a:endParaRPr lang="en-US"/>
          </a:p>
        </p:txBody>
      </p:sp>
      <p:sp>
        <p:nvSpPr>
          <p:cNvPr id="5" name="Rectangle 4"/>
          <p:cNvSpPr/>
          <p:nvPr/>
        </p:nvSpPr>
        <p:spPr>
          <a:xfrm>
            <a:off x="75210" y="1604475"/>
            <a:ext cx="12041579" cy="4662815"/>
          </a:xfrm>
          <a:prstGeom prst="rect">
            <a:avLst/>
          </a:prstGeom>
        </p:spPr>
        <p:txBody>
          <a:bodyPr wrap="square">
            <a:spAutoFit/>
          </a:bodyPr>
          <a:lstStyle/>
          <a:p>
            <a:pPr>
              <a:lnSpc>
                <a:spcPct val="150000"/>
              </a:lnSpc>
            </a:pPr>
            <a:r>
              <a:rPr lang="en-US" b="1">
                <a:solidFill>
                  <a:schemeClr val="accent1">
                    <a:lumMod val="75000"/>
                  </a:schemeClr>
                </a:solidFill>
              </a:rPr>
              <a:t>The try block has another optional block called finally which is used to define clean-up actions that must be</a:t>
            </a:r>
          </a:p>
          <a:p>
            <a:pPr>
              <a:lnSpc>
                <a:spcPct val="150000"/>
              </a:lnSpc>
            </a:pPr>
            <a:r>
              <a:rPr lang="en-US" b="1">
                <a:solidFill>
                  <a:schemeClr val="accent1">
                    <a:lumMod val="75000"/>
                  </a:schemeClr>
                </a:solidFill>
              </a:rPr>
              <a:t>executed under all circumstances. The finally block is always executed before leaving the try block. This means that the statements written in finally block are executed irrespective of whether an exception has occurred or not. The syntax of finally block can be given as,</a:t>
            </a:r>
          </a:p>
          <a:p>
            <a:pPr>
              <a:lnSpc>
                <a:spcPct val="150000"/>
              </a:lnSpc>
            </a:pPr>
            <a:r>
              <a:rPr lang="en-US" b="1">
                <a:solidFill>
                  <a:schemeClr val="accent1">
                    <a:lumMod val="75000"/>
                  </a:schemeClr>
                </a:solidFill>
              </a:rPr>
              <a:t>try:</a:t>
            </a:r>
          </a:p>
          <a:p>
            <a:pPr>
              <a:lnSpc>
                <a:spcPct val="150000"/>
              </a:lnSpc>
            </a:pPr>
            <a:r>
              <a:rPr lang="en-US" b="1">
                <a:solidFill>
                  <a:schemeClr val="accent1">
                    <a:lumMod val="75000"/>
                  </a:schemeClr>
                </a:solidFill>
              </a:rPr>
              <a:t>	Write your operations here</a:t>
            </a:r>
          </a:p>
          <a:p>
            <a:pPr>
              <a:lnSpc>
                <a:spcPct val="150000"/>
              </a:lnSpc>
            </a:pPr>
            <a:r>
              <a:rPr lang="en-US" b="1">
                <a:solidFill>
                  <a:schemeClr val="accent1">
                    <a:lumMod val="75000"/>
                  </a:schemeClr>
                </a:solidFill>
              </a:rPr>
              <a:t>	......................</a:t>
            </a:r>
          </a:p>
          <a:p>
            <a:pPr>
              <a:lnSpc>
                <a:spcPct val="150000"/>
              </a:lnSpc>
            </a:pPr>
            <a:r>
              <a:rPr lang="en-US" b="1">
                <a:solidFill>
                  <a:schemeClr val="accent1">
                    <a:lumMod val="75000"/>
                  </a:schemeClr>
                </a:solidFill>
              </a:rPr>
              <a:t>	Due to any exception, operations written here will be skipped</a:t>
            </a:r>
          </a:p>
          <a:p>
            <a:pPr>
              <a:lnSpc>
                <a:spcPct val="150000"/>
              </a:lnSpc>
            </a:pPr>
            <a:r>
              <a:rPr lang="en-US" b="1">
                <a:solidFill>
                  <a:schemeClr val="accent1">
                    <a:lumMod val="75000"/>
                  </a:schemeClr>
                </a:solidFill>
              </a:rPr>
              <a:t>finally:</a:t>
            </a:r>
          </a:p>
          <a:p>
            <a:pPr>
              <a:lnSpc>
                <a:spcPct val="150000"/>
              </a:lnSpc>
            </a:pPr>
            <a:r>
              <a:rPr lang="en-US" b="1">
                <a:solidFill>
                  <a:schemeClr val="accent1">
                    <a:lumMod val="75000"/>
                  </a:schemeClr>
                </a:solidFill>
              </a:rPr>
              <a:t>	This would always be executed.</a:t>
            </a:r>
          </a:p>
          <a:p>
            <a:pPr>
              <a:lnSpc>
                <a:spcPct val="150000"/>
              </a:lnSpc>
            </a:pPr>
            <a:r>
              <a:rPr lang="en-US" b="1">
                <a:solidFill>
                  <a:schemeClr val="accent1">
                    <a:lumMod val="75000"/>
                  </a:schemeClr>
                </a:solidFill>
              </a:rPr>
              <a:t>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6625" y="3378451"/>
            <a:ext cx="3554185" cy="3014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8056625" y="2982133"/>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40300959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Pre-defined Clean–up Action</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52</a:t>
            </a:fld>
            <a:endParaRPr lang="en-US"/>
          </a:p>
        </p:txBody>
      </p:sp>
      <p:sp>
        <p:nvSpPr>
          <p:cNvPr id="6" name="Rectangle 5"/>
          <p:cNvSpPr/>
          <p:nvPr/>
        </p:nvSpPr>
        <p:spPr>
          <a:xfrm>
            <a:off x="66312" y="1564924"/>
            <a:ext cx="11885035" cy="2169825"/>
          </a:xfrm>
          <a:prstGeom prst="rect">
            <a:avLst/>
          </a:prstGeom>
        </p:spPr>
        <p:txBody>
          <a:bodyPr wrap="square">
            <a:spAutoFit/>
          </a:bodyPr>
          <a:lstStyle/>
          <a:p>
            <a:pPr algn="just">
              <a:lnSpc>
                <a:spcPct val="150000"/>
              </a:lnSpc>
            </a:pPr>
            <a:r>
              <a:rPr lang="en-US" b="1">
                <a:solidFill>
                  <a:schemeClr val="accent1">
                    <a:lumMod val="75000"/>
                  </a:schemeClr>
                </a:solidFill>
              </a:rPr>
              <a:t>In Python, some objects define standard clean-up actions that are automatically performed when the object</a:t>
            </a:r>
          </a:p>
          <a:p>
            <a:pPr algn="just">
              <a:lnSpc>
                <a:spcPct val="150000"/>
              </a:lnSpc>
            </a:pPr>
            <a:r>
              <a:rPr lang="en-US" b="1">
                <a:solidFill>
                  <a:schemeClr val="accent1">
                    <a:lumMod val="75000"/>
                  </a:schemeClr>
                </a:solidFill>
              </a:rPr>
              <a:t>is no longer needed. The default clean-up action is performed irrespective of whether the operation using the object succeeded or failed. We have already seen such an operation in file handling. We preferred to open</a:t>
            </a:r>
          </a:p>
          <a:p>
            <a:pPr algn="just">
              <a:lnSpc>
                <a:spcPct val="150000"/>
              </a:lnSpc>
            </a:pPr>
            <a:r>
              <a:rPr lang="en-US" b="1">
                <a:solidFill>
                  <a:schemeClr val="accent1">
                    <a:lumMod val="75000"/>
                  </a:schemeClr>
                </a:solidFill>
              </a:rPr>
              <a:t>the file using with keyword so that the file is automatically closed when not in use. So, even if we forget to close the file or the code to close it is skipped because of an exception, the file will still be closed. </a:t>
            </a:r>
          </a:p>
        </p:txBody>
      </p:sp>
      <p:pic>
        <p:nvPicPr>
          <p:cNvPr id="5" name="Picture 4"/>
          <p:cNvPicPr>
            <a:picLocks noChangeAspect="1"/>
          </p:cNvPicPr>
          <p:nvPr/>
        </p:nvPicPr>
        <p:blipFill>
          <a:blip r:embed="rId2"/>
          <a:stretch>
            <a:fillRect/>
          </a:stretch>
        </p:blipFill>
        <p:spPr>
          <a:xfrm>
            <a:off x="1522998" y="3934610"/>
            <a:ext cx="4573002" cy="2083313"/>
          </a:xfrm>
          <a:prstGeom prst="rect">
            <a:avLst/>
          </a:prstGeom>
        </p:spPr>
      </p:pic>
      <p:sp>
        <p:nvSpPr>
          <p:cNvPr id="8" name="TextBox 7"/>
          <p:cNvSpPr txBox="1"/>
          <p:nvPr/>
        </p:nvSpPr>
        <p:spPr>
          <a:xfrm>
            <a:off x="165014" y="3749944"/>
            <a:ext cx="114101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a:t>
            </a:r>
          </a:p>
        </p:txBody>
      </p:sp>
    </p:spTree>
    <p:extLst>
      <p:ext uri="{BB962C8B-B14F-4D97-AF65-F5344CB8AC3E}">
        <p14:creationId xmlns:p14="http://schemas.microsoft.com/office/powerpoint/2010/main" val="25738842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Re-raising Exception</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53</a:t>
            </a:fld>
            <a:endParaRPr lang="en-US"/>
          </a:p>
        </p:txBody>
      </p:sp>
      <p:sp>
        <p:nvSpPr>
          <p:cNvPr id="7" name="Rectangle 6"/>
          <p:cNvSpPr/>
          <p:nvPr/>
        </p:nvSpPr>
        <p:spPr>
          <a:xfrm>
            <a:off x="140525" y="1554071"/>
            <a:ext cx="11910950" cy="1338828"/>
          </a:xfrm>
          <a:prstGeom prst="rect">
            <a:avLst/>
          </a:prstGeom>
        </p:spPr>
        <p:txBody>
          <a:bodyPr wrap="square">
            <a:spAutoFit/>
          </a:bodyPr>
          <a:lstStyle/>
          <a:p>
            <a:pPr>
              <a:lnSpc>
                <a:spcPct val="150000"/>
              </a:lnSpc>
            </a:pPr>
            <a:r>
              <a:rPr lang="en-US" b="1">
                <a:solidFill>
                  <a:schemeClr val="accent1">
                    <a:lumMod val="75000"/>
                  </a:schemeClr>
                </a:solidFill>
              </a:rPr>
              <a:t>Python allows programmers to re-raise an exception. For example, an exception thrown from the try block</a:t>
            </a:r>
          </a:p>
          <a:p>
            <a:pPr>
              <a:lnSpc>
                <a:spcPct val="150000"/>
              </a:lnSpc>
            </a:pPr>
            <a:r>
              <a:rPr lang="en-US" b="1">
                <a:solidFill>
                  <a:schemeClr val="accent1">
                    <a:lumMod val="75000"/>
                  </a:schemeClr>
                </a:solidFill>
              </a:rPr>
              <a:t>can be handled as well as re-raised in the except block using the keyword raise. The code given below</a:t>
            </a:r>
          </a:p>
          <a:p>
            <a:pPr>
              <a:lnSpc>
                <a:spcPct val="150000"/>
              </a:lnSpc>
            </a:pPr>
            <a:r>
              <a:rPr lang="en-US" b="1">
                <a:solidFill>
                  <a:schemeClr val="accent1">
                    <a:lumMod val="75000"/>
                  </a:schemeClr>
                </a:solidFill>
              </a:rPr>
              <a:t>illustrates this concept.</a:t>
            </a:r>
          </a:p>
        </p:txBody>
      </p:sp>
      <p:sp>
        <p:nvSpPr>
          <p:cNvPr id="8" name="TextBox 7"/>
          <p:cNvSpPr txBox="1"/>
          <p:nvPr/>
        </p:nvSpPr>
        <p:spPr>
          <a:xfrm>
            <a:off x="140525" y="2843756"/>
            <a:ext cx="444335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Example: </a:t>
            </a:r>
            <a:r>
              <a:rPr lang="en-US"/>
              <a:t>Program to re-raise the exception</a:t>
            </a:r>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028" y="3213088"/>
            <a:ext cx="6219825" cy="31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44029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Assertions in Python</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54</a:t>
            </a:fld>
            <a:endParaRPr lang="en-US"/>
          </a:p>
        </p:txBody>
      </p:sp>
      <p:sp>
        <p:nvSpPr>
          <p:cNvPr id="5" name="Rectangle 4"/>
          <p:cNvSpPr/>
          <p:nvPr/>
        </p:nvSpPr>
        <p:spPr>
          <a:xfrm>
            <a:off x="128808" y="1454970"/>
            <a:ext cx="12063191" cy="5586145"/>
          </a:xfrm>
          <a:prstGeom prst="rect">
            <a:avLst/>
          </a:prstGeom>
        </p:spPr>
        <p:txBody>
          <a:bodyPr wrap="square">
            <a:spAutoFit/>
          </a:bodyPr>
          <a:lstStyle/>
          <a:p>
            <a:pPr>
              <a:lnSpc>
                <a:spcPct val="150000"/>
              </a:lnSpc>
            </a:pPr>
            <a:r>
              <a:rPr lang="en-US" sz="1650" b="1">
                <a:solidFill>
                  <a:schemeClr val="accent1">
                    <a:lumMod val="75000"/>
                  </a:schemeClr>
                </a:solidFill>
              </a:rPr>
              <a:t>An</a:t>
            </a:r>
            <a:r>
              <a:rPr lang="en-US" sz="1650" b="1">
                <a:solidFill>
                  <a:srgbClr val="C00000"/>
                </a:solidFill>
              </a:rPr>
              <a:t> </a:t>
            </a:r>
            <a:r>
              <a:rPr lang="en-US" sz="1650" b="1" i="1">
                <a:solidFill>
                  <a:srgbClr val="C00000"/>
                </a:solidFill>
              </a:rPr>
              <a:t>assertion</a:t>
            </a:r>
            <a:r>
              <a:rPr lang="en-US" sz="1650" b="1">
                <a:solidFill>
                  <a:srgbClr val="C00000"/>
                </a:solidFill>
              </a:rPr>
              <a:t> </a:t>
            </a:r>
            <a:r>
              <a:rPr lang="en-US" sz="1650" b="1">
                <a:solidFill>
                  <a:schemeClr val="accent1">
                    <a:lumMod val="75000"/>
                  </a:schemeClr>
                </a:solidFill>
              </a:rPr>
              <a:t>is a basic check that can be turned on or off when the program is being tested. You can think of assert as a </a:t>
            </a:r>
            <a:r>
              <a:rPr lang="en-US" sz="1650" b="1" i="1">
                <a:solidFill>
                  <a:schemeClr val="accent1">
                    <a:lumMod val="75000"/>
                  </a:schemeClr>
                </a:solidFill>
              </a:rPr>
              <a:t>raise-if</a:t>
            </a:r>
            <a:r>
              <a:rPr lang="en-US" sz="1650" b="1">
                <a:solidFill>
                  <a:schemeClr val="accent1">
                    <a:lumMod val="75000"/>
                  </a:schemeClr>
                </a:solidFill>
              </a:rPr>
              <a:t> statement (or a raise-if-not statement). Using the </a:t>
            </a:r>
            <a:r>
              <a:rPr lang="en-US" sz="1650" b="1">
                <a:solidFill>
                  <a:srgbClr val="C00000"/>
                </a:solidFill>
              </a:rPr>
              <a:t>assert</a:t>
            </a:r>
            <a:r>
              <a:rPr lang="en-US" sz="1650">
                <a:solidFill>
                  <a:schemeClr val="accent1">
                    <a:lumMod val="75000"/>
                  </a:schemeClr>
                </a:solidFill>
              </a:rPr>
              <a:t> </a:t>
            </a:r>
            <a:r>
              <a:rPr lang="en-US" sz="1650" b="1">
                <a:solidFill>
                  <a:schemeClr val="accent1">
                    <a:lumMod val="75000"/>
                  </a:schemeClr>
                </a:solidFill>
              </a:rPr>
              <a:t>statement, an expression is tested, and if the result of the expression is </a:t>
            </a:r>
            <a:r>
              <a:rPr lang="en-US" sz="1650">
                <a:solidFill>
                  <a:schemeClr val="accent1">
                    <a:lumMod val="75000"/>
                  </a:schemeClr>
                </a:solidFill>
              </a:rPr>
              <a:t>False</a:t>
            </a:r>
            <a:r>
              <a:rPr lang="en-US" sz="1650" b="1">
                <a:solidFill>
                  <a:schemeClr val="accent1">
                    <a:lumMod val="75000"/>
                  </a:schemeClr>
                </a:solidFill>
              </a:rPr>
              <a:t> then an exception is raised. The </a:t>
            </a:r>
            <a:r>
              <a:rPr lang="en-US" sz="1650">
                <a:solidFill>
                  <a:schemeClr val="accent1">
                    <a:lumMod val="75000"/>
                  </a:schemeClr>
                </a:solidFill>
              </a:rPr>
              <a:t>assert </a:t>
            </a:r>
            <a:r>
              <a:rPr lang="en-US" sz="1650" b="1">
                <a:solidFill>
                  <a:schemeClr val="accent1">
                    <a:lumMod val="75000"/>
                  </a:schemeClr>
                </a:solidFill>
              </a:rPr>
              <a:t>statement is intended for debugging statements. It can be seen as an abbreviated notation for a conditional </a:t>
            </a:r>
            <a:r>
              <a:rPr lang="en-US" sz="1650" b="1" i="1">
                <a:solidFill>
                  <a:schemeClr val="accent1">
                    <a:lumMod val="75000"/>
                  </a:schemeClr>
                </a:solidFill>
              </a:rPr>
              <a:t>raise </a:t>
            </a:r>
            <a:r>
              <a:rPr lang="en-US" sz="1650" b="1">
                <a:solidFill>
                  <a:schemeClr val="accent1">
                    <a:lumMod val="75000"/>
                  </a:schemeClr>
                </a:solidFill>
              </a:rPr>
              <a:t>statement.</a:t>
            </a:r>
          </a:p>
          <a:p>
            <a:pPr>
              <a:lnSpc>
                <a:spcPct val="150000"/>
              </a:lnSpc>
            </a:pPr>
            <a:r>
              <a:rPr lang="en-US" sz="1650" b="1">
                <a:solidFill>
                  <a:schemeClr val="accent1">
                    <a:lumMod val="75000"/>
                  </a:schemeClr>
                </a:solidFill>
              </a:rPr>
              <a:t>  In Python, assertions are implemented using </a:t>
            </a:r>
            <a:r>
              <a:rPr lang="en-US" sz="1650" b="1" i="1">
                <a:solidFill>
                  <a:schemeClr val="accent1">
                    <a:lumMod val="75000"/>
                  </a:schemeClr>
                </a:solidFill>
              </a:rPr>
              <a:t>assert </a:t>
            </a:r>
            <a:r>
              <a:rPr lang="en-US" sz="1650" b="1">
                <a:solidFill>
                  <a:schemeClr val="accent1">
                    <a:lumMod val="75000"/>
                  </a:schemeClr>
                </a:solidFill>
              </a:rPr>
              <a:t>keyword. Assertions are usually placed at the start of a function to check for valid input, and after a function call to check for valid output.	</a:t>
            </a:r>
          </a:p>
          <a:p>
            <a:pPr>
              <a:lnSpc>
                <a:spcPct val="150000"/>
              </a:lnSpc>
            </a:pPr>
            <a:r>
              <a:rPr lang="en-US" sz="1650" b="1">
                <a:solidFill>
                  <a:schemeClr val="accent1">
                    <a:lumMod val="75000"/>
                  </a:schemeClr>
                </a:solidFill>
              </a:rPr>
              <a:t>   When Python encounters an </a:t>
            </a:r>
            <a:r>
              <a:rPr lang="en-US" sz="1650">
                <a:solidFill>
                  <a:schemeClr val="accent1">
                    <a:lumMod val="75000"/>
                  </a:schemeClr>
                </a:solidFill>
              </a:rPr>
              <a:t>assert</a:t>
            </a:r>
            <a:r>
              <a:rPr lang="en-US" sz="1650" b="1">
                <a:solidFill>
                  <a:schemeClr val="accent1">
                    <a:lumMod val="75000"/>
                  </a:schemeClr>
                </a:solidFill>
              </a:rPr>
              <a:t> statement, the expression associated with it is calculated and if the</a:t>
            </a:r>
          </a:p>
          <a:p>
            <a:pPr>
              <a:lnSpc>
                <a:spcPct val="150000"/>
              </a:lnSpc>
            </a:pPr>
            <a:r>
              <a:rPr lang="en-US" sz="1650" b="1">
                <a:solidFill>
                  <a:schemeClr val="accent1">
                    <a:lumMod val="75000"/>
                  </a:schemeClr>
                </a:solidFill>
              </a:rPr>
              <a:t>expression is </a:t>
            </a:r>
            <a:r>
              <a:rPr lang="en-US" sz="1650">
                <a:solidFill>
                  <a:schemeClr val="accent1">
                    <a:lumMod val="75000"/>
                  </a:schemeClr>
                </a:solidFill>
              </a:rPr>
              <a:t>False</a:t>
            </a:r>
            <a:r>
              <a:rPr lang="en-US" sz="1650" b="1">
                <a:solidFill>
                  <a:schemeClr val="accent1">
                    <a:lumMod val="75000"/>
                  </a:schemeClr>
                </a:solidFill>
              </a:rPr>
              <a:t>, an </a:t>
            </a:r>
            <a:r>
              <a:rPr lang="en-US" sz="1650" b="1" err="1">
                <a:solidFill>
                  <a:srgbClr val="C00000"/>
                </a:solidFill>
              </a:rPr>
              <a:t>AssertionError</a:t>
            </a:r>
            <a:r>
              <a:rPr lang="en-US" sz="1650" b="1">
                <a:solidFill>
                  <a:schemeClr val="accent1">
                    <a:lumMod val="75000"/>
                  </a:schemeClr>
                </a:solidFill>
              </a:rPr>
              <a:t> is raised. The syntax for </a:t>
            </a:r>
            <a:r>
              <a:rPr lang="en-US" sz="1650" b="1" i="1">
                <a:solidFill>
                  <a:schemeClr val="accent1">
                    <a:lumMod val="75000"/>
                  </a:schemeClr>
                </a:solidFill>
              </a:rPr>
              <a:t>assert</a:t>
            </a:r>
            <a:r>
              <a:rPr lang="en-US" sz="1650" b="1">
                <a:solidFill>
                  <a:schemeClr val="accent1">
                    <a:lumMod val="75000"/>
                  </a:schemeClr>
                </a:solidFill>
              </a:rPr>
              <a:t> statement is,</a:t>
            </a:r>
          </a:p>
          <a:p>
            <a:pPr>
              <a:lnSpc>
                <a:spcPct val="150000"/>
              </a:lnSpc>
            </a:pPr>
            <a:r>
              <a:rPr lang="en-US" sz="1650" b="1">
                <a:solidFill>
                  <a:srgbClr val="C00000"/>
                </a:solidFill>
              </a:rPr>
              <a:t>assert expression[, arguments]</a:t>
            </a:r>
          </a:p>
          <a:p>
            <a:pPr>
              <a:lnSpc>
                <a:spcPct val="150000"/>
              </a:lnSpc>
            </a:pPr>
            <a:r>
              <a:rPr lang="en-US" sz="1650" b="1">
                <a:solidFill>
                  <a:schemeClr val="accent1">
                    <a:lumMod val="75000"/>
                  </a:schemeClr>
                </a:solidFill>
              </a:rPr>
              <a:t>    If the expression is </a:t>
            </a:r>
            <a:r>
              <a:rPr lang="en-US" sz="1650" b="1" i="1">
                <a:solidFill>
                  <a:schemeClr val="accent1">
                    <a:lumMod val="75000"/>
                  </a:schemeClr>
                </a:solidFill>
              </a:rPr>
              <a:t>False</a:t>
            </a:r>
            <a:r>
              <a:rPr lang="en-US" sz="1650" b="1">
                <a:solidFill>
                  <a:schemeClr val="accent1">
                    <a:lumMod val="75000"/>
                  </a:schemeClr>
                </a:solidFill>
              </a:rPr>
              <a:t> (also known as assertion fails), Python uses </a:t>
            </a:r>
            <a:r>
              <a:rPr lang="en-US" sz="1650" err="1">
                <a:solidFill>
                  <a:schemeClr val="accent1">
                    <a:lumMod val="75000"/>
                  </a:schemeClr>
                </a:solidFill>
              </a:rPr>
              <a:t>ArgumentExpression</a:t>
            </a:r>
            <a:r>
              <a:rPr lang="en-US" sz="1650" b="1">
                <a:solidFill>
                  <a:schemeClr val="accent1">
                    <a:lumMod val="75000"/>
                  </a:schemeClr>
                </a:solidFill>
              </a:rPr>
              <a:t> as the argument for the </a:t>
            </a:r>
            <a:r>
              <a:rPr lang="en-US" sz="1650" b="1" err="1">
                <a:solidFill>
                  <a:schemeClr val="accent1">
                    <a:lumMod val="75000"/>
                  </a:schemeClr>
                </a:solidFill>
              </a:rPr>
              <a:t>AssertionError</a:t>
            </a:r>
            <a:r>
              <a:rPr lang="en-US" sz="1650" b="1">
                <a:solidFill>
                  <a:schemeClr val="accent1">
                    <a:lumMod val="75000"/>
                  </a:schemeClr>
                </a:solidFill>
              </a:rPr>
              <a:t>.  </a:t>
            </a:r>
            <a:r>
              <a:rPr lang="en-US" sz="1650" b="1" err="1">
                <a:solidFill>
                  <a:srgbClr val="C00000"/>
                </a:solidFill>
              </a:rPr>
              <a:t>AssertionError</a:t>
            </a:r>
            <a:r>
              <a:rPr lang="en-US" sz="1650" b="1">
                <a:solidFill>
                  <a:srgbClr val="C00000"/>
                </a:solidFill>
              </a:rPr>
              <a:t> </a:t>
            </a:r>
            <a:r>
              <a:rPr lang="en-US" sz="1650" b="1">
                <a:solidFill>
                  <a:schemeClr val="accent1">
                    <a:lumMod val="75000"/>
                  </a:schemeClr>
                </a:solidFill>
              </a:rPr>
              <a:t>exceptions can be caught and handled like any other exception using the </a:t>
            </a:r>
            <a:r>
              <a:rPr lang="en-US" sz="1650">
                <a:solidFill>
                  <a:schemeClr val="accent1">
                    <a:lumMod val="75000"/>
                  </a:schemeClr>
                </a:solidFill>
              </a:rPr>
              <a:t>try-except</a:t>
            </a:r>
            <a:r>
              <a:rPr lang="en-US" sz="1650" b="1">
                <a:solidFill>
                  <a:schemeClr val="accent1">
                    <a:lumMod val="75000"/>
                  </a:schemeClr>
                </a:solidFill>
              </a:rPr>
              <a:t> block. However, if the </a:t>
            </a:r>
            <a:r>
              <a:rPr lang="en-US" sz="1650" b="1" err="1">
                <a:solidFill>
                  <a:schemeClr val="accent1">
                    <a:lumMod val="75000"/>
                  </a:schemeClr>
                </a:solidFill>
              </a:rPr>
              <a:t>AssertionError</a:t>
            </a:r>
            <a:r>
              <a:rPr lang="en-US" sz="1650" b="1">
                <a:solidFill>
                  <a:schemeClr val="accent1">
                    <a:lumMod val="75000"/>
                  </a:schemeClr>
                </a:solidFill>
              </a:rPr>
              <a:t> is not handled by the program, the program will be terminated and an error message will be displayed. In simple words, the </a:t>
            </a:r>
            <a:r>
              <a:rPr lang="en-US" sz="1650">
                <a:solidFill>
                  <a:schemeClr val="accent1">
                    <a:lumMod val="75000"/>
                  </a:schemeClr>
                </a:solidFill>
              </a:rPr>
              <a:t>assert </a:t>
            </a:r>
            <a:r>
              <a:rPr lang="en-US" sz="1650" b="1">
                <a:solidFill>
                  <a:schemeClr val="accent1">
                    <a:lumMod val="75000"/>
                  </a:schemeClr>
                </a:solidFill>
              </a:rPr>
              <a:t>statement, is semantically equivalent to writing, </a:t>
            </a:r>
          </a:p>
          <a:p>
            <a:pPr>
              <a:lnSpc>
                <a:spcPct val="150000"/>
              </a:lnSpc>
            </a:pPr>
            <a:r>
              <a:rPr lang="en-US" sz="1650" b="1">
                <a:solidFill>
                  <a:srgbClr val="C00000"/>
                </a:solidFill>
              </a:rPr>
              <a:t>assert &lt;expression&gt;, &lt;message&gt;</a:t>
            </a:r>
          </a:p>
        </p:txBody>
      </p:sp>
    </p:spTree>
    <p:extLst>
      <p:ext uri="{BB962C8B-B14F-4D97-AF65-F5344CB8AC3E}">
        <p14:creationId xmlns:p14="http://schemas.microsoft.com/office/powerpoint/2010/main" val="27416769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Assertions In Python — Example</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55</a:t>
            </a:fld>
            <a:endParaRPr lang="en-US"/>
          </a:p>
        </p:txBody>
      </p:sp>
      <p:pic>
        <p:nvPicPr>
          <p:cNvPr id="3" name="Picture 2"/>
          <p:cNvPicPr>
            <a:picLocks noChangeAspect="1"/>
          </p:cNvPicPr>
          <p:nvPr/>
        </p:nvPicPr>
        <p:blipFill>
          <a:blip r:embed="rId2"/>
          <a:stretch>
            <a:fillRect/>
          </a:stretch>
        </p:blipFill>
        <p:spPr>
          <a:xfrm>
            <a:off x="1514901" y="1772309"/>
            <a:ext cx="8513725" cy="3072646"/>
          </a:xfrm>
          <a:prstGeom prst="rect">
            <a:avLst/>
          </a:prstGeom>
        </p:spPr>
      </p:pic>
    </p:spTree>
    <p:extLst>
      <p:ext uri="{BB962C8B-B14F-4D97-AF65-F5344CB8AC3E}">
        <p14:creationId xmlns:p14="http://schemas.microsoft.com/office/powerpoint/2010/main" val="1391301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Regular Expressions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56</a:t>
            </a:fld>
            <a:endParaRPr lang="en-US"/>
          </a:p>
        </p:txBody>
      </p:sp>
      <p:sp>
        <p:nvSpPr>
          <p:cNvPr id="6" name="Rectangle 5"/>
          <p:cNvSpPr/>
          <p:nvPr/>
        </p:nvSpPr>
        <p:spPr>
          <a:xfrm>
            <a:off x="142196" y="1550504"/>
            <a:ext cx="11809151" cy="4662815"/>
          </a:xfrm>
          <a:prstGeom prst="rect">
            <a:avLst/>
          </a:prstGeom>
        </p:spPr>
        <p:txBody>
          <a:bodyPr wrap="square">
            <a:spAutoFit/>
          </a:bodyPr>
          <a:lstStyle/>
          <a:p>
            <a:pPr algn="just">
              <a:lnSpc>
                <a:spcPct val="150000"/>
              </a:lnSpc>
            </a:pPr>
            <a:r>
              <a:rPr lang="en-US" b="1" i="1">
                <a:solidFill>
                  <a:srgbClr val="C00000"/>
                </a:solidFill>
              </a:rPr>
              <a:t>Regular Expressions </a:t>
            </a:r>
            <a:r>
              <a:rPr lang="en-US" b="1">
                <a:solidFill>
                  <a:schemeClr val="accent1">
                    <a:lumMod val="75000"/>
                  </a:schemeClr>
                </a:solidFill>
              </a:rPr>
              <a:t>are a powerful tool for various kinds of string manipulation. These are basically a special text string that is used for describing a search pattern to extract information from text such as code, files, log, spreadsheets, or even documents. </a:t>
            </a:r>
          </a:p>
          <a:p>
            <a:pPr algn="just">
              <a:lnSpc>
                <a:spcPct val="150000"/>
              </a:lnSpc>
            </a:pPr>
            <a:r>
              <a:rPr lang="en-US" b="1">
                <a:solidFill>
                  <a:srgbClr val="C00000"/>
                </a:solidFill>
              </a:rPr>
              <a:t>Regular expressions are a </a:t>
            </a:r>
            <a:r>
              <a:rPr lang="en-US" b="1" i="1">
                <a:solidFill>
                  <a:srgbClr val="C00000"/>
                </a:solidFill>
              </a:rPr>
              <a:t>domain specific language </a:t>
            </a:r>
            <a:r>
              <a:rPr lang="en-US" b="1">
                <a:solidFill>
                  <a:srgbClr val="C00000"/>
                </a:solidFill>
              </a:rPr>
              <a:t>(DSL) </a:t>
            </a:r>
            <a:r>
              <a:rPr lang="en-US" b="1">
                <a:solidFill>
                  <a:schemeClr val="accent1">
                    <a:lumMod val="75000"/>
                  </a:schemeClr>
                </a:solidFill>
              </a:rPr>
              <a:t>that is present as a library in most of the modern programming languages, besides Python. A </a:t>
            </a:r>
            <a:r>
              <a:rPr lang="en-US" b="1" i="1">
                <a:solidFill>
                  <a:schemeClr val="accent1">
                    <a:lumMod val="75000"/>
                  </a:schemeClr>
                </a:solidFill>
              </a:rPr>
              <a:t>regular expression </a:t>
            </a:r>
            <a:r>
              <a:rPr lang="en-US" b="1">
                <a:solidFill>
                  <a:schemeClr val="accent1">
                    <a:lumMod val="75000"/>
                  </a:schemeClr>
                </a:solidFill>
              </a:rPr>
              <a:t>is a special sequence of characters that helps to match or find strings in another string. In Python, regular expressions can be accessed using the re module which comes as a part of the Standard Library </a:t>
            </a:r>
          </a:p>
          <a:p>
            <a:pPr>
              <a:lnSpc>
                <a:spcPct val="150000"/>
              </a:lnSpc>
            </a:pPr>
            <a:r>
              <a:rPr lang="en-US" b="1">
                <a:solidFill>
                  <a:srgbClr val="C00000"/>
                </a:solidFill>
              </a:rPr>
              <a:t>The Match Function </a:t>
            </a:r>
          </a:p>
          <a:p>
            <a:pPr>
              <a:lnSpc>
                <a:spcPct val="150000"/>
              </a:lnSpc>
            </a:pPr>
            <a:r>
              <a:rPr lang="en-US" b="1">
                <a:solidFill>
                  <a:schemeClr val="accent1">
                    <a:lumMod val="75000"/>
                  </a:schemeClr>
                </a:solidFill>
              </a:rPr>
              <a:t>As the name suggest, the match() function matches a pattern to string with optional flags. The syntax of match() function is, </a:t>
            </a:r>
          </a:p>
          <a:p>
            <a:pPr>
              <a:lnSpc>
                <a:spcPct val="150000"/>
              </a:lnSpc>
            </a:pPr>
            <a:r>
              <a:rPr lang="en-US" b="1" err="1">
                <a:solidFill>
                  <a:srgbClr val="C00000"/>
                </a:solidFill>
              </a:rPr>
              <a:t>re.match</a:t>
            </a:r>
            <a:r>
              <a:rPr lang="en-US" b="1">
                <a:solidFill>
                  <a:srgbClr val="C00000"/>
                </a:solidFill>
              </a:rPr>
              <a:t> (pattern, string, flags=0) </a:t>
            </a:r>
          </a:p>
        </p:txBody>
      </p:sp>
    </p:spTree>
    <p:extLst>
      <p:ext uri="{BB962C8B-B14F-4D97-AF65-F5344CB8AC3E}">
        <p14:creationId xmlns:p14="http://schemas.microsoft.com/office/powerpoint/2010/main" val="9612289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EXAMPLE- Match() Function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57</a:t>
            </a:fld>
            <a:endParaRPr lang="en-US"/>
          </a:p>
        </p:txBody>
      </p:sp>
      <p:sp>
        <p:nvSpPr>
          <p:cNvPr id="10" name="TextBox 9"/>
          <p:cNvSpPr txBox="1"/>
          <p:nvPr/>
        </p:nvSpPr>
        <p:spPr>
          <a:xfrm>
            <a:off x="118052" y="1657726"/>
            <a:ext cx="2414319" cy="369332"/>
          </a:xfrm>
          <a:prstGeom prst="rect">
            <a:avLst/>
          </a:prstGeom>
          <a:noFill/>
        </p:spPr>
        <p:txBody>
          <a:bodyPr wrap="square" rtlCol="0">
            <a:spAutoFit/>
          </a:bodyPr>
          <a:lstStyle/>
          <a:p>
            <a:r>
              <a:rPr lang="en-IN"/>
              <a:t>Examples:</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416" y="1654133"/>
            <a:ext cx="6351691" cy="1409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7833" y="3158836"/>
            <a:ext cx="6391275" cy="3384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62662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search Function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58</a:t>
            </a:fld>
            <a:endParaRPr lang="en-US"/>
          </a:p>
        </p:txBody>
      </p:sp>
      <p:sp>
        <p:nvSpPr>
          <p:cNvPr id="5" name="Rectangle 4"/>
          <p:cNvSpPr/>
          <p:nvPr/>
        </p:nvSpPr>
        <p:spPr>
          <a:xfrm>
            <a:off x="213057" y="1550504"/>
            <a:ext cx="11781022" cy="1754326"/>
          </a:xfrm>
          <a:prstGeom prst="rect">
            <a:avLst/>
          </a:prstGeom>
        </p:spPr>
        <p:txBody>
          <a:bodyPr wrap="square">
            <a:spAutoFit/>
          </a:bodyPr>
          <a:lstStyle/>
          <a:p>
            <a:pPr algn="just">
              <a:lnSpc>
                <a:spcPct val="150000"/>
              </a:lnSpc>
            </a:pPr>
            <a:r>
              <a:rPr lang="en-US" b="1">
                <a:solidFill>
                  <a:schemeClr val="accent1">
                    <a:lumMod val="75000"/>
                  </a:schemeClr>
                </a:solidFill>
              </a:rPr>
              <a:t>The </a:t>
            </a:r>
            <a:r>
              <a:rPr lang="en-US" b="1">
                <a:solidFill>
                  <a:srgbClr val="C00000"/>
                </a:solidFill>
              </a:rPr>
              <a:t>search() </a:t>
            </a:r>
            <a:r>
              <a:rPr lang="en-US" b="1">
                <a:solidFill>
                  <a:schemeClr val="accent1">
                    <a:lumMod val="75000"/>
                  </a:schemeClr>
                </a:solidFill>
              </a:rPr>
              <a:t>function in the re module searches for a pattern anywhere in the string. Its syntax of can be given as,  </a:t>
            </a:r>
            <a:r>
              <a:rPr lang="en-US" b="1" err="1">
                <a:solidFill>
                  <a:srgbClr val="C00000"/>
                </a:solidFill>
              </a:rPr>
              <a:t>re.search</a:t>
            </a:r>
            <a:r>
              <a:rPr lang="en-US" b="1">
                <a:solidFill>
                  <a:srgbClr val="C00000"/>
                </a:solidFill>
              </a:rPr>
              <a:t>(pattern, string, flags=0) </a:t>
            </a:r>
          </a:p>
          <a:p>
            <a:pPr algn="just">
              <a:lnSpc>
                <a:spcPct val="150000"/>
              </a:lnSpc>
            </a:pPr>
            <a:r>
              <a:rPr lang="en-US" b="1">
                <a:solidFill>
                  <a:schemeClr val="accent1">
                    <a:lumMod val="75000"/>
                  </a:schemeClr>
                </a:solidFill>
              </a:rPr>
              <a:t>The syntax is similar to the match() function. The function searches for first occurrence of </a:t>
            </a:r>
            <a:r>
              <a:rPr lang="en-US" b="1" i="1">
                <a:solidFill>
                  <a:schemeClr val="accent1">
                    <a:lumMod val="75000"/>
                  </a:schemeClr>
                </a:solidFill>
              </a:rPr>
              <a:t>pattern </a:t>
            </a:r>
            <a:r>
              <a:rPr lang="en-US" b="1">
                <a:solidFill>
                  <a:schemeClr val="accent1">
                    <a:lumMod val="75000"/>
                  </a:schemeClr>
                </a:solidFill>
              </a:rPr>
              <a:t>within a </a:t>
            </a:r>
            <a:r>
              <a:rPr lang="en-US" b="1" i="1">
                <a:solidFill>
                  <a:schemeClr val="accent1">
                    <a:lumMod val="75000"/>
                  </a:schemeClr>
                </a:solidFill>
              </a:rPr>
              <a:t>string </a:t>
            </a:r>
            <a:r>
              <a:rPr lang="en-US" b="1">
                <a:solidFill>
                  <a:schemeClr val="accent1">
                    <a:lumMod val="75000"/>
                  </a:schemeClr>
                </a:solidFill>
              </a:rPr>
              <a:t>with optional </a:t>
            </a:r>
            <a:r>
              <a:rPr lang="en-US" b="1" i="1">
                <a:solidFill>
                  <a:schemeClr val="accent1">
                    <a:lumMod val="75000"/>
                  </a:schemeClr>
                </a:solidFill>
              </a:rPr>
              <a:t>flags</a:t>
            </a:r>
            <a:r>
              <a:rPr lang="en-US" b="1">
                <a:solidFill>
                  <a:schemeClr val="accent1">
                    <a:lumMod val="75000"/>
                  </a:schemeClr>
                </a:solidFill>
              </a:rPr>
              <a:t>. If the search is successful, a </a:t>
            </a:r>
            <a:r>
              <a:rPr lang="en-US" b="1" i="1">
                <a:solidFill>
                  <a:schemeClr val="accent1">
                    <a:lumMod val="75000"/>
                  </a:schemeClr>
                </a:solidFill>
              </a:rPr>
              <a:t>match </a:t>
            </a:r>
            <a:r>
              <a:rPr lang="en-US" b="1">
                <a:solidFill>
                  <a:schemeClr val="accent1">
                    <a:lumMod val="75000"/>
                  </a:schemeClr>
                </a:solidFill>
              </a:rPr>
              <a:t>object is returned and None otherwise. </a:t>
            </a:r>
          </a:p>
        </p:txBody>
      </p:sp>
      <p:pic>
        <p:nvPicPr>
          <p:cNvPr id="6" name="Picture 5"/>
          <p:cNvPicPr>
            <a:picLocks noChangeAspect="1"/>
          </p:cNvPicPr>
          <p:nvPr/>
        </p:nvPicPr>
        <p:blipFill>
          <a:blip r:embed="rId2"/>
          <a:stretch>
            <a:fillRect/>
          </a:stretch>
        </p:blipFill>
        <p:spPr>
          <a:xfrm>
            <a:off x="1737875" y="3468920"/>
            <a:ext cx="6453014" cy="2617981"/>
          </a:xfrm>
          <a:prstGeom prst="rect">
            <a:avLst/>
          </a:prstGeom>
        </p:spPr>
      </p:pic>
      <p:sp>
        <p:nvSpPr>
          <p:cNvPr id="8" name="TextBox 7"/>
          <p:cNvSpPr txBox="1"/>
          <p:nvPr/>
        </p:nvSpPr>
        <p:spPr>
          <a:xfrm>
            <a:off x="335887" y="3397868"/>
            <a:ext cx="1401988" cy="369332"/>
          </a:xfrm>
          <a:prstGeom prst="rect">
            <a:avLst/>
          </a:prstGeom>
          <a:noFill/>
        </p:spPr>
        <p:txBody>
          <a:bodyPr wrap="square" rtlCol="0">
            <a:spAutoFit/>
          </a:bodyPr>
          <a:lstStyle/>
          <a:p>
            <a:r>
              <a:rPr lang="en-IN"/>
              <a:t>Example:</a:t>
            </a:r>
          </a:p>
        </p:txBody>
      </p:sp>
    </p:spTree>
    <p:extLst>
      <p:ext uri="{BB962C8B-B14F-4D97-AF65-F5344CB8AC3E}">
        <p14:creationId xmlns:p14="http://schemas.microsoft.com/office/powerpoint/2010/main" val="39627982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sub() Function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59</a:t>
            </a:fld>
            <a:endParaRPr lang="en-US"/>
          </a:p>
        </p:txBody>
      </p:sp>
      <p:sp>
        <p:nvSpPr>
          <p:cNvPr id="5" name="Rectangle 4"/>
          <p:cNvSpPr/>
          <p:nvPr/>
        </p:nvSpPr>
        <p:spPr>
          <a:xfrm>
            <a:off x="245268" y="1660446"/>
            <a:ext cx="11701463" cy="1754326"/>
          </a:xfrm>
          <a:prstGeom prst="rect">
            <a:avLst/>
          </a:prstGeom>
        </p:spPr>
        <p:txBody>
          <a:bodyPr wrap="square">
            <a:spAutoFit/>
          </a:bodyPr>
          <a:lstStyle/>
          <a:p>
            <a:pPr algn="just">
              <a:lnSpc>
                <a:spcPct val="150000"/>
              </a:lnSpc>
            </a:pPr>
            <a:r>
              <a:rPr lang="en-US" b="1">
                <a:solidFill>
                  <a:schemeClr val="accent1">
                    <a:lumMod val="75000"/>
                  </a:schemeClr>
                </a:solidFill>
              </a:rPr>
              <a:t>The </a:t>
            </a:r>
            <a:r>
              <a:rPr lang="en-US" b="1">
                <a:solidFill>
                  <a:srgbClr val="C00000"/>
                </a:solidFill>
              </a:rPr>
              <a:t>sub() function </a:t>
            </a:r>
            <a:r>
              <a:rPr lang="en-US" b="1">
                <a:solidFill>
                  <a:schemeClr val="accent1">
                    <a:lumMod val="75000"/>
                  </a:schemeClr>
                </a:solidFill>
              </a:rPr>
              <a:t>in the re module can be used to search a pattern in the string and replace it with another pattern. The syntax of sub() function can be given as,  </a:t>
            </a:r>
            <a:r>
              <a:rPr lang="en-US" b="1" err="1">
                <a:solidFill>
                  <a:srgbClr val="C00000"/>
                </a:solidFill>
              </a:rPr>
              <a:t>re.sub</a:t>
            </a:r>
            <a:r>
              <a:rPr lang="en-US" b="1">
                <a:solidFill>
                  <a:srgbClr val="C00000"/>
                </a:solidFill>
              </a:rPr>
              <a:t>(pattern, </a:t>
            </a:r>
            <a:r>
              <a:rPr lang="en-US" b="1" err="1">
                <a:solidFill>
                  <a:srgbClr val="C00000"/>
                </a:solidFill>
              </a:rPr>
              <a:t>repl</a:t>
            </a:r>
            <a:r>
              <a:rPr lang="en-US" b="1">
                <a:solidFill>
                  <a:srgbClr val="C00000"/>
                </a:solidFill>
              </a:rPr>
              <a:t>, string, max=0)</a:t>
            </a:r>
          </a:p>
          <a:p>
            <a:pPr algn="just">
              <a:lnSpc>
                <a:spcPct val="150000"/>
              </a:lnSpc>
            </a:pPr>
            <a:r>
              <a:rPr lang="en-US" b="1">
                <a:solidFill>
                  <a:schemeClr val="accent1">
                    <a:lumMod val="75000"/>
                  </a:schemeClr>
                </a:solidFill>
              </a:rPr>
              <a:t>According to the syntax, the sub() function replaces all occurrences of the pattern in string with </a:t>
            </a:r>
            <a:r>
              <a:rPr lang="en-US" b="1" err="1">
                <a:solidFill>
                  <a:schemeClr val="accent1">
                    <a:lumMod val="75000"/>
                  </a:schemeClr>
                </a:solidFill>
              </a:rPr>
              <a:t>repl</a:t>
            </a:r>
            <a:r>
              <a:rPr lang="en-US" b="1">
                <a:solidFill>
                  <a:schemeClr val="accent1">
                    <a:lumMod val="75000"/>
                  </a:schemeClr>
                </a:solidFill>
              </a:rPr>
              <a:t>, substituting all occurrences unless any max value is provided. This method returns modified string. </a:t>
            </a:r>
          </a:p>
        </p:txBody>
      </p:sp>
      <p:pic>
        <p:nvPicPr>
          <p:cNvPr id="6" name="Picture 5"/>
          <p:cNvPicPr>
            <a:picLocks noChangeAspect="1"/>
          </p:cNvPicPr>
          <p:nvPr/>
        </p:nvPicPr>
        <p:blipFill>
          <a:blip r:embed="rId2"/>
          <a:stretch>
            <a:fillRect/>
          </a:stretch>
        </p:blipFill>
        <p:spPr>
          <a:xfrm>
            <a:off x="1452427" y="3453798"/>
            <a:ext cx="6554636" cy="2402696"/>
          </a:xfrm>
          <a:prstGeom prst="rect">
            <a:avLst/>
          </a:prstGeom>
        </p:spPr>
      </p:pic>
      <p:sp>
        <p:nvSpPr>
          <p:cNvPr id="8" name="TextBox 7"/>
          <p:cNvSpPr txBox="1"/>
          <p:nvPr/>
        </p:nvSpPr>
        <p:spPr>
          <a:xfrm>
            <a:off x="245268" y="3381885"/>
            <a:ext cx="1207159" cy="369332"/>
          </a:xfrm>
          <a:prstGeom prst="rect">
            <a:avLst/>
          </a:prstGeom>
          <a:noFill/>
        </p:spPr>
        <p:txBody>
          <a:bodyPr wrap="square" rtlCol="0">
            <a:spAutoFit/>
          </a:bodyPr>
          <a:lstStyle/>
          <a:p>
            <a:r>
              <a:rPr lang="en-IN"/>
              <a:t>Example:</a:t>
            </a:r>
          </a:p>
        </p:txBody>
      </p:sp>
    </p:spTree>
    <p:extLst>
      <p:ext uri="{BB962C8B-B14F-4D97-AF65-F5344CB8AC3E}">
        <p14:creationId xmlns:p14="http://schemas.microsoft.com/office/powerpoint/2010/main" val="9026184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The </a:t>
            </a:r>
            <a:r>
              <a:rPr lang="en-US" sz="3200" b="1" err="1"/>
              <a:t>findall</a:t>
            </a:r>
            <a:r>
              <a:rPr lang="en-US" sz="3200" b="1"/>
              <a:t>() and </a:t>
            </a:r>
            <a:r>
              <a:rPr lang="en-US" sz="3200" b="1" err="1"/>
              <a:t>finditer</a:t>
            </a:r>
            <a:r>
              <a:rPr lang="en-US" sz="3200" b="1"/>
              <a:t>() Function</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60</a:t>
            </a:fld>
            <a:endParaRPr lang="en-US"/>
          </a:p>
        </p:txBody>
      </p:sp>
      <p:sp>
        <p:nvSpPr>
          <p:cNvPr id="6" name="Rectangle 5"/>
          <p:cNvSpPr/>
          <p:nvPr/>
        </p:nvSpPr>
        <p:spPr>
          <a:xfrm>
            <a:off x="212294" y="1575640"/>
            <a:ext cx="11710988" cy="1338828"/>
          </a:xfrm>
          <a:prstGeom prst="rect">
            <a:avLst/>
          </a:prstGeom>
        </p:spPr>
        <p:txBody>
          <a:bodyPr wrap="square">
            <a:spAutoFit/>
          </a:bodyPr>
          <a:lstStyle/>
          <a:p>
            <a:pPr algn="just">
              <a:lnSpc>
                <a:spcPct val="150000"/>
              </a:lnSpc>
            </a:pPr>
            <a:r>
              <a:rPr lang="en-US" b="1">
                <a:solidFill>
                  <a:schemeClr val="accent1">
                    <a:lumMod val="75000"/>
                  </a:schemeClr>
                </a:solidFill>
              </a:rPr>
              <a:t>The </a:t>
            </a:r>
            <a:r>
              <a:rPr lang="en-US" b="1" err="1">
                <a:solidFill>
                  <a:srgbClr val="C00000"/>
                </a:solidFill>
              </a:rPr>
              <a:t>findall</a:t>
            </a:r>
            <a:r>
              <a:rPr lang="en-US" b="1">
                <a:solidFill>
                  <a:srgbClr val="C00000"/>
                </a:solidFill>
              </a:rPr>
              <a:t>() </a:t>
            </a:r>
            <a:r>
              <a:rPr lang="en-US" b="1">
                <a:solidFill>
                  <a:schemeClr val="accent1">
                    <a:lumMod val="75000"/>
                  </a:schemeClr>
                </a:solidFill>
              </a:rPr>
              <a:t>function is used to search a string and returns a list of matches of the pattern in the string. If no match is found, then the returned list is empty. The syntax of match() function can be given as,</a:t>
            </a:r>
          </a:p>
          <a:p>
            <a:pPr algn="just">
              <a:lnSpc>
                <a:spcPct val="150000"/>
              </a:lnSpc>
            </a:pPr>
            <a:r>
              <a:rPr lang="en-US" b="1" err="1">
                <a:solidFill>
                  <a:srgbClr val="C00000"/>
                </a:solidFill>
              </a:rPr>
              <a:t>matchList</a:t>
            </a:r>
            <a:r>
              <a:rPr lang="en-US" b="1">
                <a:solidFill>
                  <a:srgbClr val="C00000"/>
                </a:solidFill>
              </a:rPr>
              <a:t> = </a:t>
            </a:r>
            <a:r>
              <a:rPr lang="en-US" b="1" err="1">
                <a:solidFill>
                  <a:srgbClr val="C00000"/>
                </a:solidFill>
              </a:rPr>
              <a:t>re.findall</a:t>
            </a:r>
            <a:r>
              <a:rPr lang="en-US" b="1">
                <a:solidFill>
                  <a:srgbClr val="C00000"/>
                </a:solidFill>
              </a:rPr>
              <a:t>(pattern, </a:t>
            </a:r>
            <a:r>
              <a:rPr lang="en-US" b="1" err="1">
                <a:solidFill>
                  <a:srgbClr val="C00000"/>
                </a:solidFill>
              </a:rPr>
              <a:t>input_str</a:t>
            </a:r>
            <a:r>
              <a:rPr lang="en-US" b="1">
                <a:solidFill>
                  <a:srgbClr val="C00000"/>
                </a:solidFill>
              </a:rPr>
              <a:t>, flags=0)</a:t>
            </a:r>
          </a:p>
        </p:txBody>
      </p:sp>
      <p:pic>
        <p:nvPicPr>
          <p:cNvPr id="7" name="Picture 6"/>
          <p:cNvPicPr>
            <a:picLocks noChangeAspect="1"/>
          </p:cNvPicPr>
          <p:nvPr/>
        </p:nvPicPr>
        <p:blipFill>
          <a:blip r:embed="rId2"/>
          <a:stretch>
            <a:fillRect/>
          </a:stretch>
        </p:blipFill>
        <p:spPr>
          <a:xfrm>
            <a:off x="1662545" y="3084093"/>
            <a:ext cx="9422010" cy="2252911"/>
          </a:xfrm>
          <a:prstGeom prst="rect">
            <a:avLst/>
          </a:prstGeom>
        </p:spPr>
      </p:pic>
      <p:sp>
        <p:nvSpPr>
          <p:cNvPr id="9" name="TextBox 8"/>
          <p:cNvSpPr txBox="1"/>
          <p:nvPr/>
        </p:nvSpPr>
        <p:spPr>
          <a:xfrm>
            <a:off x="212294" y="3069235"/>
            <a:ext cx="1207159" cy="369332"/>
          </a:xfrm>
          <a:prstGeom prst="rect">
            <a:avLst/>
          </a:prstGeom>
          <a:noFill/>
        </p:spPr>
        <p:txBody>
          <a:bodyPr wrap="square" rtlCol="0">
            <a:spAutoFit/>
          </a:bodyPr>
          <a:lstStyle/>
          <a:p>
            <a:r>
              <a:rPr lang="en-IN"/>
              <a:t>Examples:</a:t>
            </a:r>
          </a:p>
        </p:txBody>
      </p:sp>
    </p:spTree>
    <p:extLst>
      <p:ext uri="{BB962C8B-B14F-4D97-AF65-F5344CB8AC3E}">
        <p14:creationId xmlns:p14="http://schemas.microsoft.com/office/powerpoint/2010/main" val="25381229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err="1"/>
              <a:t>Metacharacters</a:t>
            </a:r>
            <a:r>
              <a:rPr lang="en-US" sz="3200" b="1"/>
              <a:t> in Regular Expression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61</a:t>
            </a:fld>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781298"/>
            <a:ext cx="8686800" cy="46313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32664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err="1"/>
              <a:t>Metacharacters</a:t>
            </a:r>
            <a:r>
              <a:rPr lang="en-US" sz="3200" b="1"/>
              <a:t> in Regular Expression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62</a:t>
            </a:fld>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9597" y="1688691"/>
            <a:ext cx="8648700" cy="46325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09022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Character Classes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63</a:t>
            </a:fld>
            <a:endParaRPr lang="en-US"/>
          </a:p>
        </p:txBody>
      </p:sp>
      <p:sp>
        <p:nvSpPr>
          <p:cNvPr id="5" name="Rectangle 4"/>
          <p:cNvSpPr/>
          <p:nvPr/>
        </p:nvSpPr>
        <p:spPr>
          <a:xfrm>
            <a:off x="296883" y="1680330"/>
            <a:ext cx="11542816" cy="923330"/>
          </a:xfrm>
          <a:prstGeom prst="rect">
            <a:avLst/>
          </a:prstGeom>
        </p:spPr>
        <p:txBody>
          <a:bodyPr wrap="square">
            <a:spAutoFit/>
          </a:bodyPr>
          <a:lstStyle/>
          <a:p>
            <a:pPr algn="just">
              <a:lnSpc>
                <a:spcPct val="150000"/>
              </a:lnSpc>
            </a:pPr>
            <a:r>
              <a:rPr lang="en-US" b="1">
                <a:solidFill>
                  <a:schemeClr val="accent1">
                    <a:lumMod val="75000"/>
                  </a:schemeClr>
                </a:solidFill>
              </a:rPr>
              <a:t>When we put the characters to be matched inside square brackets, we call it a </a:t>
            </a:r>
            <a:r>
              <a:rPr lang="en-US" b="1">
                <a:solidFill>
                  <a:srgbClr val="C00000"/>
                </a:solidFill>
              </a:rPr>
              <a:t>character class</a:t>
            </a:r>
            <a:r>
              <a:rPr lang="en-US" b="1">
                <a:solidFill>
                  <a:schemeClr val="accent1">
                    <a:lumMod val="75000"/>
                  </a:schemeClr>
                </a:solidFill>
              </a:rPr>
              <a:t>. For example, [</a:t>
            </a:r>
            <a:r>
              <a:rPr lang="en-US" b="1" err="1">
                <a:solidFill>
                  <a:schemeClr val="accent1">
                    <a:lumMod val="75000"/>
                  </a:schemeClr>
                </a:solidFill>
              </a:rPr>
              <a:t>aeiou</a:t>
            </a:r>
            <a:r>
              <a:rPr lang="en-US" b="1">
                <a:solidFill>
                  <a:schemeClr val="accent1">
                    <a:lumMod val="75000"/>
                  </a:schemeClr>
                </a:solidFill>
              </a:rPr>
              <a:t>] defines a character class that has a vowel character. </a:t>
            </a:r>
          </a:p>
        </p:txBody>
      </p:sp>
      <p:pic>
        <p:nvPicPr>
          <p:cNvPr id="6" name="Picture 5"/>
          <p:cNvPicPr>
            <a:picLocks noChangeAspect="1"/>
          </p:cNvPicPr>
          <p:nvPr/>
        </p:nvPicPr>
        <p:blipFill>
          <a:blip r:embed="rId2"/>
          <a:stretch>
            <a:fillRect/>
          </a:stretch>
        </p:blipFill>
        <p:spPr>
          <a:xfrm>
            <a:off x="1548169" y="2806336"/>
            <a:ext cx="4318946" cy="2947125"/>
          </a:xfrm>
          <a:prstGeom prst="rect">
            <a:avLst/>
          </a:prstGeom>
        </p:spPr>
      </p:pic>
      <p:sp>
        <p:nvSpPr>
          <p:cNvPr id="8" name="TextBox 7"/>
          <p:cNvSpPr txBox="1"/>
          <p:nvPr/>
        </p:nvSpPr>
        <p:spPr>
          <a:xfrm>
            <a:off x="296883" y="2713561"/>
            <a:ext cx="1496291" cy="369332"/>
          </a:xfrm>
          <a:prstGeom prst="rect">
            <a:avLst/>
          </a:prstGeom>
          <a:noFill/>
        </p:spPr>
        <p:txBody>
          <a:bodyPr wrap="square" rtlCol="0">
            <a:spAutoFit/>
          </a:bodyPr>
          <a:lstStyle/>
          <a:p>
            <a:r>
              <a:rPr lang="en-IN"/>
              <a:t>Examples:</a:t>
            </a:r>
          </a:p>
        </p:txBody>
      </p:sp>
    </p:spTree>
    <p:extLst>
      <p:ext uri="{BB962C8B-B14F-4D97-AF65-F5344CB8AC3E}">
        <p14:creationId xmlns:p14="http://schemas.microsoft.com/office/powerpoint/2010/main" val="8254237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121"/>
            <a:ext cx="12192000" cy="8083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Groups </a:t>
            </a:r>
            <a:endParaRPr lang="en-US" sz="3200"/>
          </a:p>
        </p:txBody>
      </p:sp>
      <p:sp>
        <p:nvSpPr>
          <p:cNvPr id="4" name="Slide Number Placeholder 3"/>
          <p:cNvSpPr>
            <a:spLocks noGrp="1"/>
          </p:cNvSpPr>
          <p:nvPr>
            <p:ph type="sldNum" sz="quarter" idx="12"/>
          </p:nvPr>
        </p:nvSpPr>
        <p:spPr/>
        <p:txBody>
          <a:bodyPr/>
          <a:lstStyle/>
          <a:p>
            <a:fld id="{04EAA311-F8B8-413B-ACCD-5A57951484CD}" type="slidenum">
              <a:rPr lang="en-US" smtClean="0"/>
              <a:t>64</a:t>
            </a:fld>
            <a:endParaRPr lang="en-US"/>
          </a:p>
        </p:txBody>
      </p:sp>
      <p:sp>
        <p:nvSpPr>
          <p:cNvPr id="5" name="Rectangle 4"/>
          <p:cNvSpPr/>
          <p:nvPr/>
        </p:nvSpPr>
        <p:spPr>
          <a:xfrm>
            <a:off x="218364" y="1585856"/>
            <a:ext cx="11589211" cy="923330"/>
          </a:xfrm>
          <a:prstGeom prst="rect">
            <a:avLst/>
          </a:prstGeom>
        </p:spPr>
        <p:txBody>
          <a:bodyPr wrap="square">
            <a:spAutoFit/>
          </a:bodyPr>
          <a:lstStyle/>
          <a:p>
            <a:pPr algn="just">
              <a:lnSpc>
                <a:spcPct val="150000"/>
              </a:lnSpc>
            </a:pPr>
            <a:r>
              <a:rPr lang="en-US" b="1">
                <a:solidFill>
                  <a:schemeClr val="accent1">
                    <a:lumMod val="75000"/>
                  </a:schemeClr>
                </a:solidFill>
              </a:rPr>
              <a:t>A </a:t>
            </a:r>
            <a:r>
              <a:rPr lang="en-US" b="1">
                <a:solidFill>
                  <a:srgbClr val="C00000"/>
                </a:solidFill>
              </a:rPr>
              <a:t>group</a:t>
            </a:r>
            <a:r>
              <a:rPr lang="en-US" b="1">
                <a:solidFill>
                  <a:schemeClr val="accent1">
                    <a:lumMod val="75000"/>
                  </a:schemeClr>
                </a:solidFill>
              </a:rPr>
              <a:t> is created by surrounding a part of the regular expression with parentheses. You can even give group as an argument to the </a:t>
            </a:r>
            <a:r>
              <a:rPr lang="en-US" b="1" err="1">
                <a:solidFill>
                  <a:schemeClr val="accent1">
                    <a:lumMod val="75000"/>
                  </a:schemeClr>
                </a:solidFill>
              </a:rPr>
              <a:t>metacharacters</a:t>
            </a:r>
            <a:r>
              <a:rPr lang="en-US" b="1">
                <a:solidFill>
                  <a:schemeClr val="accent1">
                    <a:lumMod val="75000"/>
                  </a:schemeClr>
                </a:solidFill>
              </a:rPr>
              <a:t> such as * and ?. </a:t>
            </a:r>
          </a:p>
        </p:txBody>
      </p:sp>
      <p:sp>
        <p:nvSpPr>
          <p:cNvPr id="9" name="TextBox 8"/>
          <p:cNvSpPr txBox="1"/>
          <p:nvPr/>
        </p:nvSpPr>
        <p:spPr>
          <a:xfrm>
            <a:off x="218364" y="2654631"/>
            <a:ext cx="2414319" cy="369332"/>
          </a:xfrm>
          <a:prstGeom prst="rect">
            <a:avLst/>
          </a:prstGeom>
          <a:noFill/>
        </p:spPr>
        <p:txBody>
          <a:bodyPr wrap="square" rtlCol="0">
            <a:spAutoFit/>
          </a:bodyPr>
          <a:lstStyle/>
          <a:p>
            <a:r>
              <a:rPr lang="en-IN"/>
              <a:t>Example:</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5867" y="2654631"/>
            <a:ext cx="5400675" cy="22818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193641" y="4936487"/>
            <a:ext cx="10890914" cy="1754326"/>
          </a:xfrm>
          <a:prstGeom prst="rect">
            <a:avLst/>
          </a:prstGeom>
        </p:spPr>
        <p:txBody>
          <a:bodyPr wrap="square">
            <a:spAutoFit/>
          </a:bodyPr>
          <a:lstStyle/>
          <a:p>
            <a:pPr>
              <a:lnSpc>
                <a:spcPct val="150000"/>
              </a:lnSpc>
            </a:pPr>
            <a:r>
              <a:rPr lang="en-IN" b="1">
                <a:solidFill>
                  <a:schemeClr val="accent1">
                    <a:lumMod val="75000"/>
                  </a:schemeClr>
                </a:solidFill>
              </a:rPr>
              <a:t>The content of groups in a match can be accessed by using the group() function. For example,</a:t>
            </a:r>
          </a:p>
          <a:p>
            <a:pPr marL="285750" indent="-285750">
              <a:lnSpc>
                <a:spcPct val="150000"/>
              </a:lnSpc>
              <a:buFont typeface="Arial" panose="020B0604020202020204" pitchFamily="34" charset="0"/>
              <a:buChar char="•"/>
            </a:pPr>
            <a:r>
              <a:rPr lang="en-IN" b="1">
                <a:solidFill>
                  <a:schemeClr val="accent1">
                    <a:lumMod val="75000"/>
                  </a:schemeClr>
                </a:solidFill>
              </a:rPr>
              <a:t>group(0) or group() returns the whole match.</a:t>
            </a:r>
          </a:p>
          <a:p>
            <a:pPr marL="285750" indent="-285750">
              <a:lnSpc>
                <a:spcPct val="150000"/>
              </a:lnSpc>
              <a:buFont typeface="Arial" panose="020B0604020202020204" pitchFamily="34" charset="0"/>
              <a:buChar char="•"/>
            </a:pPr>
            <a:r>
              <a:rPr lang="en-IN" b="1">
                <a:solidFill>
                  <a:schemeClr val="accent1">
                    <a:lumMod val="75000"/>
                  </a:schemeClr>
                </a:solidFill>
              </a:rPr>
              <a:t>group(n), where n is greater than 0, returns the nth group from the left.</a:t>
            </a:r>
          </a:p>
          <a:p>
            <a:pPr marL="285750" indent="-285750">
              <a:lnSpc>
                <a:spcPct val="150000"/>
              </a:lnSpc>
              <a:buFont typeface="Arial" panose="020B0604020202020204" pitchFamily="34" charset="0"/>
              <a:buChar char="•"/>
            </a:pPr>
            <a:r>
              <a:rPr lang="en-IN" b="1">
                <a:solidFill>
                  <a:schemeClr val="accent1">
                    <a:lumMod val="75000"/>
                  </a:schemeClr>
                </a:solidFill>
              </a:rPr>
              <a:t>group() returns all groups up from 1.</a:t>
            </a:r>
          </a:p>
        </p:txBody>
      </p:sp>
    </p:spTree>
    <p:extLst>
      <p:ext uri="{BB962C8B-B14F-4D97-AF65-F5344CB8AC3E}">
        <p14:creationId xmlns:p14="http://schemas.microsoft.com/office/powerpoint/2010/main" val="16531543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64</Slides>
  <Notes>1</Notes>
  <HiddenSlides>0</HiddenSlide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Sukeshi Parnami</dc:creator>
  <cp:revision>1</cp:revision>
  <dcterms:created xsi:type="dcterms:W3CDTF">2023-06-27T05:32:28Z</dcterms:created>
  <dcterms:modified xsi:type="dcterms:W3CDTF">2025-04-07T06:45:22Z</dcterms:modified>
</cp:coreProperties>
</file>