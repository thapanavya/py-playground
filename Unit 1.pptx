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60" r:id="rId2"/>
    <p:sldId id="334" r:id="rId3"/>
    <p:sldId id="377" r:id="rId4"/>
    <p:sldId id="378" r:id="rId5"/>
    <p:sldId id="379" r:id="rId6"/>
    <p:sldId id="380" r:id="rId7"/>
    <p:sldId id="348" r:id="rId8"/>
    <p:sldId id="349" r:id="rId9"/>
    <p:sldId id="350" r:id="rId10"/>
    <p:sldId id="385" r:id="rId11"/>
    <p:sldId id="386" r:id="rId12"/>
    <p:sldId id="351" r:id="rId13"/>
    <p:sldId id="383" r:id="rId14"/>
    <p:sldId id="387"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89" r:id="rId56"/>
    <p:sldId id="390" r:id="rId57"/>
    <p:sldId id="391"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58"/>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41514-213F-4477-86D4-9C40F0CBCC95}" type="datetimeFigureOut">
              <a:rPr lang="en-US" smtClean="0"/>
              <a:t>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945BD-F766-46C2-A564-4657E5C7C53E}" type="slidenum">
              <a:rPr lang="en-US" smtClean="0"/>
              <a:t>‹#›</a:t>
            </a:fld>
            <a:endParaRPr lang="en-US"/>
          </a:p>
        </p:txBody>
      </p:sp>
    </p:spTree>
    <p:extLst>
      <p:ext uri="{BB962C8B-B14F-4D97-AF65-F5344CB8AC3E}">
        <p14:creationId xmlns:p14="http://schemas.microsoft.com/office/powerpoint/2010/main" val="319294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2C8F77-8D4F-4A91-9F80-D6123489EA82}" type="slidenum">
              <a:rPr lang="en-US" smtClean="0"/>
              <a:t>50</a:t>
            </a:fld>
            <a:endParaRPr lang="en-US"/>
          </a:p>
        </p:txBody>
      </p:sp>
    </p:spTree>
    <p:extLst>
      <p:ext uri="{BB962C8B-B14F-4D97-AF65-F5344CB8AC3E}">
        <p14:creationId xmlns:p14="http://schemas.microsoft.com/office/powerpoint/2010/main" val="3394161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D64E-478A-1C7A-E30B-2928419E36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A49085-9578-DC52-6A22-B041AE6D4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F8943E-D792-CEA4-78B9-88DCDDB094E3}"/>
              </a:ext>
            </a:extLst>
          </p:cNvPr>
          <p:cNvSpPr>
            <a:spLocks noGrp="1"/>
          </p:cNvSpPr>
          <p:nvPr>
            <p:ph type="dt" sz="half" idx="10"/>
          </p:nvPr>
        </p:nvSpPr>
        <p:spPr/>
        <p:txBody>
          <a:bodyPr/>
          <a:lstStyle/>
          <a:p>
            <a:fld id="{3A4A121F-FC19-43E4-A78A-D1531C4C96BF}" type="datetime1">
              <a:rPr lang="en-IN" smtClean="0"/>
              <a:t>25-01-2024</a:t>
            </a:fld>
            <a:endParaRPr lang="en-IN"/>
          </a:p>
        </p:txBody>
      </p:sp>
      <p:sp>
        <p:nvSpPr>
          <p:cNvPr id="5" name="Footer Placeholder 4">
            <a:extLst>
              <a:ext uri="{FF2B5EF4-FFF2-40B4-BE49-F238E27FC236}">
                <a16:creationId xmlns:a16="http://schemas.microsoft.com/office/drawing/2014/main" id="{E5610C63-00AD-ED85-E3CC-AF52459CEC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C6B301-9B48-3827-40FB-135BAA3EFAF7}"/>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49219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3F19-B29D-AEBA-1E67-63B526DB2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3A8A09-5661-E84C-EA5A-BA7A0790D4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CD4C5-4F23-150D-0244-46A2469D79E8}"/>
              </a:ext>
            </a:extLst>
          </p:cNvPr>
          <p:cNvSpPr>
            <a:spLocks noGrp="1"/>
          </p:cNvSpPr>
          <p:nvPr>
            <p:ph type="dt" sz="half" idx="10"/>
          </p:nvPr>
        </p:nvSpPr>
        <p:spPr/>
        <p:txBody>
          <a:bodyPr/>
          <a:lstStyle/>
          <a:p>
            <a:fld id="{029E10DC-D5FC-4BFB-8C2D-860E2052C470}" type="datetime1">
              <a:rPr lang="en-IN" smtClean="0"/>
              <a:t>25-01-2024</a:t>
            </a:fld>
            <a:endParaRPr lang="en-IN"/>
          </a:p>
        </p:txBody>
      </p:sp>
      <p:sp>
        <p:nvSpPr>
          <p:cNvPr id="5" name="Footer Placeholder 4">
            <a:extLst>
              <a:ext uri="{FF2B5EF4-FFF2-40B4-BE49-F238E27FC236}">
                <a16:creationId xmlns:a16="http://schemas.microsoft.com/office/drawing/2014/main" id="{385B48FF-FC69-C154-54AE-A7BC2D5E73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D33FAA-014B-8F86-DF44-FBFEE780AA00}"/>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71396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F5D23-87D4-D2E6-B822-4059C1337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4B8A1B-3924-ABF0-4F27-2F19FF5DE2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920101-8C12-368F-BCFD-D298AE953AA5}"/>
              </a:ext>
            </a:extLst>
          </p:cNvPr>
          <p:cNvSpPr>
            <a:spLocks noGrp="1"/>
          </p:cNvSpPr>
          <p:nvPr>
            <p:ph type="dt" sz="half" idx="10"/>
          </p:nvPr>
        </p:nvSpPr>
        <p:spPr/>
        <p:txBody>
          <a:bodyPr/>
          <a:lstStyle/>
          <a:p>
            <a:fld id="{C794ECE4-9E16-4852-99A9-478688DE98EB}" type="datetime1">
              <a:rPr lang="en-IN" smtClean="0"/>
              <a:t>25-01-2024</a:t>
            </a:fld>
            <a:endParaRPr lang="en-IN"/>
          </a:p>
        </p:txBody>
      </p:sp>
      <p:sp>
        <p:nvSpPr>
          <p:cNvPr id="5" name="Footer Placeholder 4">
            <a:extLst>
              <a:ext uri="{FF2B5EF4-FFF2-40B4-BE49-F238E27FC236}">
                <a16:creationId xmlns:a16="http://schemas.microsoft.com/office/drawing/2014/main" id="{74CAA9EC-F0BF-9282-71FB-0F1C0553D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64145-27E3-A673-EF49-6B65D2FFD9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9878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7B97-55A1-573E-DE88-196F2F0E0C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938F98-6744-B58D-9226-B5436AC9AA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91AC41-88D4-9364-9F45-55F6EF05EB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C75089-67E1-B4A7-55DD-CCB9180F58A8}"/>
              </a:ext>
            </a:extLst>
          </p:cNvPr>
          <p:cNvSpPr>
            <a:spLocks noGrp="1"/>
          </p:cNvSpPr>
          <p:nvPr>
            <p:ph type="dt" sz="half" idx="10"/>
          </p:nvPr>
        </p:nvSpPr>
        <p:spPr/>
        <p:txBody>
          <a:bodyPr/>
          <a:lstStyle/>
          <a:p>
            <a:fld id="{E8D30471-51CD-4904-B284-5FC4021028FE}" type="datetime1">
              <a:rPr lang="en-IN" smtClean="0"/>
              <a:t>25-01-2024</a:t>
            </a:fld>
            <a:endParaRPr lang="en-IN"/>
          </a:p>
        </p:txBody>
      </p:sp>
      <p:sp>
        <p:nvSpPr>
          <p:cNvPr id="6" name="Footer Placeholder 5">
            <a:extLst>
              <a:ext uri="{FF2B5EF4-FFF2-40B4-BE49-F238E27FC236}">
                <a16:creationId xmlns:a16="http://schemas.microsoft.com/office/drawing/2014/main" id="{D8879873-233E-5E7B-6E92-9D12231EC4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8CCA6F-BAD1-6C94-A30B-01959B08FB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33758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C6B48-1BBD-2956-8F34-4B0ADA5997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1B1C43-87E8-08EF-5D72-BB06D1176B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2DE98D-4E61-300A-2C4D-B91DAEB3B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5D277E-05C0-DBB0-3C88-A01C07166D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AE8685-13DE-B05A-B935-F22B2CA0D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1CF8E0-D36E-17C5-0797-196719A23D2E}"/>
              </a:ext>
            </a:extLst>
          </p:cNvPr>
          <p:cNvSpPr>
            <a:spLocks noGrp="1"/>
          </p:cNvSpPr>
          <p:nvPr>
            <p:ph type="dt" sz="half" idx="10"/>
          </p:nvPr>
        </p:nvSpPr>
        <p:spPr/>
        <p:txBody>
          <a:bodyPr/>
          <a:lstStyle/>
          <a:p>
            <a:fld id="{04A77444-06BF-461B-8E74-32F54C548B9A}" type="datetime1">
              <a:rPr lang="en-IN" smtClean="0"/>
              <a:t>25-01-2024</a:t>
            </a:fld>
            <a:endParaRPr lang="en-IN"/>
          </a:p>
        </p:txBody>
      </p:sp>
      <p:sp>
        <p:nvSpPr>
          <p:cNvPr id="8" name="Footer Placeholder 7">
            <a:extLst>
              <a:ext uri="{FF2B5EF4-FFF2-40B4-BE49-F238E27FC236}">
                <a16:creationId xmlns:a16="http://schemas.microsoft.com/office/drawing/2014/main" id="{3383E82F-7963-91F0-238F-8851C17243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EADFA8-E7F8-D8AF-9F55-4069BE295D3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9748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4A05-D1FF-26B0-BE1C-8C91E1FA26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F067BD-C455-001A-4FD1-66B7DC9F3F26}"/>
              </a:ext>
            </a:extLst>
          </p:cNvPr>
          <p:cNvSpPr>
            <a:spLocks noGrp="1"/>
          </p:cNvSpPr>
          <p:nvPr>
            <p:ph type="dt" sz="half" idx="10"/>
          </p:nvPr>
        </p:nvSpPr>
        <p:spPr/>
        <p:txBody>
          <a:bodyPr/>
          <a:lstStyle/>
          <a:p>
            <a:fld id="{113B3D3A-2EE7-4FC5-916A-2F100535810B}" type="datetime1">
              <a:rPr lang="en-IN" smtClean="0"/>
              <a:t>25-01-2024</a:t>
            </a:fld>
            <a:endParaRPr lang="en-IN"/>
          </a:p>
        </p:txBody>
      </p:sp>
      <p:sp>
        <p:nvSpPr>
          <p:cNvPr id="4" name="Footer Placeholder 3">
            <a:extLst>
              <a:ext uri="{FF2B5EF4-FFF2-40B4-BE49-F238E27FC236}">
                <a16:creationId xmlns:a16="http://schemas.microsoft.com/office/drawing/2014/main" id="{C65E7B67-0D01-E1C8-B892-1677F627AE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DDECB4-4488-7682-2118-69D12F5B514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47300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471566-498C-19C4-723D-9D6B4251CC3C}"/>
              </a:ext>
            </a:extLst>
          </p:cNvPr>
          <p:cNvSpPr>
            <a:spLocks noGrp="1"/>
          </p:cNvSpPr>
          <p:nvPr>
            <p:ph type="dt" sz="half" idx="10"/>
          </p:nvPr>
        </p:nvSpPr>
        <p:spPr/>
        <p:txBody>
          <a:bodyPr/>
          <a:lstStyle/>
          <a:p>
            <a:fld id="{CCE6C596-2334-4BF2-936E-9D859C4BE4A3}" type="datetime1">
              <a:rPr lang="en-IN" smtClean="0"/>
              <a:t>25-01-2024</a:t>
            </a:fld>
            <a:endParaRPr lang="en-IN"/>
          </a:p>
        </p:txBody>
      </p:sp>
      <p:sp>
        <p:nvSpPr>
          <p:cNvPr id="3" name="Footer Placeholder 2">
            <a:extLst>
              <a:ext uri="{FF2B5EF4-FFF2-40B4-BE49-F238E27FC236}">
                <a16:creationId xmlns:a16="http://schemas.microsoft.com/office/drawing/2014/main" id="{7E8B0847-313D-0CBE-86DB-9263A1B25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F60DC6-9602-3B57-D1A3-18CC0B9BEEBB}"/>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3343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FD0B-56AD-25ED-246E-D1A29E88F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B33214-9ED8-B45F-48C6-3A06C4B056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0913D-2257-27AA-4DCF-02B23CABC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E4EDF-E637-6236-85EF-D96196F080C4}"/>
              </a:ext>
            </a:extLst>
          </p:cNvPr>
          <p:cNvSpPr>
            <a:spLocks noGrp="1"/>
          </p:cNvSpPr>
          <p:nvPr>
            <p:ph type="dt" sz="half" idx="10"/>
          </p:nvPr>
        </p:nvSpPr>
        <p:spPr/>
        <p:txBody>
          <a:bodyPr/>
          <a:lstStyle/>
          <a:p>
            <a:fld id="{88010E70-F61A-480B-A5A0-7927002862BD}" type="datetime1">
              <a:rPr lang="en-IN" smtClean="0"/>
              <a:t>25-01-2024</a:t>
            </a:fld>
            <a:endParaRPr lang="en-IN"/>
          </a:p>
        </p:txBody>
      </p:sp>
      <p:sp>
        <p:nvSpPr>
          <p:cNvPr id="6" name="Footer Placeholder 5">
            <a:extLst>
              <a:ext uri="{FF2B5EF4-FFF2-40B4-BE49-F238E27FC236}">
                <a16:creationId xmlns:a16="http://schemas.microsoft.com/office/drawing/2014/main" id="{654548BC-22C9-CE57-F9C8-AAE20BA111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C328A1-D786-B5D2-2B77-833A42E3B484}"/>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85925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AD8D-207B-7044-B614-D565AACA4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724A54-D399-3DD3-ECFF-5656D3FA37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34BE89-765C-1EBB-248E-0C58155FF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19E5E-BF83-F6B5-680C-7FCCB4DA2DB3}"/>
              </a:ext>
            </a:extLst>
          </p:cNvPr>
          <p:cNvSpPr>
            <a:spLocks noGrp="1"/>
          </p:cNvSpPr>
          <p:nvPr>
            <p:ph type="dt" sz="half" idx="10"/>
          </p:nvPr>
        </p:nvSpPr>
        <p:spPr/>
        <p:txBody>
          <a:bodyPr/>
          <a:lstStyle/>
          <a:p>
            <a:fld id="{7B257B98-C46D-4B85-AC23-6A7D29E62D87}" type="datetime1">
              <a:rPr lang="en-IN" smtClean="0"/>
              <a:t>25-01-2024</a:t>
            </a:fld>
            <a:endParaRPr lang="en-IN"/>
          </a:p>
        </p:txBody>
      </p:sp>
      <p:sp>
        <p:nvSpPr>
          <p:cNvPr id="6" name="Footer Placeholder 5">
            <a:extLst>
              <a:ext uri="{FF2B5EF4-FFF2-40B4-BE49-F238E27FC236}">
                <a16:creationId xmlns:a16="http://schemas.microsoft.com/office/drawing/2014/main" id="{F7C74F30-2B6A-AEB4-16EC-BC00EEF762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8A0FDD-6F6A-1009-D67F-AA37D1679E6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30813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ED4A-B517-8786-80C5-66A5D60E3A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582A0-8C90-D236-344C-A748B17103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E268AA-C00C-8080-CFC2-C133EEB97432}"/>
              </a:ext>
            </a:extLst>
          </p:cNvPr>
          <p:cNvSpPr>
            <a:spLocks noGrp="1"/>
          </p:cNvSpPr>
          <p:nvPr>
            <p:ph type="dt" sz="half" idx="10"/>
          </p:nvPr>
        </p:nvSpPr>
        <p:spPr/>
        <p:txBody>
          <a:bodyPr/>
          <a:lstStyle/>
          <a:p>
            <a:fld id="{474459D0-BCFD-42F7-9F47-413DBB93BDAC}" type="datetime1">
              <a:rPr lang="en-IN" smtClean="0"/>
              <a:t>25-01-2024</a:t>
            </a:fld>
            <a:endParaRPr lang="en-IN"/>
          </a:p>
        </p:txBody>
      </p:sp>
      <p:sp>
        <p:nvSpPr>
          <p:cNvPr id="5" name="Footer Placeholder 4">
            <a:extLst>
              <a:ext uri="{FF2B5EF4-FFF2-40B4-BE49-F238E27FC236}">
                <a16:creationId xmlns:a16="http://schemas.microsoft.com/office/drawing/2014/main" id="{532F4E1B-00AD-AFD3-8CEC-C77422E7E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DD3F4-68F1-B077-EE39-F361EB35E7D2}"/>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80845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B932FD-435B-D467-5585-DF9F12E8C6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EE6659-9E0E-BDC1-C915-D84CC0929D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B2E90C-31C7-EA19-55C5-1B99079ECB8B}"/>
              </a:ext>
            </a:extLst>
          </p:cNvPr>
          <p:cNvSpPr>
            <a:spLocks noGrp="1"/>
          </p:cNvSpPr>
          <p:nvPr>
            <p:ph type="dt" sz="half" idx="10"/>
          </p:nvPr>
        </p:nvSpPr>
        <p:spPr/>
        <p:txBody>
          <a:bodyPr/>
          <a:lstStyle/>
          <a:p>
            <a:fld id="{9060934B-4BDC-4CB4-BDB9-BFF6CAD7B2A8}" type="datetime1">
              <a:rPr lang="en-IN" smtClean="0"/>
              <a:t>25-01-2024</a:t>
            </a:fld>
            <a:endParaRPr lang="en-IN"/>
          </a:p>
        </p:txBody>
      </p:sp>
      <p:sp>
        <p:nvSpPr>
          <p:cNvPr id="5" name="Footer Placeholder 4">
            <a:extLst>
              <a:ext uri="{FF2B5EF4-FFF2-40B4-BE49-F238E27FC236}">
                <a16:creationId xmlns:a16="http://schemas.microsoft.com/office/drawing/2014/main" id="{E8A15EEB-A01A-F13E-60F1-C05B5D6005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6E890-36DE-584F-0818-6AC88D26C9F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1364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2F0FB9-85D7-314A-7868-990DB91E6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C0D864-B93B-152B-017C-DFE292FA3E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E4A768-9F60-DCE0-1C96-342980486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2E777A-856C-4B0D-A1FB-A20668525992}" type="datetime1">
              <a:rPr lang="en-IN" smtClean="0"/>
              <a:t>25-01-2024</a:t>
            </a:fld>
            <a:endParaRPr lang="en-IN"/>
          </a:p>
        </p:txBody>
      </p:sp>
      <p:sp>
        <p:nvSpPr>
          <p:cNvPr id="5" name="Footer Placeholder 4">
            <a:extLst>
              <a:ext uri="{FF2B5EF4-FFF2-40B4-BE49-F238E27FC236}">
                <a16:creationId xmlns:a16="http://schemas.microsoft.com/office/drawing/2014/main" id="{BC34445C-DE3E-EB82-E099-43AC47788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5E453CB-5C7C-0046-5155-6ACB34DE96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2A20A6-2C11-4CB1-9193-A0D80FC8463A}" type="slidenum">
              <a:rPr lang="en-IN" smtClean="0"/>
              <a:t>‹#›</a:t>
            </a:fld>
            <a:endParaRPr lang="en-IN"/>
          </a:p>
        </p:txBody>
      </p:sp>
    </p:spTree>
    <p:extLst>
      <p:ext uri="{BB962C8B-B14F-4D97-AF65-F5344CB8AC3E}">
        <p14:creationId xmlns:p14="http://schemas.microsoft.com/office/powerpoint/2010/main" val="3247425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 Id="rId5" Type="http://schemas.openxmlformats.org/officeDocument/2006/relationships/image" Target="../media/image21.emf"/><Relationship Id="rId4" Type="http://schemas.openxmlformats.org/officeDocument/2006/relationships/image" Target="../media/image20.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emf"/><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7.xml"/><Relationship Id="rId4" Type="http://schemas.openxmlformats.org/officeDocument/2006/relationships/image" Target="../media/image42.emf"/></Relationships>
</file>

<file path=ppt/slides/_rels/slide46.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7C20834-D049-93C3-2686-EDB6F06EA89D}"/>
              </a:ext>
            </a:extLst>
          </p:cNvPr>
          <p:cNvSpPr txBox="1">
            <a:spLocks/>
          </p:cNvSpPr>
          <p:nvPr/>
        </p:nvSpPr>
        <p:spPr>
          <a:xfrm>
            <a:off x="1595119" y="493302"/>
            <a:ext cx="9144000" cy="2387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t>Python Programming</a:t>
            </a:r>
          </a:p>
          <a:p>
            <a:pPr algn="ctr"/>
            <a:endParaRPr lang="en-US" b="1" dirty="0"/>
          </a:p>
          <a:p>
            <a:pPr algn="ctr"/>
            <a:r>
              <a:rPr lang="en-US" b="1" dirty="0" smtClean="0"/>
              <a:t>Unit 1: Python Introduction</a:t>
            </a:r>
            <a:endParaRPr lang="en-US" b="1" dirty="0"/>
          </a:p>
        </p:txBody>
      </p:sp>
      <p:sp>
        <p:nvSpPr>
          <p:cNvPr id="3" name="Slide Number Placeholder 2"/>
          <p:cNvSpPr>
            <a:spLocks noGrp="1"/>
          </p:cNvSpPr>
          <p:nvPr>
            <p:ph type="sldNum" sz="quarter" idx="12"/>
          </p:nvPr>
        </p:nvSpPr>
        <p:spPr/>
        <p:txBody>
          <a:bodyPr/>
          <a:lstStyle/>
          <a:p>
            <a:fld id="{1B2A20A6-2C11-4CB1-9193-A0D80FC8463A}" type="slidenum">
              <a:rPr lang="en-IN" smtClean="0"/>
              <a:t>1</a:t>
            </a:fld>
            <a:endParaRPr lang="en-IN"/>
          </a:p>
        </p:txBody>
      </p:sp>
    </p:spTree>
    <p:extLst>
      <p:ext uri="{BB962C8B-B14F-4D97-AF65-F5344CB8AC3E}">
        <p14:creationId xmlns:p14="http://schemas.microsoft.com/office/powerpoint/2010/main" val="37218171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6120" y="1591944"/>
            <a:ext cx="10927080" cy="5022215"/>
          </a:xfrm>
        </p:spPr>
        <p:txBody>
          <a:bodyPr>
            <a:noAutofit/>
          </a:bodyPr>
          <a:lstStyle/>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Python is a high-level, versatile programming language known for its readability and ease of use. </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Python's journey began in the late 1980s when Guido van Rossum, a Dutch programmer, set out to create a language that was both powerful and easy to read. </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The first official Python release, Python 0.9.0, came in February 1991. </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The language's name was inspired by the British comedy group Monty Python, showcasing van Rossum's penchant for humor.</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Python's success is largely attributed to its open-source nature. </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Guido van Rossum handed over the language's development to a community of volunteers in 2000, fostering a collaborative environment. </a:t>
            </a:r>
          </a:p>
          <a:p>
            <a:pPr>
              <a:lnSpc>
                <a:spcPct val="100000"/>
              </a:lnSpc>
            </a:pPr>
            <a:r>
              <a:rPr lang="en-US" sz="2000" dirty="0">
                <a:solidFill>
                  <a:schemeClr val="accent1">
                    <a:lumMod val="75000"/>
                  </a:schemeClr>
                </a:solidFill>
                <a:latin typeface="Times New Roman" panose="02020603050405020304" pitchFamily="18" charset="0"/>
                <a:cs typeface="Times New Roman" panose="02020603050405020304" pitchFamily="18" charset="0"/>
              </a:rPr>
              <a:t>This community-driven approach led to the continuous improvement and expansion of Python's capabilities</a:t>
            </a:r>
            <a:r>
              <a:rPr lang="en-US" sz="20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B2A20A6-2C11-4CB1-9193-A0D80FC8463A}" type="slidenum">
              <a:rPr lang="en-IN" smtClean="0"/>
              <a:t>2</a:t>
            </a:fld>
            <a:endParaRPr lang="en-IN"/>
          </a:p>
        </p:txBody>
      </p:sp>
      <p:sp>
        <p:nvSpPr>
          <p:cNvPr id="5" name="Rectangle 4"/>
          <p:cNvSpPr/>
          <p:nvPr/>
        </p:nvSpPr>
        <p:spPr>
          <a:xfrm>
            <a:off x="0" y="38448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a:t>Python and its History</a:t>
            </a:r>
            <a:endParaRPr lang="en-US" sz="3200" b="1" dirty="0"/>
          </a:p>
        </p:txBody>
      </p:sp>
    </p:spTree>
    <p:extLst>
      <p:ext uri="{BB962C8B-B14F-4D97-AF65-F5344CB8AC3E}">
        <p14:creationId xmlns:p14="http://schemas.microsoft.com/office/powerpoint/2010/main" val="954569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6120" y="1591944"/>
            <a:ext cx="10927080" cy="5022215"/>
          </a:xfrm>
        </p:spPr>
        <p:txBody>
          <a:bodyPr>
            <a:noAutofit/>
          </a:bodyPr>
          <a:lstStyle/>
          <a:p>
            <a:pPr marL="0" indent="0">
              <a:lnSpc>
                <a:spcPct val="100000"/>
              </a:lnSpc>
              <a:buNone/>
            </a:pPr>
            <a:r>
              <a:rPr lang="en-US" sz="2000" b="1" dirty="0" smtClean="0">
                <a:solidFill>
                  <a:schemeClr val="accent1">
                    <a:lumMod val="75000"/>
                  </a:schemeClr>
                </a:solidFill>
                <a:latin typeface="Times New Roman" panose="02020603050405020304" pitchFamily="18" charset="0"/>
                <a:cs typeface="Times New Roman" panose="02020603050405020304" pitchFamily="18" charset="0"/>
              </a:rPr>
              <a:t>Python is being extensively used in multiple domains.</a:t>
            </a:r>
          </a:p>
          <a:p>
            <a:pPr lvl="1">
              <a:lnSpc>
                <a:spcPct val="100000"/>
              </a:lnSpc>
            </a:pP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Web </a:t>
            </a:r>
            <a:r>
              <a:rPr lang="en-US" sz="1800" dirty="0">
                <a:solidFill>
                  <a:schemeClr val="accent1">
                    <a:lumMod val="75000"/>
                  </a:schemeClr>
                </a:solidFill>
                <a:latin typeface="Times New Roman" panose="02020603050405020304" pitchFamily="18" charset="0"/>
                <a:cs typeface="Times New Roman" panose="02020603050405020304" pitchFamily="18" charset="0"/>
              </a:rPr>
              <a:t>Development: Django, Flask – Python dominates backend development and scripting in web projects.</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Data Science: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NumPy</a:t>
            </a:r>
            <a:r>
              <a:rPr lang="en-US" sz="1800" dirty="0">
                <a:solidFill>
                  <a:schemeClr val="accent1">
                    <a:lumMod val="75000"/>
                  </a:schemeClr>
                </a:solidFill>
                <a:latin typeface="Times New Roman" panose="02020603050405020304" pitchFamily="18" charset="0"/>
                <a:cs typeface="Times New Roman" panose="02020603050405020304" pitchFamily="18" charset="0"/>
              </a:rPr>
              <a:t>, Pandas,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Matplotlib</a:t>
            </a:r>
            <a:r>
              <a:rPr lang="en-US" sz="1800" dirty="0">
                <a:solidFill>
                  <a:schemeClr val="accent1">
                    <a:lumMod val="75000"/>
                  </a:schemeClr>
                </a:solidFill>
                <a:latin typeface="Times New Roman" panose="02020603050405020304" pitchFamily="18" charset="0"/>
                <a:cs typeface="Times New Roman" panose="02020603050405020304" pitchFamily="18" charset="0"/>
              </a:rPr>
              <a:t> – Python is the preferred language for data manipulation, analysis, and visualization.</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AI and ML: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TensorFlow</a:t>
            </a:r>
            <a:r>
              <a:rPr lang="en-US" sz="1800"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PyTorch</a:t>
            </a:r>
            <a:r>
              <a:rPr lang="en-US" sz="1800" dirty="0">
                <a:solidFill>
                  <a:schemeClr val="accent1">
                    <a:lumMod val="75000"/>
                  </a:schemeClr>
                </a:solidFill>
                <a:latin typeface="Times New Roman" panose="02020603050405020304" pitchFamily="18" charset="0"/>
                <a:cs typeface="Times New Roman" panose="02020603050405020304" pitchFamily="18" charset="0"/>
              </a:rPr>
              <a:t> – Python leads in building and deploying advanced machine learning models.</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Automation and Scripting: Versatile use in automation, system administration, and network programming.</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Community and Libraries: Inclusive community, rich third-party libraries on </a:t>
            </a:r>
            <a:r>
              <a:rPr lang="en-US" sz="1800" dirty="0" err="1">
                <a:solidFill>
                  <a:schemeClr val="accent1">
                    <a:lumMod val="75000"/>
                  </a:schemeClr>
                </a:solidFill>
                <a:latin typeface="Times New Roman" panose="02020603050405020304" pitchFamily="18" charset="0"/>
                <a:cs typeface="Times New Roman" panose="02020603050405020304" pitchFamily="18" charset="0"/>
              </a:rPr>
              <a:t>PyPI</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t>
            </a:r>
          </a:p>
          <a:p>
            <a:pPr>
              <a:lnSpc>
                <a:spcPct val="100000"/>
              </a:lnSpc>
            </a:pPr>
            <a:r>
              <a:rPr lang="en-US" sz="2000" b="1" dirty="0">
                <a:solidFill>
                  <a:schemeClr val="accent1">
                    <a:lumMod val="75000"/>
                  </a:schemeClr>
                </a:solidFill>
                <a:latin typeface="Times New Roman" panose="02020603050405020304" pitchFamily="18" charset="0"/>
                <a:cs typeface="Times New Roman" panose="02020603050405020304" pitchFamily="18" charset="0"/>
              </a:rPr>
              <a:t>Global Impact</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Diverse Adoption: Used from startups to tech giants.</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Educational Influence: Serves as a gateway into programming for learners worldwide.</a:t>
            </a:r>
          </a:p>
          <a:p>
            <a:pPr>
              <a:lnSpc>
                <a:spcPct val="100000"/>
              </a:lnSpc>
            </a:pPr>
            <a:r>
              <a:rPr lang="en-US" sz="2000" b="1" dirty="0">
                <a:solidFill>
                  <a:schemeClr val="accent1">
                    <a:lumMod val="75000"/>
                  </a:schemeClr>
                </a:solidFill>
                <a:latin typeface="Times New Roman" panose="02020603050405020304" pitchFamily="18" charset="0"/>
                <a:cs typeface="Times New Roman" panose="02020603050405020304" pitchFamily="18" charset="0"/>
              </a:rPr>
              <a:t>Future Outlook</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Continuous Evolution: Python Enhancement Proposal process ensures ongoing improvements.</a:t>
            </a:r>
          </a:p>
          <a:p>
            <a:pPr lvl="1">
              <a:lnSpc>
                <a:spcPct val="100000"/>
              </a:lnSpc>
            </a:pPr>
            <a:r>
              <a:rPr lang="en-US" sz="1800" dirty="0">
                <a:solidFill>
                  <a:schemeClr val="accent1">
                    <a:lumMod val="75000"/>
                  </a:schemeClr>
                </a:solidFill>
                <a:latin typeface="Times New Roman" panose="02020603050405020304" pitchFamily="18" charset="0"/>
                <a:cs typeface="Times New Roman" panose="02020603050405020304" pitchFamily="18" charset="0"/>
              </a:rPr>
              <a:t>Future Trends: Python poised to play a pivotal role in emerging technologies</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8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B2A20A6-2C11-4CB1-9193-A0D80FC8463A}" type="slidenum">
              <a:rPr lang="en-IN" smtClean="0"/>
              <a:t>3</a:t>
            </a:fld>
            <a:endParaRPr lang="en-IN"/>
          </a:p>
        </p:txBody>
      </p:sp>
      <p:sp>
        <p:nvSpPr>
          <p:cNvPr id="5" name="Rectangle 4"/>
          <p:cNvSpPr/>
          <p:nvPr/>
        </p:nvSpPr>
        <p:spPr>
          <a:xfrm>
            <a:off x="0" y="38448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smtClean="0"/>
              <a:t>Why Python?</a:t>
            </a:r>
            <a:endParaRPr lang="en-US" sz="3200" b="1" dirty="0"/>
          </a:p>
        </p:txBody>
      </p:sp>
    </p:spTree>
    <p:extLst>
      <p:ext uri="{BB962C8B-B14F-4D97-AF65-F5344CB8AC3E}">
        <p14:creationId xmlns:p14="http://schemas.microsoft.com/office/powerpoint/2010/main" val="41224415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 y="979503"/>
            <a:ext cx="12110720" cy="5022215"/>
          </a:xfrm>
        </p:spPr>
        <p:txBody>
          <a:bodyPr>
            <a:noAutofit/>
          </a:bodyPr>
          <a:lstStyle/>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Readability</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emphasizes code readability and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clarity. Clean </a:t>
            </a:r>
            <a:r>
              <a:rPr lang="en-US" sz="1800" dirty="0">
                <a:solidFill>
                  <a:schemeClr val="accent1">
                    <a:lumMod val="75000"/>
                  </a:schemeClr>
                </a:solidFill>
                <a:latin typeface="Times New Roman" panose="02020603050405020304" pitchFamily="18" charset="0"/>
                <a:cs typeface="Times New Roman" panose="02020603050405020304" pitchFamily="18" charset="0"/>
              </a:rPr>
              <a:t>and easy-to-understand syntax reduces the cost of program maintenance and development.</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Simplicity: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Python's </a:t>
            </a:r>
            <a:r>
              <a:rPr lang="en-US" sz="1800" dirty="0">
                <a:solidFill>
                  <a:schemeClr val="accent1">
                    <a:lumMod val="75000"/>
                  </a:schemeClr>
                </a:solidFill>
                <a:latin typeface="Times New Roman" panose="02020603050405020304" pitchFamily="18" charset="0"/>
                <a:cs typeface="Times New Roman" panose="02020603050405020304" pitchFamily="18" charset="0"/>
              </a:rPr>
              <a:t>simplicity makes it an ideal language for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beginners. Fewer </a:t>
            </a:r>
            <a:r>
              <a:rPr lang="en-US" sz="1800" dirty="0">
                <a:solidFill>
                  <a:schemeClr val="accent1">
                    <a:lumMod val="75000"/>
                  </a:schemeClr>
                </a:solidFill>
                <a:latin typeface="Times New Roman" panose="02020603050405020304" pitchFamily="18" charset="0"/>
                <a:cs typeface="Times New Roman" panose="02020603050405020304" pitchFamily="18" charset="0"/>
              </a:rPr>
              <a:t>lines of code are required to perform tasks compared to languages like C++ or Java.</a:t>
            </a: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Versatility</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is a versatile language, suitable for a wide range of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applications. It </a:t>
            </a:r>
            <a:r>
              <a:rPr lang="en-US" sz="1800" dirty="0">
                <a:solidFill>
                  <a:schemeClr val="accent1">
                    <a:lumMod val="75000"/>
                  </a:schemeClr>
                </a:solidFill>
                <a:latin typeface="Times New Roman" panose="02020603050405020304" pitchFamily="18" charset="0"/>
                <a:cs typeface="Times New Roman" panose="02020603050405020304" pitchFamily="18" charset="0"/>
              </a:rPr>
              <a:t>is used in web development, data science, artificial intelligence, automation, scripting, and more.</a:t>
            </a: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Interpretation</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is an interpreted language, meaning it doesn't require compilation before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execution. This </a:t>
            </a:r>
            <a:r>
              <a:rPr lang="en-US" sz="1800" dirty="0">
                <a:solidFill>
                  <a:schemeClr val="accent1">
                    <a:lumMod val="75000"/>
                  </a:schemeClr>
                </a:solidFill>
                <a:latin typeface="Times New Roman" panose="02020603050405020304" pitchFamily="18" charset="0"/>
                <a:cs typeface="Times New Roman" panose="02020603050405020304" pitchFamily="18" charset="0"/>
              </a:rPr>
              <a:t>allows for quick development and testing cycles.</a:t>
            </a: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Dynamic Typing</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is dynamically typed, meaning variable types are interpreted during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runtime. This </a:t>
            </a:r>
            <a:r>
              <a:rPr lang="en-US" sz="1800" dirty="0">
                <a:solidFill>
                  <a:schemeClr val="accent1">
                    <a:lumMod val="75000"/>
                  </a:schemeClr>
                </a:solidFill>
                <a:latin typeface="Times New Roman" panose="02020603050405020304" pitchFamily="18" charset="0"/>
                <a:cs typeface="Times New Roman" panose="02020603050405020304" pitchFamily="18" charset="0"/>
              </a:rPr>
              <a:t>provides flexibility but requires careful attention to variable types.</a:t>
            </a: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High-Level Language</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is a high-level language, abstracting low-level details and providing a more user-friendly interface.</a:t>
            </a: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Large Standard Library</a:t>
            </a: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comes with a vast standard library that includes modules and packages for various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tasks. This </a:t>
            </a:r>
            <a:r>
              <a:rPr lang="en-US" sz="1800" dirty="0">
                <a:solidFill>
                  <a:schemeClr val="accent1">
                    <a:lumMod val="75000"/>
                  </a:schemeClr>
                </a:solidFill>
                <a:latin typeface="Times New Roman" panose="02020603050405020304" pitchFamily="18" charset="0"/>
                <a:cs typeface="Times New Roman" panose="02020603050405020304" pitchFamily="18" charset="0"/>
              </a:rPr>
              <a:t>reduces the need for external libraries for many common programming tasks</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 </a:t>
            </a:r>
            <a:endParaRPr lang="en-US" sz="1800" dirty="0">
              <a:solidFill>
                <a:schemeClr val="accent1">
                  <a:lumMod val="75000"/>
                </a:schemeClr>
              </a:solidFill>
              <a:latin typeface="Times New Roman" panose="02020603050405020304" pitchFamily="18" charset="0"/>
              <a:cs typeface="Times New Roman" panose="02020603050405020304" pitchFamily="18" charset="0"/>
            </a:endParaRPr>
          </a:p>
          <a:p>
            <a:pPr>
              <a:lnSpc>
                <a:spcPct val="100000"/>
              </a:lnSpc>
            </a:pPr>
            <a:r>
              <a:rPr lang="en-US" sz="1800" b="1" dirty="0">
                <a:solidFill>
                  <a:schemeClr val="accent1">
                    <a:lumMod val="75000"/>
                  </a:schemeClr>
                </a:solidFill>
                <a:latin typeface="Times New Roman" panose="02020603050405020304" pitchFamily="18" charset="0"/>
                <a:cs typeface="Times New Roman" panose="02020603050405020304" pitchFamily="18" charset="0"/>
              </a:rPr>
              <a:t>Community and Documentation</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 Python </a:t>
            </a:r>
            <a:r>
              <a:rPr lang="en-US" sz="1800" dirty="0">
                <a:solidFill>
                  <a:schemeClr val="accent1">
                    <a:lumMod val="75000"/>
                  </a:schemeClr>
                </a:solidFill>
                <a:latin typeface="Times New Roman" panose="02020603050405020304" pitchFamily="18" charset="0"/>
                <a:cs typeface="Times New Roman" panose="02020603050405020304" pitchFamily="18" charset="0"/>
              </a:rPr>
              <a:t>has a large and active community of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developers. Extensive </a:t>
            </a:r>
            <a:r>
              <a:rPr lang="en-US" sz="1800" dirty="0">
                <a:solidFill>
                  <a:schemeClr val="accent1">
                    <a:lumMod val="75000"/>
                  </a:schemeClr>
                </a:solidFill>
                <a:latin typeface="Times New Roman" panose="02020603050405020304" pitchFamily="18" charset="0"/>
                <a:cs typeface="Times New Roman" panose="02020603050405020304" pitchFamily="18" charset="0"/>
              </a:rPr>
              <a:t>documentation and online resources make it easy for developers to find solutions and learn the language</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1B2A20A6-2C11-4CB1-9193-A0D80FC8463A}" type="slidenum">
              <a:rPr lang="en-IN" smtClean="0"/>
              <a:t>4</a:t>
            </a:fld>
            <a:endParaRPr lang="en-IN"/>
          </a:p>
        </p:txBody>
      </p:sp>
      <p:sp>
        <p:nvSpPr>
          <p:cNvPr id="5" name="Rectangle 4"/>
          <p:cNvSpPr/>
          <p:nvPr/>
        </p:nvSpPr>
        <p:spPr>
          <a:xfrm>
            <a:off x="0" y="1711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a:t>Python </a:t>
            </a:r>
            <a:r>
              <a:rPr lang="fi-FI" sz="3200" b="1" dirty="0" smtClean="0"/>
              <a:t>Characteristics</a:t>
            </a:r>
            <a:endParaRPr lang="en-US" sz="3200" b="1" dirty="0"/>
          </a:p>
        </p:txBody>
      </p:sp>
    </p:spTree>
    <p:extLst>
      <p:ext uri="{BB962C8B-B14F-4D97-AF65-F5344CB8AC3E}">
        <p14:creationId xmlns:p14="http://schemas.microsoft.com/office/powerpoint/2010/main" val="23009519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 y="1334135"/>
            <a:ext cx="12110720" cy="5022215"/>
          </a:xfrm>
        </p:spPr>
        <p:txBody>
          <a:bodyPr>
            <a:noAutofit/>
          </a:bodyPr>
          <a:lstStyle/>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Platform Independence: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is platform-independent, meaning Python code can run on different operating systems without modification.</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Object-Oriented: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supports object-oriented programming (OOP) principles. Encapsulation, inheritance, and polymorphism are integral to Python's OOP capabilities.</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Extensibility</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  Python can be easily extended with modules written in C or C++, allowing integration with existing systems.</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Ecosystem and Package Management: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has a robust ecosystem with a package management system (pip) for easy installation and distribution of libraries.</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Community-Driven Development: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Python's development is guided by the Python Enhancement Proposal (PEP) process, which involves the Python community in decision-making.</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Portability: </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Python programs can run on different platforms with minimal or no modifications, enhancing portability.</a:t>
            </a:r>
          </a:p>
          <a:p>
            <a:pPr>
              <a:lnSpc>
                <a:spcPct val="100000"/>
              </a:lnSpc>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Scalability</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 Python is scalable, supporting both small scripts and large applications.</a:t>
            </a:r>
            <a:endParaRPr lang="en-US" sz="18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B2A20A6-2C11-4CB1-9193-A0D80FC8463A}" type="slidenum">
              <a:rPr lang="en-IN" smtClean="0"/>
              <a:t>5</a:t>
            </a:fld>
            <a:endParaRPr lang="en-IN"/>
          </a:p>
        </p:txBody>
      </p:sp>
      <p:sp>
        <p:nvSpPr>
          <p:cNvPr id="5" name="Rectangle 4"/>
          <p:cNvSpPr/>
          <p:nvPr/>
        </p:nvSpPr>
        <p:spPr>
          <a:xfrm>
            <a:off x="0" y="1711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a:t>Python </a:t>
            </a:r>
            <a:r>
              <a:rPr lang="fi-FI" sz="3200" b="1" dirty="0" smtClean="0"/>
              <a:t>Characteristics Cont..</a:t>
            </a:r>
            <a:endParaRPr lang="en-US" sz="3200" b="1" dirty="0"/>
          </a:p>
        </p:txBody>
      </p:sp>
    </p:spTree>
    <p:extLst>
      <p:ext uri="{BB962C8B-B14F-4D97-AF65-F5344CB8AC3E}">
        <p14:creationId xmlns:p14="http://schemas.microsoft.com/office/powerpoint/2010/main" val="37713411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solidFill>
                  <a:schemeClr val="accent1">
                    <a:lumMod val="75000"/>
                  </a:schemeClr>
                </a:solidFill>
                <a:latin typeface="Times New Roman" panose="02020603050405020304" pitchFamily="18" charset="0"/>
                <a:cs typeface="Times New Roman" panose="02020603050405020304" pitchFamily="18" charset="0"/>
              </a:rPr>
              <a:t>The language underwent a significant shift with the introduction of Python 3 in December 2008. </a:t>
            </a:r>
          </a:p>
          <a:p>
            <a:r>
              <a:rPr lang="en-US" sz="2400" dirty="0">
                <a:solidFill>
                  <a:schemeClr val="accent1">
                    <a:lumMod val="75000"/>
                  </a:schemeClr>
                </a:solidFill>
                <a:latin typeface="Times New Roman" panose="02020603050405020304" pitchFamily="18" charset="0"/>
                <a:cs typeface="Times New Roman" panose="02020603050405020304" pitchFamily="18" charset="0"/>
              </a:rPr>
              <a:t>This transition, while necessary for the language's growth, initially created a divide within the Python community. </a:t>
            </a:r>
          </a:p>
          <a:p>
            <a:r>
              <a:rPr lang="en-US" sz="2400" dirty="0">
                <a:solidFill>
                  <a:schemeClr val="accent1">
                    <a:lumMod val="75000"/>
                  </a:schemeClr>
                </a:solidFill>
                <a:latin typeface="Times New Roman" panose="02020603050405020304" pitchFamily="18" charset="0"/>
                <a:cs typeface="Times New Roman" panose="02020603050405020304" pitchFamily="18" charset="0"/>
              </a:rPr>
              <a:t>Over time, however, the majority of developers migrated to Python 3, leaving Python 2 behind.</a:t>
            </a:r>
          </a:p>
          <a:p>
            <a:r>
              <a:rPr lang="en-US" sz="2400" dirty="0">
                <a:solidFill>
                  <a:schemeClr val="accent1">
                    <a:lumMod val="75000"/>
                  </a:schemeClr>
                </a:solidFill>
                <a:latin typeface="Times New Roman" panose="02020603050405020304" pitchFamily="18" charset="0"/>
                <a:cs typeface="Times New Roman" panose="02020603050405020304" pitchFamily="18" charset="0"/>
              </a:rPr>
              <a:t> As of the latest developments, Python 2 is no longer officially supported.</a:t>
            </a:r>
          </a:p>
        </p:txBody>
      </p:sp>
      <p:sp>
        <p:nvSpPr>
          <p:cNvPr id="4" name="Slide Number Placeholder 3"/>
          <p:cNvSpPr>
            <a:spLocks noGrp="1"/>
          </p:cNvSpPr>
          <p:nvPr>
            <p:ph type="sldNum" sz="quarter" idx="12"/>
          </p:nvPr>
        </p:nvSpPr>
        <p:spPr/>
        <p:txBody>
          <a:bodyPr/>
          <a:lstStyle/>
          <a:p>
            <a:fld id="{1B2A20A6-2C11-4CB1-9193-A0D80FC8463A}" type="slidenum">
              <a:rPr lang="en-IN" smtClean="0"/>
              <a:t>6</a:t>
            </a:fld>
            <a:endParaRPr lang="en-IN"/>
          </a:p>
        </p:txBody>
      </p:sp>
      <p:sp>
        <p:nvSpPr>
          <p:cNvPr id="5" name="Rectangle 4"/>
          <p:cNvSpPr/>
          <p:nvPr/>
        </p:nvSpPr>
        <p:spPr>
          <a:xfrm>
            <a:off x="0" y="537327"/>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a:t>Python 2 vs. Python 3</a:t>
            </a:r>
            <a:endParaRPr lang="en-US" sz="3200" b="1" dirty="0"/>
          </a:p>
        </p:txBody>
      </p:sp>
    </p:spTree>
    <p:extLst>
      <p:ext uri="{BB962C8B-B14F-4D97-AF65-F5344CB8AC3E}">
        <p14:creationId xmlns:p14="http://schemas.microsoft.com/office/powerpoint/2010/main" val="215410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Limitations </a:t>
            </a:r>
            <a:r>
              <a:rPr lang="en-US" sz="3200" b="1" dirty="0"/>
              <a:t>of Python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a:t>
            </a:fld>
            <a:endParaRPr lang="en-US"/>
          </a:p>
        </p:txBody>
      </p:sp>
      <p:sp>
        <p:nvSpPr>
          <p:cNvPr id="6" name="Rectangle 5"/>
          <p:cNvSpPr/>
          <p:nvPr/>
        </p:nvSpPr>
        <p:spPr>
          <a:xfrm>
            <a:off x="237507" y="1641945"/>
            <a:ext cx="11748388" cy="5078313"/>
          </a:xfrm>
          <a:prstGeom prst="rect">
            <a:avLst/>
          </a:prstGeom>
        </p:spPr>
        <p:txBody>
          <a:bodyPr wrap="square" numCol="1">
            <a:spAutoFit/>
          </a:bodyPr>
          <a:lstStyle/>
          <a:p>
            <a:pPr>
              <a:lnSpc>
                <a:spcPct val="150000"/>
              </a:lnSpc>
            </a:pPr>
            <a:r>
              <a:rPr lang="en-US" b="1" dirty="0" smtClean="0">
                <a:solidFill>
                  <a:schemeClr val="accent1">
                    <a:lumMod val="75000"/>
                  </a:schemeClr>
                </a:solidFill>
              </a:rPr>
              <a:t>Parallel </a:t>
            </a:r>
            <a:r>
              <a:rPr lang="en-US" b="1" dirty="0">
                <a:solidFill>
                  <a:schemeClr val="accent1">
                    <a:lumMod val="75000"/>
                  </a:schemeClr>
                </a:solidFill>
              </a:rPr>
              <a:t>processing can be done in Python but not as elegantly as done in some other languages (like JavaScript and Go Lang).</a:t>
            </a:r>
          </a:p>
          <a:p>
            <a:pPr>
              <a:lnSpc>
                <a:spcPct val="150000"/>
              </a:lnSpc>
            </a:pPr>
            <a:r>
              <a:rPr lang="en-US" b="1" dirty="0">
                <a:solidFill>
                  <a:schemeClr val="accent1">
                    <a:lumMod val="75000"/>
                  </a:schemeClr>
                </a:solidFill>
              </a:rPr>
              <a:t>• Being an interpreted language, Python is slow as compared to C/C++. Python is not a very good choice for those developing a high-graphic 3d game that takes up a lot of CPU.</a:t>
            </a:r>
          </a:p>
          <a:p>
            <a:pPr>
              <a:lnSpc>
                <a:spcPct val="150000"/>
              </a:lnSpc>
            </a:pPr>
            <a:r>
              <a:rPr lang="en-US" b="1" dirty="0">
                <a:solidFill>
                  <a:schemeClr val="accent1">
                    <a:lumMod val="75000"/>
                  </a:schemeClr>
                </a:solidFill>
              </a:rPr>
              <a:t>• As compared to other languages, Python is evolving continuously and there is little substantial documentation available for the language.</a:t>
            </a:r>
          </a:p>
          <a:p>
            <a:pPr>
              <a:lnSpc>
                <a:spcPct val="150000"/>
              </a:lnSpc>
            </a:pPr>
            <a:r>
              <a:rPr lang="en-US" b="1" dirty="0">
                <a:solidFill>
                  <a:schemeClr val="accent1">
                    <a:lumMod val="75000"/>
                  </a:schemeClr>
                </a:solidFill>
              </a:rPr>
              <a:t>• As of now, there are few users of Python as compared to those using C, C++ or Java.</a:t>
            </a:r>
          </a:p>
          <a:p>
            <a:pPr>
              <a:lnSpc>
                <a:spcPct val="150000"/>
              </a:lnSpc>
            </a:pPr>
            <a:r>
              <a:rPr lang="en-US" b="1" dirty="0">
                <a:solidFill>
                  <a:schemeClr val="accent1">
                    <a:lumMod val="75000"/>
                  </a:schemeClr>
                </a:solidFill>
              </a:rPr>
              <a:t>• It lacks true multiprocessor support.</a:t>
            </a:r>
          </a:p>
          <a:p>
            <a:pPr>
              <a:lnSpc>
                <a:spcPct val="150000"/>
              </a:lnSpc>
            </a:pPr>
            <a:r>
              <a:rPr lang="en-US" b="1" dirty="0">
                <a:solidFill>
                  <a:schemeClr val="accent1">
                    <a:lumMod val="75000"/>
                  </a:schemeClr>
                </a:solidFill>
              </a:rPr>
              <a:t>• It has very limited commercial support point.</a:t>
            </a:r>
          </a:p>
          <a:p>
            <a:pPr>
              <a:lnSpc>
                <a:spcPct val="150000"/>
              </a:lnSpc>
            </a:pPr>
            <a:r>
              <a:rPr lang="en-US" b="1" dirty="0">
                <a:solidFill>
                  <a:schemeClr val="accent1">
                    <a:lumMod val="75000"/>
                  </a:schemeClr>
                </a:solidFill>
              </a:rPr>
              <a:t>• Python is slower than C or C++ when it comes to computation heavy tasks and desktop applications.</a:t>
            </a:r>
          </a:p>
          <a:p>
            <a:pPr>
              <a:lnSpc>
                <a:spcPct val="150000"/>
              </a:lnSpc>
            </a:pPr>
            <a:r>
              <a:rPr lang="en-US" b="1" dirty="0">
                <a:solidFill>
                  <a:schemeClr val="accent1">
                    <a:lumMod val="75000"/>
                  </a:schemeClr>
                </a:solidFill>
              </a:rPr>
              <a:t>• It is difficult to pack up a big Python application into a single executable file. This makes it difficult to distribute Python to </a:t>
            </a:r>
            <a:r>
              <a:rPr lang="en-US" b="1" dirty="0" smtClean="0">
                <a:solidFill>
                  <a:schemeClr val="accent1">
                    <a:lumMod val="75000"/>
                  </a:schemeClr>
                </a:solidFill>
              </a:rPr>
              <a:t>non-technical.</a:t>
            </a:r>
            <a:endParaRPr lang="en-US" b="1" dirty="0" smtClean="0"/>
          </a:p>
        </p:txBody>
      </p:sp>
    </p:spTree>
    <p:extLst>
      <p:ext uri="{BB962C8B-B14F-4D97-AF65-F5344CB8AC3E}">
        <p14:creationId xmlns:p14="http://schemas.microsoft.com/office/powerpoint/2010/main" val="35906377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Applications </a:t>
            </a:r>
            <a:r>
              <a:rPr lang="en-US" sz="3200" b="1" dirty="0"/>
              <a:t>of Python</a:t>
            </a:r>
            <a:endParaRPr lang="en-US" sz="3200" dirty="0"/>
          </a:p>
        </p:txBody>
      </p:sp>
      <p:sp>
        <p:nvSpPr>
          <p:cNvPr id="4" name="Slide Number Placeholder 3"/>
          <p:cNvSpPr>
            <a:spLocks noGrp="1"/>
          </p:cNvSpPr>
          <p:nvPr>
            <p:ph type="sldNum" sz="quarter" idx="12"/>
          </p:nvPr>
        </p:nvSpPr>
        <p:spPr>
          <a:xfrm>
            <a:off x="11633971" y="6321262"/>
            <a:ext cx="317376" cy="365125"/>
          </a:xfrm>
        </p:spPr>
        <p:txBody>
          <a:bodyPr/>
          <a:lstStyle/>
          <a:p>
            <a:fld id="{04EAA311-F8B8-413B-ACCD-5A57951484CD}" type="slidenum">
              <a:rPr lang="en-US" smtClean="0"/>
              <a:t>8</a:t>
            </a:fld>
            <a:endParaRPr lang="en-US" dirty="0"/>
          </a:p>
        </p:txBody>
      </p:sp>
      <p:sp>
        <p:nvSpPr>
          <p:cNvPr id="6" name="Rectangle 5"/>
          <p:cNvSpPr/>
          <p:nvPr/>
        </p:nvSpPr>
        <p:spPr>
          <a:xfrm>
            <a:off x="199929" y="1608074"/>
            <a:ext cx="11592730" cy="5078313"/>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 </a:t>
            </a:r>
            <a:r>
              <a:rPr lang="en-US" b="1" dirty="0">
                <a:solidFill>
                  <a:srgbClr val="C00000"/>
                </a:solidFill>
              </a:rPr>
              <a:t>Embedded scripting language: </a:t>
            </a:r>
            <a:r>
              <a:rPr lang="en-US" b="1" dirty="0">
                <a:solidFill>
                  <a:schemeClr val="accent1">
                    <a:lumMod val="75000"/>
                  </a:schemeClr>
                </a:solidFill>
              </a:rPr>
              <a:t>Python is used as an embedded scripting language for various testing/ building/ deployment/ monitoring frameworks, scientific apps, and quick scripts. </a:t>
            </a:r>
          </a:p>
          <a:p>
            <a:pPr algn="just">
              <a:lnSpc>
                <a:spcPct val="150000"/>
              </a:lnSpc>
            </a:pPr>
            <a:r>
              <a:rPr lang="en-US" b="1" dirty="0">
                <a:solidFill>
                  <a:schemeClr val="accent1">
                    <a:lumMod val="75000"/>
                  </a:schemeClr>
                </a:solidFill>
              </a:rPr>
              <a:t>• </a:t>
            </a:r>
            <a:r>
              <a:rPr lang="en-US" b="1" dirty="0">
                <a:solidFill>
                  <a:srgbClr val="C00000"/>
                </a:solidFill>
              </a:rPr>
              <a:t>3D Software: </a:t>
            </a:r>
            <a:r>
              <a:rPr lang="en-US" b="1" dirty="0">
                <a:solidFill>
                  <a:schemeClr val="accent1">
                    <a:lumMod val="75000"/>
                  </a:schemeClr>
                </a:solidFill>
              </a:rPr>
              <a:t>3D software like Maya uses Python for automating small user tasks, or for doing more complex integration such as talking to databases and asset management systems. </a:t>
            </a:r>
          </a:p>
          <a:p>
            <a:pPr algn="just">
              <a:lnSpc>
                <a:spcPct val="150000"/>
              </a:lnSpc>
            </a:pPr>
            <a:r>
              <a:rPr lang="en-US" b="1" dirty="0">
                <a:solidFill>
                  <a:schemeClr val="accent1">
                    <a:lumMod val="75000"/>
                  </a:schemeClr>
                </a:solidFill>
              </a:rPr>
              <a:t>• </a:t>
            </a:r>
            <a:r>
              <a:rPr lang="en-US" b="1" dirty="0">
                <a:solidFill>
                  <a:srgbClr val="C00000"/>
                </a:solidFill>
              </a:rPr>
              <a:t>Web development: </a:t>
            </a:r>
            <a:r>
              <a:rPr lang="en-US" b="1" dirty="0">
                <a:solidFill>
                  <a:schemeClr val="accent1">
                    <a:lumMod val="75000"/>
                  </a:schemeClr>
                </a:solidFill>
              </a:rPr>
              <a:t>Python is an easily extensible language that provides good integration with database and other web standards. </a:t>
            </a:r>
            <a:endParaRPr lang="en-US" b="1" dirty="0" smtClean="0">
              <a:solidFill>
                <a:schemeClr val="accent1">
                  <a:lumMod val="75000"/>
                </a:schemeClr>
              </a:solidFill>
            </a:endParaRPr>
          </a:p>
          <a:p>
            <a:pPr>
              <a:lnSpc>
                <a:spcPct val="150000"/>
              </a:lnSpc>
            </a:pPr>
            <a:r>
              <a:rPr lang="en-US" b="1" i="1" dirty="0" smtClean="0">
                <a:solidFill>
                  <a:srgbClr val="C00000"/>
                </a:solidFill>
              </a:rPr>
              <a:t>GUI-based </a:t>
            </a:r>
            <a:r>
              <a:rPr lang="en-US" b="1" i="1" dirty="0">
                <a:solidFill>
                  <a:srgbClr val="C00000"/>
                </a:solidFill>
              </a:rPr>
              <a:t>desktop applications: </a:t>
            </a:r>
            <a:r>
              <a:rPr lang="en-US" b="1" dirty="0">
                <a:solidFill>
                  <a:schemeClr val="accent1">
                    <a:lumMod val="75000"/>
                  </a:schemeClr>
                </a:solidFill>
              </a:rPr>
              <a:t>Simple syntax, modular architecture, rich text processing tools and the ability to work on multiple operating systems makes Python a preferred choice for developing desktop-based applications. </a:t>
            </a:r>
            <a:endParaRPr lang="en-US" b="1" dirty="0" smtClean="0">
              <a:solidFill>
                <a:schemeClr val="accent1">
                  <a:lumMod val="75000"/>
                </a:schemeClr>
              </a:solidFill>
            </a:endParaRPr>
          </a:p>
          <a:p>
            <a:pPr>
              <a:lnSpc>
                <a:spcPct val="150000"/>
              </a:lnSpc>
            </a:pPr>
            <a:r>
              <a:rPr lang="en-US" b="1" dirty="0" smtClean="0">
                <a:solidFill>
                  <a:schemeClr val="accent1">
                    <a:lumMod val="75000"/>
                  </a:schemeClr>
                </a:solidFill>
              </a:rPr>
              <a:t>• </a:t>
            </a:r>
            <a:r>
              <a:rPr lang="en-US" b="1" i="1" dirty="0">
                <a:solidFill>
                  <a:srgbClr val="C00000"/>
                </a:solidFill>
              </a:rPr>
              <a:t>Image processing and graphic design applications: </a:t>
            </a:r>
            <a:r>
              <a:rPr lang="en-US" b="1" dirty="0">
                <a:solidFill>
                  <a:schemeClr val="accent1">
                    <a:lumMod val="75000"/>
                  </a:schemeClr>
                </a:solidFill>
              </a:rPr>
              <a:t>Python is used to make 2D imaging software such as </a:t>
            </a:r>
            <a:r>
              <a:rPr lang="en-US" b="1" dirty="0" err="1">
                <a:solidFill>
                  <a:schemeClr val="accent1">
                    <a:lumMod val="75000"/>
                  </a:schemeClr>
                </a:solidFill>
              </a:rPr>
              <a:t>Inkscape</a:t>
            </a:r>
            <a:r>
              <a:rPr lang="en-US" b="1" dirty="0">
                <a:solidFill>
                  <a:schemeClr val="accent1">
                    <a:lumMod val="75000"/>
                  </a:schemeClr>
                </a:solidFill>
              </a:rPr>
              <a:t>, GIMP, Paint Shop Pro and </a:t>
            </a:r>
            <a:r>
              <a:rPr lang="en-US" b="1" dirty="0" err="1">
                <a:solidFill>
                  <a:schemeClr val="accent1">
                    <a:lumMod val="75000"/>
                  </a:schemeClr>
                </a:solidFill>
              </a:rPr>
              <a:t>Scribus</a:t>
            </a:r>
            <a:r>
              <a:rPr lang="en-US" b="1" dirty="0">
                <a:solidFill>
                  <a:schemeClr val="accent1">
                    <a:lumMod val="75000"/>
                  </a:schemeClr>
                </a:solidFill>
              </a:rPr>
              <a:t>. It is also used to make 3D animation packages, like Blender, </a:t>
            </a:r>
            <a:r>
              <a:rPr lang="en-US" b="1" dirty="0" smtClean="0">
                <a:solidFill>
                  <a:schemeClr val="accent1">
                    <a:lumMod val="75000"/>
                  </a:schemeClr>
                </a:solidFill>
              </a:rPr>
              <a:t>3ds </a:t>
            </a:r>
            <a:r>
              <a:rPr lang="en-US" b="1" dirty="0">
                <a:solidFill>
                  <a:schemeClr val="accent1">
                    <a:lumMod val="75000"/>
                  </a:schemeClr>
                </a:solidFill>
              </a:rPr>
              <a:t>Max, Cinema 4D, Houdini, </a:t>
            </a:r>
            <a:r>
              <a:rPr lang="en-US" b="1" dirty="0" err="1">
                <a:solidFill>
                  <a:schemeClr val="accent1">
                    <a:lumMod val="75000"/>
                  </a:schemeClr>
                </a:solidFill>
              </a:rPr>
              <a:t>Lightwave</a:t>
            </a:r>
            <a:r>
              <a:rPr lang="en-US" b="1" dirty="0">
                <a:solidFill>
                  <a:schemeClr val="accent1">
                    <a:lumMod val="75000"/>
                  </a:schemeClr>
                </a:solidFill>
              </a:rPr>
              <a:t> and Maya. </a:t>
            </a:r>
          </a:p>
        </p:txBody>
      </p:sp>
    </p:spTree>
    <p:extLst>
      <p:ext uri="{BB962C8B-B14F-4D97-AF65-F5344CB8AC3E}">
        <p14:creationId xmlns:p14="http://schemas.microsoft.com/office/powerpoint/2010/main" val="14863466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Applications </a:t>
            </a:r>
            <a:r>
              <a:rPr lang="en-US" sz="3200" b="1" dirty="0"/>
              <a:t>of Python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9</a:t>
            </a:fld>
            <a:endParaRPr lang="en-US"/>
          </a:p>
        </p:txBody>
      </p:sp>
      <p:sp>
        <p:nvSpPr>
          <p:cNvPr id="6" name="Rectangle 5"/>
          <p:cNvSpPr/>
          <p:nvPr/>
        </p:nvSpPr>
        <p:spPr>
          <a:xfrm>
            <a:off x="285008" y="1706333"/>
            <a:ext cx="11616480" cy="5078313"/>
          </a:xfrm>
          <a:prstGeom prst="rect">
            <a:avLst/>
          </a:prstGeom>
        </p:spPr>
        <p:txBody>
          <a:bodyPr wrap="square" numCol="1">
            <a:spAutoFit/>
          </a:bodyPr>
          <a:lstStyle/>
          <a:p>
            <a:pPr algn="just">
              <a:lnSpc>
                <a:spcPct val="150000"/>
              </a:lnSpc>
            </a:pPr>
            <a:r>
              <a:rPr lang="en-US" b="1" dirty="0">
                <a:solidFill>
                  <a:schemeClr val="accent1">
                    <a:lumMod val="75000"/>
                  </a:schemeClr>
                </a:solidFill>
              </a:rPr>
              <a:t>• </a:t>
            </a:r>
            <a:r>
              <a:rPr lang="en-US" b="1" i="1" dirty="0" smtClean="0">
                <a:solidFill>
                  <a:srgbClr val="C00000"/>
                </a:solidFill>
              </a:rPr>
              <a:t>Scientific </a:t>
            </a:r>
            <a:r>
              <a:rPr lang="en-US" b="1" i="1" dirty="0">
                <a:solidFill>
                  <a:srgbClr val="C00000"/>
                </a:solidFill>
              </a:rPr>
              <a:t>and computational applications: </a:t>
            </a:r>
            <a:r>
              <a:rPr lang="en-US" b="1" dirty="0">
                <a:solidFill>
                  <a:schemeClr val="accent1">
                    <a:lumMod val="75000"/>
                  </a:schemeClr>
                </a:solidFill>
              </a:rPr>
              <a:t>Features like high speed, productivity and availability of tools, such as Scientific Python and Numeric Python, have made Python a preferred language to perform computation and processing of scientific data. 3D modeling software, such as </a:t>
            </a:r>
            <a:r>
              <a:rPr lang="en-US" b="1" dirty="0" err="1">
                <a:solidFill>
                  <a:schemeClr val="accent1">
                    <a:lumMod val="75000"/>
                  </a:schemeClr>
                </a:solidFill>
              </a:rPr>
              <a:t>FreeCAD</a:t>
            </a:r>
            <a:r>
              <a:rPr lang="en-US" b="1" dirty="0">
                <a:solidFill>
                  <a:schemeClr val="accent1">
                    <a:lumMod val="75000"/>
                  </a:schemeClr>
                </a:solidFill>
              </a:rPr>
              <a:t>, and finite element method software, like </a:t>
            </a:r>
            <a:r>
              <a:rPr lang="en-US" b="1" dirty="0" err="1">
                <a:solidFill>
                  <a:schemeClr val="accent1">
                    <a:lumMod val="75000"/>
                  </a:schemeClr>
                </a:solidFill>
              </a:rPr>
              <a:t>Abaqus</a:t>
            </a:r>
            <a:r>
              <a:rPr lang="en-US" b="1" dirty="0">
                <a:solidFill>
                  <a:schemeClr val="accent1">
                    <a:lumMod val="75000"/>
                  </a:schemeClr>
                </a:solidFill>
              </a:rPr>
              <a:t>, are coded in Python. </a:t>
            </a:r>
          </a:p>
          <a:p>
            <a:pPr algn="just">
              <a:lnSpc>
                <a:spcPct val="150000"/>
              </a:lnSpc>
            </a:pPr>
            <a:r>
              <a:rPr lang="en-US" b="1" i="1" dirty="0" smtClean="0">
                <a:solidFill>
                  <a:srgbClr val="C00000"/>
                </a:solidFill>
              </a:rPr>
              <a:t>Games</a:t>
            </a:r>
            <a:r>
              <a:rPr lang="en-US" b="1" i="1" dirty="0">
                <a:solidFill>
                  <a:srgbClr val="C00000"/>
                </a:solidFill>
              </a:rPr>
              <a:t>: </a:t>
            </a:r>
            <a:r>
              <a:rPr lang="en-US" b="1" dirty="0">
                <a:solidFill>
                  <a:schemeClr val="accent1">
                    <a:lumMod val="75000"/>
                  </a:schemeClr>
                </a:solidFill>
              </a:rPr>
              <a:t>Python has various modules, libraries, and platforms that support development of games. </a:t>
            </a:r>
            <a:r>
              <a:rPr lang="en-US" b="1" dirty="0" smtClean="0">
                <a:solidFill>
                  <a:schemeClr val="accent1">
                    <a:lumMod val="75000"/>
                  </a:schemeClr>
                </a:solidFill>
              </a:rPr>
              <a:t>Games </a:t>
            </a:r>
            <a:r>
              <a:rPr lang="en-US" b="1" dirty="0">
                <a:solidFill>
                  <a:schemeClr val="accent1">
                    <a:lumMod val="75000"/>
                  </a:schemeClr>
                </a:solidFill>
              </a:rPr>
              <a:t>like Civilization-IV, Disney's </a:t>
            </a:r>
            <a:r>
              <a:rPr lang="en-US" b="1" dirty="0" err="1">
                <a:solidFill>
                  <a:schemeClr val="accent1">
                    <a:lumMod val="75000"/>
                  </a:schemeClr>
                </a:solidFill>
              </a:rPr>
              <a:t>Toontown</a:t>
            </a:r>
            <a:r>
              <a:rPr lang="en-US" b="1" dirty="0">
                <a:solidFill>
                  <a:schemeClr val="accent1">
                    <a:lumMod val="75000"/>
                  </a:schemeClr>
                </a:solidFill>
              </a:rPr>
              <a:t> Online, Vega Strike, etc. are coded using Python. </a:t>
            </a:r>
          </a:p>
          <a:p>
            <a:pPr algn="just">
              <a:lnSpc>
                <a:spcPct val="150000"/>
              </a:lnSpc>
            </a:pPr>
            <a:r>
              <a:rPr lang="en-US" b="1" dirty="0" smtClean="0">
                <a:solidFill>
                  <a:schemeClr val="accent1">
                    <a:lumMod val="75000"/>
                  </a:schemeClr>
                </a:solidFill>
              </a:rPr>
              <a:t>• </a:t>
            </a:r>
            <a:r>
              <a:rPr lang="en-US" b="1" i="1" dirty="0" smtClean="0">
                <a:solidFill>
                  <a:srgbClr val="C00000"/>
                </a:solidFill>
              </a:rPr>
              <a:t>Enterprise </a:t>
            </a:r>
            <a:r>
              <a:rPr lang="en-US" b="1" i="1" dirty="0">
                <a:solidFill>
                  <a:srgbClr val="C00000"/>
                </a:solidFill>
              </a:rPr>
              <a:t>and business applications: </a:t>
            </a:r>
            <a:r>
              <a:rPr lang="en-US" b="1" dirty="0">
                <a:solidFill>
                  <a:schemeClr val="accent1">
                    <a:lumMod val="75000"/>
                  </a:schemeClr>
                </a:solidFill>
              </a:rPr>
              <a:t>Simple and reliable syntax, modules and libraries, extensibility, scalability together make Python a suitable coding language for customizing larger applications. For example, </a:t>
            </a:r>
            <a:r>
              <a:rPr lang="en-US" b="1" dirty="0" err="1">
                <a:solidFill>
                  <a:schemeClr val="accent1">
                    <a:lumMod val="75000"/>
                  </a:schemeClr>
                </a:solidFill>
              </a:rPr>
              <a:t>Reddit</a:t>
            </a:r>
            <a:r>
              <a:rPr lang="en-US" b="1" dirty="0">
                <a:solidFill>
                  <a:schemeClr val="accent1">
                    <a:lumMod val="75000"/>
                  </a:schemeClr>
                </a:solidFill>
              </a:rPr>
              <a:t> which was originally written in Common Lips, was rewritten in Python in 2005. A large part of </a:t>
            </a:r>
            <a:r>
              <a:rPr lang="en-US" b="1" dirty="0" smtClean="0">
                <a:solidFill>
                  <a:schemeClr val="accent1">
                    <a:lumMod val="75000"/>
                  </a:schemeClr>
                </a:solidFill>
              </a:rPr>
              <a:t> </a:t>
            </a:r>
            <a:r>
              <a:rPr lang="en-US" b="1" dirty="0" err="1" smtClean="0">
                <a:solidFill>
                  <a:schemeClr val="accent1">
                    <a:lumMod val="75000"/>
                  </a:schemeClr>
                </a:solidFill>
              </a:rPr>
              <a:t>Youtube</a:t>
            </a:r>
            <a:r>
              <a:rPr lang="en-US" b="1" dirty="0" smtClean="0">
                <a:solidFill>
                  <a:schemeClr val="accent1">
                    <a:lumMod val="75000"/>
                  </a:schemeClr>
                </a:solidFill>
              </a:rPr>
              <a:t> </a:t>
            </a:r>
            <a:r>
              <a:rPr lang="en-US" b="1" dirty="0">
                <a:solidFill>
                  <a:schemeClr val="accent1">
                    <a:lumMod val="75000"/>
                  </a:schemeClr>
                </a:solidFill>
              </a:rPr>
              <a:t>code is also written in Python. </a:t>
            </a:r>
          </a:p>
          <a:p>
            <a:pPr algn="just">
              <a:lnSpc>
                <a:spcPct val="150000"/>
              </a:lnSpc>
            </a:pPr>
            <a:r>
              <a:rPr lang="en-US" b="1" dirty="0">
                <a:solidFill>
                  <a:schemeClr val="accent1">
                    <a:lumMod val="75000"/>
                  </a:schemeClr>
                </a:solidFill>
              </a:rPr>
              <a:t>• </a:t>
            </a:r>
            <a:r>
              <a:rPr lang="en-US" b="1" i="1" dirty="0">
                <a:solidFill>
                  <a:srgbClr val="C00000"/>
                </a:solidFill>
              </a:rPr>
              <a:t>Operating Systems: </a:t>
            </a:r>
            <a:r>
              <a:rPr lang="en-US" b="1" dirty="0">
                <a:solidFill>
                  <a:schemeClr val="accent1">
                    <a:lumMod val="75000"/>
                  </a:schemeClr>
                </a:solidFill>
              </a:rPr>
              <a:t>Python forms an integral part of Linux distributions. </a:t>
            </a:r>
            <a:endParaRPr lang="en-US" b="1" dirty="0" smtClean="0">
              <a:solidFill>
                <a:schemeClr val="accent1">
                  <a:lumMod val="75000"/>
                </a:schemeClr>
              </a:solidFill>
            </a:endParaRPr>
          </a:p>
          <a:p>
            <a:pPr algn="just">
              <a:lnSpc>
                <a:spcPct val="150000"/>
              </a:lnSpc>
            </a:pPr>
            <a:endParaRPr lang="en-US" b="1" dirty="0">
              <a:solidFill>
                <a:schemeClr val="accent1">
                  <a:lumMod val="75000"/>
                </a:schemeClr>
              </a:solidFill>
            </a:endParaRPr>
          </a:p>
        </p:txBody>
      </p:sp>
    </p:spTree>
    <p:extLst>
      <p:ext uri="{BB962C8B-B14F-4D97-AF65-F5344CB8AC3E}">
        <p14:creationId xmlns:p14="http://schemas.microsoft.com/office/powerpoint/2010/main" val="4038296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160" y="1541144"/>
            <a:ext cx="7940040" cy="4815205"/>
          </a:xfrm>
        </p:spPr>
        <p:txBody>
          <a:bodyPr>
            <a:noAutofit/>
          </a:bodyPr>
          <a:lstStyle/>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1. Downloading Python</a:t>
            </a: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Visit the official Python website at python.org</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Navigate to the "Downloads" section</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Choose the appropriate version for your operating system (Windows, </a:t>
            </a:r>
            <a:r>
              <a:rPr lang="en-US" sz="1400" dirty="0" err="1">
                <a:solidFill>
                  <a:schemeClr val="accent1">
                    <a:lumMod val="75000"/>
                  </a:schemeClr>
                </a:solidFill>
                <a:latin typeface="Times New Roman" panose="02020603050405020304" pitchFamily="18" charset="0"/>
                <a:cs typeface="Times New Roman" panose="02020603050405020304" pitchFamily="18" charset="0"/>
              </a:rPr>
              <a:t>macOS</a:t>
            </a:r>
            <a:r>
              <a:rPr lang="en-US" sz="1400" dirty="0">
                <a:solidFill>
                  <a:schemeClr val="accent1">
                    <a:lumMod val="75000"/>
                  </a:schemeClr>
                </a:solidFill>
                <a:latin typeface="Times New Roman" panose="02020603050405020304" pitchFamily="18" charset="0"/>
                <a:cs typeface="Times New Roman" panose="02020603050405020304" pitchFamily="18" charset="0"/>
              </a:rPr>
              <a:t>, or Linux). </a:t>
            </a:r>
            <a:endParaRPr lang="en-US" sz="1400" dirty="0" smtClean="0">
              <a:solidFill>
                <a:schemeClr val="accent1">
                  <a:lumMod val="75000"/>
                </a:schemeClr>
              </a:solidFill>
              <a:latin typeface="Times New Roman" panose="02020603050405020304" pitchFamily="18" charset="0"/>
              <a:cs typeface="Times New Roman" panose="02020603050405020304" pitchFamily="18" charset="0"/>
            </a:endParaRP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T</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he </a:t>
            </a:r>
            <a:r>
              <a:rPr lang="en-US" sz="1400" dirty="0">
                <a:solidFill>
                  <a:schemeClr val="accent1">
                    <a:lumMod val="75000"/>
                  </a:schemeClr>
                </a:solidFill>
                <a:latin typeface="Times New Roman" panose="02020603050405020304" pitchFamily="18" charset="0"/>
                <a:cs typeface="Times New Roman" panose="02020603050405020304" pitchFamily="18" charset="0"/>
              </a:rPr>
              <a:t>latest version (Python 3.x</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(Python 3.10 and above for 2024 Batch).</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2. Running the Installer</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For Windows:</a:t>
            </a: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Run the downloaded executable (.exe) file</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Check the box that says "Add Python to PATH" during the installation</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r>
              <a:rPr lang="en-US" sz="1600" dirty="0">
                <a:solidFill>
                  <a:schemeClr val="accent1">
                    <a:lumMod val="75000"/>
                  </a:schemeClr>
                </a:solidFill>
                <a:latin typeface="Times New Roman" panose="02020603050405020304" pitchFamily="18" charset="0"/>
                <a:cs typeface="Times New Roman" panose="02020603050405020304" pitchFamily="18" charset="0"/>
              </a:rPr>
              <a:t>For </a:t>
            </a:r>
            <a:r>
              <a:rPr lang="en-US" sz="1600" dirty="0" err="1">
                <a:solidFill>
                  <a:schemeClr val="accent1">
                    <a:lumMod val="75000"/>
                  </a:schemeClr>
                </a:solidFill>
                <a:latin typeface="Times New Roman" panose="02020603050405020304" pitchFamily="18" charset="0"/>
                <a:cs typeface="Times New Roman" panose="02020603050405020304" pitchFamily="18" charset="0"/>
              </a:rPr>
              <a:t>macOS</a:t>
            </a:r>
            <a:r>
              <a:rPr lang="en-US" sz="1600" dirty="0">
                <a:solidFill>
                  <a:schemeClr val="accent1">
                    <a:lumMod val="75000"/>
                  </a:schemeClr>
                </a:solidFill>
                <a:latin typeface="Times New Roman" panose="02020603050405020304" pitchFamily="18" charset="0"/>
                <a:cs typeface="Times New Roman" panose="02020603050405020304" pitchFamily="18" charset="0"/>
              </a:rPr>
              <a:t>:</a:t>
            </a: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Run the downloaded package (.</a:t>
            </a:r>
            <a:r>
              <a:rPr lang="en-US" sz="1400" dirty="0" err="1">
                <a:solidFill>
                  <a:schemeClr val="accent1">
                    <a:lumMod val="75000"/>
                  </a:schemeClr>
                </a:solidFill>
                <a:latin typeface="Times New Roman" panose="02020603050405020304" pitchFamily="18" charset="0"/>
                <a:cs typeface="Times New Roman" panose="02020603050405020304" pitchFamily="18" charset="0"/>
              </a:rPr>
              <a:t>pkg</a:t>
            </a:r>
            <a:r>
              <a:rPr lang="en-US" sz="1400" dirty="0">
                <a:solidFill>
                  <a:schemeClr val="accent1">
                    <a:lumMod val="75000"/>
                  </a:schemeClr>
                </a:solidFill>
                <a:latin typeface="Times New Roman" panose="02020603050405020304" pitchFamily="18" charset="0"/>
                <a:cs typeface="Times New Roman" panose="02020603050405020304" pitchFamily="18" charset="0"/>
              </a:rPr>
              <a:t>) file.</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For Linux:</a:t>
            </a: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Open a terminal and navigate to the directory containing the downloaded file</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Extract the </a:t>
            </a:r>
            <a:r>
              <a:rPr lang="en-US" sz="1400" dirty="0" err="1">
                <a:solidFill>
                  <a:schemeClr val="accent1">
                    <a:lumMod val="75000"/>
                  </a:schemeClr>
                </a:solidFill>
                <a:latin typeface="Times New Roman" panose="02020603050405020304" pitchFamily="18" charset="0"/>
                <a:cs typeface="Times New Roman" panose="02020603050405020304" pitchFamily="18" charset="0"/>
              </a:rPr>
              <a:t>tarball</a:t>
            </a:r>
            <a:r>
              <a:rPr lang="en-US" sz="1400" dirty="0">
                <a:solidFill>
                  <a:schemeClr val="accent1">
                    <a:lumMod val="75000"/>
                  </a:schemeClr>
                </a:solidFill>
                <a:latin typeface="Times New Roman" panose="02020603050405020304" pitchFamily="18" charset="0"/>
                <a:cs typeface="Times New Roman" panose="02020603050405020304" pitchFamily="18" charset="0"/>
              </a:rPr>
              <a:t> using the following command:</a:t>
            </a:r>
          </a:p>
          <a:p>
            <a:pPr marL="457200" lvl="1" indent="0">
              <a:buNone/>
            </a:pP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tar </a:t>
            </a:r>
            <a:r>
              <a:rPr lang="en-US" sz="1400" dirty="0">
                <a:solidFill>
                  <a:schemeClr val="accent1">
                    <a:lumMod val="75000"/>
                  </a:schemeClr>
                </a:solidFill>
                <a:latin typeface="Times New Roman" panose="02020603050405020304" pitchFamily="18" charset="0"/>
                <a:cs typeface="Times New Roman" panose="02020603050405020304" pitchFamily="18" charset="0"/>
              </a:rPr>
              <a:t>-</a:t>
            </a:r>
            <a:r>
              <a:rPr lang="en-US" sz="1400" dirty="0" err="1">
                <a:solidFill>
                  <a:schemeClr val="accent1">
                    <a:lumMod val="75000"/>
                  </a:schemeClr>
                </a:solidFill>
                <a:latin typeface="Times New Roman" panose="02020603050405020304" pitchFamily="18" charset="0"/>
                <a:cs typeface="Times New Roman" panose="02020603050405020304" pitchFamily="18" charset="0"/>
              </a:rPr>
              <a:t>xvf</a:t>
            </a:r>
            <a:r>
              <a:rPr lang="en-US" sz="1400" dirty="0">
                <a:solidFill>
                  <a:schemeClr val="accent1">
                    <a:lumMod val="75000"/>
                  </a:schemeClr>
                </a:solidFill>
                <a:latin typeface="Times New Roman" panose="02020603050405020304" pitchFamily="18" charset="0"/>
                <a:cs typeface="Times New Roman" panose="02020603050405020304" pitchFamily="18" charset="0"/>
              </a:rPr>
              <a:t> Python-3.x.x.tgz</a:t>
            </a:r>
          </a:p>
          <a:p>
            <a:pPr lvl="1"/>
            <a:r>
              <a:rPr lang="en-US" sz="1400" dirty="0">
                <a:solidFill>
                  <a:schemeClr val="accent1">
                    <a:lumMod val="75000"/>
                  </a:schemeClr>
                </a:solidFill>
                <a:latin typeface="Times New Roman" panose="02020603050405020304" pitchFamily="18" charset="0"/>
                <a:cs typeface="Times New Roman" panose="02020603050405020304" pitchFamily="18" charset="0"/>
              </a:rPr>
              <a:t>Navigate into the extracted directory and run the following commands:</a:t>
            </a:r>
          </a:p>
          <a:p>
            <a:pPr marL="457200" lvl="1" indent="0">
              <a:buNone/>
            </a:pP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./configure</a:t>
            </a:r>
          </a:p>
          <a:p>
            <a:pPr marL="457200" lvl="1" indent="0">
              <a:buNone/>
            </a:pP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make</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pPr marL="457200" lvl="1" indent="0">
              <a:buNone/>
            </a:pP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400" dirty="0" err="1" smtClean="0">
                <a:solidFill>
                  <a:schemeClr val="accent1">
                    <a:lumMod val="75000"/>
                  </a:schemeClr>
                </a:solidFill>
                <a:latin typeface="Times New Roman" panose="02020603050405020304" pitchFamily="18" charset="0"/>
                <a:cs typeface="Times New Roman" panose="02020603050405020304" pitchFamily="18" charset="0"/>
              </a:rPr>
              <a:t>sudo</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sz="1400" dirty="0">
                <a:solidFill>
                  <a:schemeClr val="accent1">
                    <a:lumMod val="75000"/>
                  </a:schemeClr>
                </a:solidFill>
                <a:latin typeface="Times New Roman" panose="02020603050405020304" pitchFamily="18" charset="0"/>
                <a:cs typeface="Times New Roman" panose="02020603050405020304" pitchFamily="18" charset="0"/>
              </a:rPr>
              <a:t>make install</a:t>
            </a:r>
          </a:p>
        </p:txBody>
      </p:sp>
      <p:sp>
        <p:nvSpPr>
          <p:cNvPr id="4" name="Slide Number Placeholder 3"/>
          <p:cNvSpPr>
            <a:spLocks noGrp="1"/>
          </p:cNvSpPr>
          <p:nvPr>
            <p:ph type="sldNum" sz="quarter" idx="12"/>
          </p:nvPr>
        </p:nvSpPr>
        <p:spPr/>
        <p:txBody>
          <a:bodyPr/>
          <a:lstStyle/>
          <a:p>
            <a:fld id="{1B2A20A6-2C11-4CB1-9193-A0D80FC8463A}" type="slidenum">
              <a:rPr lang="en-IN" smtClean="0"/>
              <a:t>10</a:t>
            </a:fld>
            <a:endParaRPr lang="en-IN"/>
          </a:p>
        </p:txBody>
      </p:sp>
      <p:sp>
        <p:nvSpPr>
          <p:cNvPr id="5" name="Rectangle 4"/>
          <p:cNvSpPr/>
          <p:nvPr/>
        </p:nvSpPr>
        <p:spPr>
          <a:xfrm>
            <a:off x="0" y="537327"/>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smtClean="0"/>
              <a:t>Installing </a:t>
            </a:r>
            <a:r>
              <a:rPr lang="fi-FI" sz="3200" b="1" dirty="0"/>
              <a:t>Python</a:t>
            </a:r>
            <a:endParaRPr lang="en-US" sz="3200" b="1" dirty="0"/>
          </a:p>
        </p:txBody>
      </p:sp>
    </p:spTree>
    <p:extLst>
      <p:ext uri="{BB962C8B-B14F-4D97-AF65-F5344CB8AC3E}">
        <p14:creationId xmlns:p14="http://schemas.microsoft.com/office/powerpoint/2010/main" val="1147802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 y="901065"/>
            <a:ext cx="10515600" cy="4351338"/>
          </a:xfrm>
        </p:spPr>
        <p:txBody>
          <a:bodyPr>
            <a:noAutofit/>
          </a:bodyPr>
          <a:lstStyle/>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3. Verifying the Installation</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Open a command prompt or terminal.</a:t>
            </a:r>
          </a:p>
          <a:p>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Type </a:t>
            </a:r>
            <a:r>
              <a:rPr lang="en-US" sz="1600" dirty="0">
                <a:solidFill>
                  <a:schemeClr val="accent1">
                    <a:lumMod val="75000"/>
                  </a:schemeClr>
                </a:solidFill>
                <a:latin typeface="Times New Roman" panose="02020603050405020304" pitchFamily="18" charset="0"/>
                <a:cs typeface="Times New Roman" panose="02020603050405020304" pitchFamily="18" charset="0"/>
              </a:rPr>
              <a:t>the following command to check the installed Python version:</a:t>
            </a:r>
          </a:p>
          <a:p>
            <a:pPr lvl="1"/>
            <a:r>
              <a:rPr lang="en-US" sz="1200" dirty="0" smtClean="0">
                <a:solidFill>
                  <a:schemeClr val="accent1">
                    <a:lumMod val="75000"/>
                  </a:schemeClr>
                </a:solidFill>
                <a:latin typeface="Times New Roman" panose="02020603050405020304" pitchFamily="18" charset="0"/>
                <a:cs typeface="Times New Roman" panose="02020603050405020304" pitchFamily="18" charset="0"/>
              </a:rPr>
              <a:t>python </a:t>
            </a:r>
            <a:r>
              <a:rPr lang="en-US" sz="1200" dirty="0">
                <a:solidFill>
                  <a:schemeClr val="accent1">
                    <a:lumMod val="75000"/>
                  </a:schemeClr>
                </a:solidFill>
                <a:latin typeface="Times New Roman" panose="02020603050405020304" pitchFamily="18" charset="0"/>
                <a:cs typeface="Times New Roman" panose="02020603050405020304" pitchFamily="18" charset="0"/>
              </a:rPr>
              <a:t>--version</a:t>
            </a:r>
          </a:p>
          <a:p>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You </a:t>
            </a:r>
            <a:r>
              <a:rPr lang="en-US" sz="1600" dirty="0">
                <a:solidFill>
                  <a:schemeClr val="accent1">
                    <a:lumMod val="75000"/>
                  </a:schemeClr>
                </a:solidFill>
                <a:latin typeface="Times New Roman" panose="02020603050405020304" pitchFamily="18" charset="0"/>
                <a:cs typeface="Times New Roman" panose="02020603050405020304" pitchFamily="18" charset="0"/>
              </a:rPr>
              <a:t>should see the installed Python version printed in the console</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4. IDEs (Optional)</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Consider using an Integrated Development Environment (IDE) for a more efficient coding experience</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r>
              <a:rPr lang="en-US" sz="1600" dirty="0">
                <a:solidFill>
                  <a:schemeClr val="accent1">
                    <a:lumMod val="75000"/>
                  </a:schemeClr>
                </a:solidFill>
                <a:latin typeface="Times New Roman" panose="02020603050405020304" pitchFamily="18" charset="0"/>
                <a:cs typeface="Times New Roman" panose="02020603050405020304" pitchFamily="18" charset="0"/>
              </a:rPr>
              <a:t>Popular Python IDEs include </a:t>
            </a:r>
            <a:r>
              <a:rPr lang="en-US" sz="1600" dirty="0" err="1">
                <a:solidFill>
                  <a:schemeClr val="accent1">
                    <a:lumMod val="75000"/>
                  </a:schemeClr>
                </a:solidFill>
                <a:latin typeface="Times New Roman" panose="02020603050405020304" pitchFamily="18" charset="0"/>
                <a:cs typeface="Times New Roman" panose="02020603050405020304" pitchFamily="18" charset="0"/>
              </a:rPr>
              <a:t>PyCharm</a:t>
            </a:r>
            <a:r>
              <a:rPr lang="en-US" sz="1600" dirty="0">
                <a:solidFill>
                  <a:schemeClr val="accent1">
                    <a:lumMod val="75000"/>
                  </a:schemeClr>
                </a:solidFill>
                <a:latin typeface="Times New Roman" panose="02020603050405020304" pitchFamily="18" charset="0"/>
                <a:cs typeface="Times New Roman" panose="02020603050405020304" pitchFamily="18" charset="0"/>
              </a:rPr>
              <a:t>, Visual Studio Code, and </a:t>
            </a:r>
            <a:r>
              <a:rPr lang="en-US" sz="1600" dirty="0" err="1">
                <a:solidFill>
                  <a:schemeClr val="accent1">
                    <a:lumMod val="75000"/>
                  </a:schemeClr>
                </a:solidFill>
                <a:latin typeface="Times New Roman" panose="02020603050405020304" pitchFamily="18" charset="0"/>
                <a:cs typeface="Times New Roman" panose="02020603050405020304" pitchFamily="18" charset="0"/>
              </a:rPr>
              <a:t>Jupyter</a:t>
            </a:r>
            <a:r>
              <a:rPr lang="en-US" sz="1600" dirty="0">
                <a:solidFill>
                  <a:schemeClr val="accent1">
                    <a:lumMod val="75000"/>
                  </a:schemeClr>
                </a:solidFill>
                <a:latin typeface="Times New Roman" panose="02020603050405020304" pitchFamily="18" charset="0"/>
                <a:cs typeface="Times New Roman" panose="02020603050405020304" pitchFamily="18" charset="0"/>
              </a:rPr>
              <a:t> Notebooks</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 Use Default IDE – “IDLE” initially.</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5. Package Manager - pip</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Python comes with a package manager called pip for easy installation of external libraries</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r>
              <a:rPr lang="en-US" sz="1600" dirty="0">
                <a:solidFill>
                  <a:schemeClr val="accent1">
                    <a:lumMod val="75000"/>
                  </a:schemeClr>
                </a:solidFill>
                <a:latin typeface="Times New Roman" panose="02020603050405020304" pitchFamily="18" charset="0"/>
                <a:cs typeface="Times New Roman" panose="02020603050405020304" pitchFamily="18" charset="0"/>
              </a:rPr>
              <a:t>To check if pip is installed, type:</a:t>
            </a:r>
          </a:p>
          <a:p>
            <a:pPr lvl="1"/>
            <a:r>
              <a:rPr lang="en-US" sz="1200" dirty="0" smtClean="0">
                <a:solidFill>
                  <a:schemeClr val="accent1">
                    <a:lumMod val="75000"/>
                  </a:schemeClr>
                </a:solidFill>
                <a:latin typeface="Times New Roman" panose="02020603050405020304" pitchFamily="18" charset="0"/>
                <a:cs typeface="Times New Roman" panose="02020603050405020304" pitchFamily="18" charset="0"/>
              </a:rPr>
              <a:t>pip </a:t>
            </a:r>
            <a:r>
              <a:rPr lang="en-US" sz="1200" dirty="0">
                <a:solidFill>
                  <a:schemeClr val="accent1">
                    <a:lumMod val="75000"/>
                  </a:schemeClr>
                </a:solidFill>
                <a:latin typeface="Times New Roman" panose="02020603050405020304" pitchFamily="18" charset="0"/>
                <a:cs typeface="Times New Roman" panose="02020603050405020304" pitchFamily="18" charset="0"/>
              </a:rPr>
              <a:t>--version</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For Python 3, use:</a:t>
            </a:r>
          </a:p>
          <a:p>
            <a:pPr lvl="1"/>
            <a:r>
              <a:rPr lang="en-US" sz="1200" dirty="0" smtClean="0">
                <a:solidFill>
                  <a:schemeClr val="accent1">
                    <a:lumMod val="75000"/>
                  </a:schemeClr>
                </a:solidFill>
                <a:latin typeface="Times New Roman" panose="02020603050405020304" pitchFamily="18" charset="0"/>
                <a:cs typeface="Times New Roman" panose="02020603050405020304" pitchFamily="18" charset="0"/>
              </a:rPr>
              <a:t>pip3 </a:t>
            </a:r>
            <a:r>
              <a:rPr lang="en-US" sz="1200" dirty="0">
                <a:solidFill>
                  <a:schemeClr val="accent1">
                    <a:lumMod val="75000"/>
                  </a:schemeClr>
                </a:solidFill>
                <a:latin typeface="Times New Roman" panose="02020603050405020304" pitchFamily="18" charset="0"/>
                <a:cs typeface="Times New Roman" panose="02020603050405020304" pitchFamily="18" charset="0"/>
              </a:rPr>
              <a:t>--version</a:t>
            </a:r>
          </a:p>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6. </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Updating </a:t>
            </a:r>
            <a:r>
              <a:rPr lang="en-US" sz="1600" dirty="0">
                <a:solidFill>
                  <a:schemeClr val="accent1">
                    <a:lumMod val="75000"/>
                  </a:schemeClr>
                </a:solidFill>
                <a:latin typeface="Times New Roman" panose="02020603050405020304" pitchFamily="18" charset="0"/>
                <a:cs typeface="Times New Roman" panose="02020603050405020304" pitchFamily="18" charset="0"/>
              </a:rPr>
              <a:t>Python</a:t>
            </a:r>
          </a:p>
          <a:p>
            <a:r>
              <a:rPr lang="en-US" sz="1600" dirty="0">
                <a:solidFill>
                  <a:schemeClr val="accent1">
                    <a:lumMod val="75000"/>
                  </a:schemeClr>
                </a:solidFill>
                <a:latin typeface="Times New Roman" panose="02020603050405020304" pitchFamily="18" charset="0"/>
                <a:cs typeface="Times New Roman" panose="02020603050405020304" pitchFamily="18" charset="0"/>
              </a:rPr>
              <a:t>Periodically check for Python updates to benefit from the latest features and security patches</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sz="1600" dirty="0">
              <a:solidFill>
                <a:schemeClr val="accent1">
                  <a:lumMod val="75000"/>
                </a:schemeClr>
              </a:solidFill>
              <a:latin typeface="Times New Roman" panose="02020603050405020304" pitchFamily="18" charset="0"/>
              <a:cs typeface="Times New Roman" panose="02020603050405020304" pitchFamily="18" charset="0"/>
            </a:endParaRPr>
          </a:p>
          <a:p>
            <a:r>
              <a:rPr lang="en-US" sz="1600" dirty="0">
                <a:solidFill>
                  <a:schemeClr val="accent1">
                    <a:lumMod val="75000"/>
                  </a:schemeClr>
                </a:solidFill>
                <a:latin typeface="Times New Roman" panose="02020603050405020304" pitchFamily="18" charset="0"/>
                <a:cs typeface="Times New Roman" panose="02020603050405020304" pitchFamily="18" charset="0"/>
              </a:rPr>
              <a:t>Use pip to update Python packages:</a:t>
            </a:r>
          </a:p>
          <a:p>
            <a:pPr lvl="1"/>
            <a:r>
              <a:rPr lang="en-US" sz="1200" dirty="0" smtClean="0">
                <a:solidFill>
                  <a:schemeClr val="accent1">
                    <a:lumMod val="75000"/>
                  </a:schemeClr>
                </a:solidFill>
                <a:latin typeface="Times New Roman" panose="02020603050405020304" pitchFamily="18" charset="0"/>
                <a:cs typeface="Times New Roman" panose="02020603050405020304" pitchFamily="18" charset="0"/>
              </a:rPr>
              <a:t>pip </a:t>
            </a:r>
            <a:r>
              <a:rPr lang="en-US" sz="1200" dirty="0">
                <a:solidFill>
                  <a:schemeClr val="accent1">
                    <a:lumMod val="75000"/>
                  </a:schemeClr>
                </a:solidFill>
                <a:latin typeface="Times New Roman" panose="02020603050405020304" pitchFamily="18" charset="0"/>
                <a:cs typeface="Times New Roman" panose="02020603050405020304" pitchFamily="18" charset="0"/>
              </a:rPr>
              <a:t>install --upgrade pip</a:t>
            </a:r>
            <a:endParaRPr lang="en-US" sz="1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B2A20A6-2C11-4CB1-9193-A0D80FC8463A}" type="slidenum">
              <a:rPr lang="en-IN" smtClean="0"/>
              <a:t>11</a:t>
            </a:fld>
            <a:endParaRPr lang="en-IN"/>
          </a:p>
        </p:txBody>
      </p:sp>
      <p:sp>
        <p:nvSpPr>
          <p:cNvPr id="5" name="Rectangle 4"/>
          <p:cNvSpPr/>
          <p:nvPr/>
        </p:nvSpPr>
        <p:spPr>
          <a:xfrm>
            <a:off x="0" y="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3200" b="1" dirty="0" smtClean="0"/>
              <a:t>Installing Python Cont..</a:t>
            </a:r>
            <a:endParaRPr lang="en-US" sz="3200" b="1" dirty="0"/>
          </a:p>
        </p:txBody>
      </p:sp>
    </p:spTree>
    <p:extLst>
      <p:ext uri="{BB962C8B-B14F-4D97-AF65-F5344CB8AC3E}">
        <p14:creationId xmlns:p14="http://schemas.microsoft.com/office/powerpoint/2010/main" val="15935242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Writing and Executing First Python Program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12</a:t>
            </a:fld>
            <a:endParaRPr lang="en-US"/>
          </a:p>
        </p:txBody>
      </p:sp>
      <p:sp>
        <p:nvSpPr>
          <p:cNvPr id="6" name="Rectangle 5"/>
          <p:cNvSpPr/>
          <p:nvPr/>
        </p:nvSpPr>
        <p:spPr>
          <a:xfrm>
            <a:off x="195097" y="1731326"/>
            <a:ext cx="11415713" cy="3416320"/>
          </a:xfrm>
          <a:prstGeom prst="rect">
            <a:avLst/>
          </a:prstGeom>
        </p:spPr>
        <p:txBody>
          <a:bodyPr wrap="square" numCol="1">
            <a:spAutoFit/>
          </a:bodyPr>
          <a:lstStyle/>
          <a:p>
            <a:pPr>
              <a:lnSpc>
                <a:spcPct val="150000"/>
              </a:lnSpc>
            </a:pPr>
            <a:r>
              <a:rPr lang="en-US" b="1" dirty="0" smtClean="0">
                <a:solidFill>
                  <a:srgbClr val="C00000"/>
                </a:solidFill>
              </a:rPr>
              <a:t>Step </a:t>
            </a:r>
            <a:r>
              <a:rPr lang="en-US" b="1" dirty="0">
                <a:solidFill>
                  <a:srgbClr val="C00000"/>
                </a:solidFill>
              </a:rPr>
              <a:t>1: </a:t>
            </a:r>
            <a:r>
              <a:rPr lang="en-US" b="1" dirty="0">
                <a:solidFill>
                  <a:schemeClr val="accent1">
                    <a:lumMod val="75000"/>
                  </a:schemeClr>
                </a:solidFill>
              </a:rPr>
              <a:t>Open an editor. </a:t>
            </a:r>
          </a:p>
          <a:p>
            <a:pPr>
              <a:lnSpc>
                <a:spcPct val="150000"/>
              </a:lnSpc>
            </a:pPr>
            <a:r>
              <a:rPr lang="en-US" b="1" dirty="0">
                <a:solidFill>
                  <a:srgbClr val="C00000"/>
                </a:solidFill>
              </a:rPr>
              <a:t>Step 2: </a:t>
            </a:r>
            <a:r>
              <a:rPr lang="en-US" b="1" dirty="0">
                <a:solidFill>
                  <a:schemeClr val="accent1">
                    <a:lumMod val="75000"/>
                  </a:schemeClr>
                </a:solidFill>
              </a:rPr>
              <a:t>Write the instructions </a:t>
            </a:r>
          </a:p>
          <a:p>
            <a:pPr>
              <a:lnSpc>
                <a:spcPct val="150000"/>
              </a:lnSpc>
            </a:pPr>
            <a:r>
              <a:rPr lang="en-US" b="1" dirty="0">
                <a:solidFill>
                  <a:srgbClr val="C00000"/>
                </a:solidFill>
              </a:rPr>
              <a:t>Step 3: </a:t>
            </a:r>
            <a:r>
              <a:rPr lang="en-US" b="1" dirty="0">
                <a:solidFill>
                  <a:schemeClr val="accent1">
                    <a:lumMod val="75000"/>
                  </a:schemeClr>
                </a:solidFill>
              </a:rPr>
              <a:t>Save it as a file with the filename having the extension .</a:t>
            </a:r>
            <a:r>
              <a:rPr lang="en-US" b="1" dirty="0" err="1">
                <a:solidFill>
                  <a:schemeClr val="accent1">
                    <a:lumMod val="75000"/>
                  </a:schemeClr>
                </a:solidFill>
              </a:rPr>
              <a:t>py</a:t>
            </a:r>
            <a:r>
              <a:rPr lang="en-US" b="1" dirty="0">
                <a:solidFill>
                  <a:schemeClr val="accent1">
                    <a:lumMod val="75000"/>
                  </a:schemeClr>
                </a:solidFill>
              </a:rPr>
              <a:t>. </a:t>
            </a:r>
          </a:p>
          <a:p>
            <a:pPr>
              <a:lnSpc>
                <a:spcPct val="150000"/>
              </a:lnSpc>
            </a:pPr>
            <a:r>
              <a:rPr lang="en-US" b="1" dirty="0">
                <a:solidFill>
                  <a:srgbClr val="C00000"/>
                </a:solidFill>
              </a:rPr>
              <a:t>Step 4: </a:t>
            </a:r>
            <a:r>
              <a:rPr lang="en-US" b="1" dirty="0">
                <a:solidFill>
                  <a:schemeClr val="accent1">
                    <a:lumMod val="75000"/>
                  </a:schemeClr>
                </a:solidFill>
              </a:rPr>
              <a:t>Run the interpreter with the command python program_name.py or use IDLE to run the programs. </a:t>
            </a:r>
          </a:p>
          <a:p>
            <a:pPr>
              <a:lnSpc>
                <a:spcPct val="150000"/>
              </a:lnSpc>
            </a:pPr>
            <a:r>
              <a:rPr lang="en-US" b="1" dirty="0">
                <a:solidFill>
                  <a:schemeClr val="accent1">
                    <a:lumMod val="75000"/>
                  </a:schemeClr>
                </a:solidFill>
              </a:rPr>
              <a:t>To execute the program at the </a:t>
            </a:r>
            <a:r>
              <a:rPr lang="en-US" b="1" i="1" dirty="0">
                <a:solidFill>
                  <a:schemeClr val="accent1">
                    <a:lumMod val="75000"/>
                  </a:schemeClr>
                </a:solidFill>
              </a:rPr>
              <a:t>command prompt</a:t>
            </a:r>
            <a:r>
              <a:rPr lang="en-US" b="1" dirty="0">
                <a:solidFill>
                  <a:schemeClr val="accent1">
                    <a:lumMod val="75000"/>
                  </a:schemeClr>
                </a:solidFill>
              </a:rPr>
              <a:t>, simply change your working directory to C:\</a:t>
            </a:r>
            <a:r>
              <a:rPr lang="en-US" b="1" dirty="0" smtClean="0">
                <a:solidFill>
                  <a:schemeClr val="accent1">
                    <a:lumMod val="75000"/>
                  </a:schemeClr>
                </a:solidFill>
              </a:rPr>
              <a:t>Python_prog </a:t>
            </a:r>
            <a:r>
              <a:rPr lang="en-US" b="1" dirty="0">
                <a:solidFill>
                  <a:schemeClr val="accent1">
                    <a:lumMod val="75000"/>
                  </a:schemeClr>
                </a:solidFill>
              </a:rPr>
              <a:t>(or move to the directory where you have saved Python) then type python program_name.py. </a:t>
            </a:r>
          </a:p>
          <a:p>
            <a:pPr>
              <a:lnSpc>
                <a:spcPct val="150000"/>
              </a:lnSpc>
            </a:pPr>
            <a:r>
              <a:rPr lang="en-US" b="1" dirty="0">
                <a:solidFill>
                  <a:schemeClr val="accent1">
                    <a:lumMod val="75000"/>
                  </a:schemeClr>
                </a:solidFill>
              </a:rPr>
              <a:t>If you want to execute the program in Python shell, then just press F5 key or click on Run Menu and then select Run Module. </a:t>
            </a:r>
            <a:endParaRPr lang="en-US" b="1" dirty="0" smtClean="0">
              <a:solidFill>
                <a:schemeClr val="accent1">
                  <a:lumMod val="75000"/>
                </a:schemeClr>
              </a:solidFill>
            </a:endParaRPr>
          </a:p>
        </p:txBody>
      </p:sp>
    </p:spTree>
    <p:extLst>
      <p:ext uri="{BB962C8B-B14F-4D97-AF65-F5344CB8AC3E}">
        <p14:creationId xmlns:p14="http://schemas.microsoft.com/office/powerpoint/2010/main" val="3868862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 y="901065"/>
            <a:ext cx="10515600" cy="4351338"/>
          </a:xfrm>
        </p:spPr>
        <p:txBody>
          <a:bodyPr>
            <a:noAutofit/>
          </a:bodyPr>
          <a:lstStyle/>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Running Python </a:t>
            </a: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Scripts</a:t>
            </a:r>
          </a:p>
          <a:p>
            <a:r>
              <a:rPr lang="en-US" sz="2000" b="1" dirty="0">
                <a:solidFill>
                  <a:schemeClr val="accent1">
                    <a:lumMod val="75000"/>
                  </a:schemeClr>
                </a:solidFill>
                <a:latin typeface="Times New Roman" panose="02020603050405020304" pitchFamily="18" charset="0"/>
                <a:cs typeface="Times New Roman" panose="02020603050405020304" pitchFamily="18" charset="0"/>
              </a:rPr>
              <a:t>Create a Python Script:</a:t>
            </a:r>
          </a:p>
          <a:p>
            <a:pPr lvl="1"/>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Use </a:t>
            </a:r>
            <a:r>
              <a:rPr lang="en-US" sz="1600" dirty="0">
                <a:solidFill>
                  <a:schemeClr val="accent1">
                    <a:lumMod val="75000"/>
                  </a:schemeClr>
                </a:solidFill>
                <a:latin typeface="Times New Roman" panose="02020603050405020304" pitchFamily="18" charset="0"/>
                <a:cs typeface="Times New Roman" panose="02020603050405020304" pitchFamily="18" charset="0"/>
              </a:rPr>
              <a:t>any text editor to write Python code and save it with a .</a:t>
            </a:r>
            <a:r>
              <a:rPr lang="en-US" sz="1600" dirty="0" err="1">
                <a:solidFill>
                  <a:schemeClr val="accent1">
                    <a:lumMod val="75000"/>
                  </a:schemeClr>
                </a:solidFill>
                <a:latin typeface="Times New Roman" panose="02020603050405020304" pitchFamily="18" charset="0"/>
                <a:cs typeface="Times New Roman" panose="02020603050405020304" pitchFamily="18" charset="0"/>
              </a:rPr>
              <a:t>py</a:t>
            </a:r>
            <a:r>
              <a:rPr lang="en-US" sz="1600" dirty="0">
                <a:solidFill>
                  <a:schemeClr val="accent1">
                    <a:lumMod val="75000"/>
                  </a:schemeClr>
                </a:solidFill>
                <a:latin typeface="Times New Roman" panose="02020603050405020304" pitchFamily="18" charset="0"/>
                <a:cs typeface="Times New Roman" panose="02020603050405020304" pitchFamily="18" charset="0"/>
              </a:rPr>
              <a:t> extension.</a:t>
            </a:r>
          </a:p>
          <a:p>
            <a:r>
              <a:rPr lang="en-US" sz="2000" b="1" dirty="0">
                <a:solidFill>
                  <a:schemeClr val="accent1">
                    <a:lumMod val="75000"/>
                  </a:schemeClr>
                </a:solidFill>
                <a:latin typeface="Times New Roman" panose="02020603050405020304" pitchFamily="18" charset="0"/>
                <a:cs typeface="Times New Roman" panose="02020603050405020304" pitchFamily="18" charset="0"/>
              </a:rPr>
              <a:t>Execute a Script</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rPr>
              <a:t>:</a:t>
            </a:r>
          </a:p>
          <a:p>
            <a:pPr lvl="1"/>
            <a:r>
              <a:rPr lang="en-US" sz="1600" dirty="0">
                <a:solidFill>
                  <a:schemeClr val="accent1">
                    <a:lumMod val="75000"/>
                  </a:schemeClr>
                </a:solidFill>
                <a:latin typeface="Times New Roman" panose="02020603050405020304" pitchFamily="18" charset="0"/>
                <a:cs typeface="Times New Roman" panose="02020603050405020304" pitchFamily="18" charset="0"/>
              </a:rPr>
              <a:t>python3 </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script.py</a:t>
            </a:r>
          </a:p>
          <a:p>
            <a:r>
              <a:rPr lang="en-US" sz="2000" b="1" dirty="0" smtClean="0">
                <a:solidFill>
                  <a:schemeClr val="accent1">
                    <a:lumMod val="75000"/>
                  </a:schemeClr>
                </a:solidFill>
                <a:latin typeface="Times New Roman" panose="02020603050405020304" pitchFamily="18" charset="0"/>
                <a:cs typeface="Times New Roman" panose="02020603050405020304" pitchFamily="18" charset="0"/>
              </a:rPr>
              <a:t>Using Python IDLE: </a:t>
            </a:r>
            <a:r>
              <a:rPr lang="en-US" sz="1800" dirty="0">
                <a:solidFill>
                  <a:schemeClr val="accent1">
                    <a:lumMod val="75000"/>
                  </a:schemeClr>
                </a:solidFill>
                <a:latin typeface="Times New Roman" panose="02020603050405020304" pitchFamily="18" charset="0"/>
                <a:cs typeface="Times New Roman" panose="02020603050405020304" pitchFamily="18" charset="0"/>
              </a:rPr>
              <a:t>Open IDLE from search bar</a:t>
            </a:r>
          </a:p>
          <a:p>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lvl="1"/>
            <a:endParaRPr lang="en-US" sz="1600" b="1" dirty="0" smtClean="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B2A20A6-2C11-4CB1-9193-A0D80FC8463A}" type="slidenum">
              <a:rPr lang="en-IN" smtClean="0"/>
              <a:t>13</a:t>
            </a:fld>
            <a:endParaRPr lang="en-IN"/>
          </a:p>
        </p:txBody>
      </p:sp>
      <p:sp>
        <p:nvSpPr>
          <p:cNvPr id="5" name="Rectangle 4"/>
          <p:cNvSpPr/>
          <p:nvPr/>
        </p:nvSpPr>
        <p:spPr>
          <a:xfrm>
            <a:off x="0" y="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Executing Python from the Command Line</a:t>
            </a:r>
          </a:p>
        </p:txBody>
      </p:sp>
      <p:sp>
        <p:nvSpPr>
          <p:cNvPr id="7" name="Rectangle 6"/>
          <p:cNvSpPr/>
          <p:nvPr/>
        </p:nvSpPr>
        <p:spPr>
          <a:xfrm>
            <a:off x="0" y="3496053"/>
            <a:ext cx="6096000" cy="2308324"/>
          </a:xfrm>
          <a:prstGeom prst="rect">
            <a:avLst/>
          </a:prstGeom>
        </p:spPr>
        <p:txBody>
          <a:bodyPr>
            <a:spAutoFit/>
          </a:bodyPr>
          <a:lstStyle/>
          <a:p>
            <a:pPr lvl="1"/>
            <a:r>
              <a:rPr lang="en-US" b="1" dirty="0" smtClean="0">
                <a:solidFill>
                  <a:schemeClr val="accent1">
                    <a:lumMod val="75000"/>
                  </a:schemeClr>
                </a:solidFill>
                <a:latin typeface="Times New Roman" panose="02020603050405020304" pitchFamily="18" charset="0"/>
                <a:cs typeface="Times New Roman" panose="02020603050405020304" pitchFamily="18" charset="0"/>
              </a:rPr>
              <a:t>Start </a:t>
            </a:r>
            <a:r>
              <a:rPr lang="en-US" b="1" dirty="0">
                <a:solidFill>
                  <a:schemeClr val="accent1">
                    <a:lumMod val="75000"/>
                  </a:schemeClr>
                </a:solidFill>
                <a:latin typeface="Times New Roman" panose="02020603050405020304" pitchFamily="18" charset="0"/>
                <a:cs typeface="Times New Roman" panose="02020603050405020304" pitchFamily="18" charset="0"/>
              </a:rPr>
              <a:t>typing basic commands in </a:t>
            </a:r>
            <a:r>
              <a:rPr lang="en-US" b="1" u="sng" dirty="0">
                <a:solidFill>
                  <a:srgbClr val="FF0000"/>
                </a:solidFill>
                <a:latin typeface="Times New Roman" panose="02020603050405020304" pitchFamily="18" charset="0"/>
                <a:cs typeface="Times New Roman" panose="02020603050405020304" pitchFamily="18" charset="0"/>
              </a:rPr>
              <a:t>Interactive Mode </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&gt;&gt;&gt; 12*36</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432</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&gt;&gt;&gt; 10*23+45/3</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245.0</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&gt;&gt;&gt; a=10</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&gt;&gt;&gt; a*10</a:t>
            </a:r>
          </a:p>
          <a:p>
            <a:pPr lvl="2"/>
            <a:r>
              <a:rPr lang="en-US" b="1" dirty="0">
                <a:solidFill>
                  <a:schemeClr val="accent1">
                    <a:lumMod val="75000"/>
                  </a:schemeClr>
                </a:solidFill>
                <a:latin typeface="Times New Roman" panose="02020603050405020304" pitchFamily="18" charset="0"/>
                <a:cs typeface="Times New Roman" panose="02020603050405020304" pitchFamily="18" charset="0"/>
              </a:rPr>
              <a:t>100</a:t>
            </a:r>
          </a:p>
        </p:txBody>
      </p:sp>
      <p:sp>
        <p:nvSpPr>
          <p:cNvPr id="8" name="Rectangle 7"/>
          <p:cNvSpPr/>
          <p:nvPr/>
        </p:nvSpPr>
        <p:spPr>
          <a:xfrm>
            <a:off x="6207760" y="3496053"/>
            <a:ext cx="6096000" cy="1754326"/>
          </a:xfrm>
          <a:prstGeom prst="rect">
            <a:avLst/>
          </a:prstGeom>
        </p:spPr>
        <p:txBody>
          <a:bodyPr>
            <a:spAutoFit/>
          </a:bodyPr>
          <a:lstStyle/>
          <a:p>
            <a:pPr lvl="1"/>
            <a:r>
              <a:rPr lang="en-US" b="1" dirty="0" smtClean="0">
                <a:solidFill>
                  <a:schemeClr val="accent1">
                    <a:lumMod val="75000"/>
                  </a:schemeClr>
                </a:solidFill>
                <a:latin typeface="Times New Roman" panose="02020603050405020304" pitchFamily="18" charset="0"/>
                <a:cs typeface="Times New Roman" panose="02020603050405020304" pitchFamily="18" charset="0"/>
              </a:rPr>
              <a:t>Starting with </a:t>
            </a:r>
            <a:r>
              <a:rPr lang="en-US" b="1" u="sng" dirty="0" smtClean="0">
                <a:solidFill>
                  <a:srgbClr val="FF0000"/>
                </a:solidFill>
                <a:latin typeface="Times New Roman" panose="02020603050405020304" pitchFamily="18" charset="0"/>
                <a:cs typeface="Times New Roman" panose="02020603050405020304" pitchFamily="18" charset="0"/>
              </a:rPr>
              <a:t>Script Mode</a:t>
            </a:r>
            <a:r>
              <a:rPr lang="en-US" b="1" u="sng" dirty="0" smtClean="0">
                <a:solidFill>
                  <a:schemeClr val="accent1">
                    <a:lumMod val="75000"/>
                  </a:schemeClr>
                </a:solidFill>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smtClean="0">
                <a:solidFill>
                  <a:schemeClr val="accent1">
                    <a:lumMod val="75000"/>
                  </a:schemeClr>
                </a:solidFill>
                <a:latin typeface="Times New Roman" panose="02020603050405020304" pitchFamily="18" charset="0"/>
                <a:cs typeface="Times New Roman" panose="02020603050405020304" pitchFamily="18" charset="0"/>
              </a:rPr>
              <a:t>Open file-&gt;</a:t>
            </a:r>
            <a:r>
              <a:rPr lang="en-US" b="1" dirty="0">
                <a:solidFill>
                  <a:schemeClr val="accent1">
                    <a:lumMod val="75000"/>
                  </a:schemeClr>
                </a:solidFill>
                <a:latin typeface="Times New Roman" panose="02020603050405020304" pitchFamily="18" charset="0"/>
                <a:cs typeface="Times New Roman" panose="02020603050405020304" pitchFamily="18" charset="0"/>
              </a:rPr>
              <a:t>N</a:t>
            </a:r>
            <a:r>
              <a:rPr lang="en-US" b="1" dirty="0" smtClean="0">
                <a:solidFill>
                  <a:schemeClr val="accent1">
                    <a:lumMod val="75000"/>
                  </a:schemeClr>
                </a:solidFill>
                <a:latin typeface="Times New Roman" panose="02020603050405020304" pitchFamily="18" charset="0"/>
                <a:cs typeface="Times New Roman" panose="02020603050405020304" pitchFamily="18" charset="0"/>
              </a:rPr>
              <a:t>ew File</a:t>
            </a:r>
          </a:p>
          <a:p>
            <a:pPr marL="742950" lvl="1" indent="-285750">
              <a:buFont typeface="Arial" panose="020B0604020202020204" pitchFamily="34" charset="0"/>
              <a:buChar char="•"/>
            </a:pPr>
            <a:r>
              <a:rPr lang="en-US" b="1" dirty="0" smtClean="0">
                <a:solidFill>
                  <a:schemeClr val="accent1">
                    <a:lumMod val="75000"/>
                  </a:schemeClr>
                </a:solidFill>
                <a:latin typeface="Times New Roman" panose="02020603050405020304" pitchFamily="18" charset="0"/>
                <a:cs typeface="Times New Roman" panose="02020603050405020304" pitchFamily="18" charset="0"/>
              </a:rPr>
              <a:t>Write your python script e.g.</a:t>
            </a:r>
          </a:p>
          <a:p>
            <a:pPr marL="1200150" lvl="2" indent="-285750">
              <a:buFont typeface="Arial" panose="020B0604020202020204" pitchFamily="34" charset="0"/>
              <a:buChar char="•"/>
            </a:pPr>
            <a:r>
              <a:rPr lang="en-US" b="1" dirty="0">
                <a:solidFill>
                  <a:schemeClr val="accent1">
                    <a:lumMod val="75000"/>
                  </a:schemeClr>
                </a:solidFill>
                <a:latin typeface="Times New Roman" panose="02020603050405020304" pitchFamily="18" charset="0"/>
                <a:cs typeface="Times New Roman" panose="02020603050405020304" pitchFamily="18" charset="0"/>
              </a:rPr>
              <a:t>p</a:t>
            </a:r>
            <a:r>
              <a:rPr lang="en-US" b="1" dirty="0" smtClean="0">
                <a:solidFill>
                  <a:schemeClr val="accent1">
                    <a:lumMod val="75000"/>
                  </a:schemeClr>
                </a:solidFill>
                <a:latin typeface="Times New Roman" panose="02020603050405020304" pitchFamily="18" charset="0"/>
                <a:cs typeface="Times New Roman" panose="02020603050405020304" pitchFamily="18" charset="0"/>
              </a:rPr>
              <a:t>rint(“HI!!! I am Indian”)</a:t>
            </a:r>
          </a:p>
          <a:p>
            <a:pPr marL="1200150" lvl="2" indent="-285750">
              <a:buFont typeface="Arial" panose="020B0604020202020204" pitchFamily="34" charset="0"/>
              <a:buChar char="•"/>
            </a:pPr>
            <a:r>
              <a:rPr lang="en-US" b="1" dirty="0">
                <a:solidFill>
                  <a:schemeClr val="accent1">
                    <a:lumMod val="75000"/>
                  </a:schemeClr>
                </a:solidFill>
                <a:latin typeface="Times New Roman" panose="02020603050405020304" pitchFamily="18" charset="0"/>
                <a:cs typeface="Times New Roman" panose="02020603050405020304" pitchFamily="18" charset="0"/>
              </a:rPr>
              <a:t>p</a:t>
            </a:r>
            <a:r>
              <a:rPr lang="en-US" b="1" dirty="0" smtClean="0">
                <a:solidFill>
                  <a:schemeClr val="accent1">
                    <a:lumMod val="75000"/>
                  </a:schemeClr>
                </a:solidFill>
                <a:latin typeface="Times New Roman" panose="02020603050405020304" pitchFamily="18" charset="0"/>
                <a:cs typeface="Times New Roman" panose="02020603050405020304" pitchFamily="18" charset="0"/>
              </a:rPr>
              <a:t>rint(“Thank You”)</a:t>
            </a:r>
          </a:p>
          <a:p>
            <a:pPr marL="742950" lvl="1" indent="-285750">
              <a:buFont typeface="Arial" panose="020B0604020202020204" pitchFamily="34" charset="0"/>
              <a:buChar char="•"/>
            </a:pPr>
            <a:r>
              <a:rPr lang="en-US" b="1" dirty="0" smtClean="0">
                <a:solidFill>
                  <a:schemeClr val="accent1">
                    <a:lumMod val="75000"/>
                  </a:schemeClr>
                </a:solidFill>
                <a:latin typeface="Times New Roman" panose="02020603050405020304" pitchFamily="18" charset="0"/>
                <a:cs typeface="Times New Roman" panose="02020603050405020304" pitchFamily="18" charset="0"/>
              </a:rPr>
              <a:t>Save it and Execute using Run option ( Shortcut: F5)</a:t>
            </a:r>
          </a:p>
        </p:txBody>
      </p:sp>
    </p:spTree>
    <p:extLst>
      <p:ext uri="{BB962C8B-B14F-4D97-AF65-F5344CB8AC3E}">
        <p14:creationId xmlns:p14="http://schemas.microsoft.com/office/powerpoint/2010/main" val="3086109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Python Help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14</a:t>
            </a:fld>
            <a:endParaRPr lang="en-US"/>
          </a:p>
        </p:txBody>
      </p:sp>
      <p:sp>
        <p:nvSpPr>
          <p:cNvPr id="6" name="Rectangle 5"/>
          <p:cNvSpPr/>
          <p:nvPr/>
        </p:nvSpPr>
        <p:spPr>
          <a:xfrm>
            <a:off x="195097" y="1731326"/>
            <a:ext cx="11415713" cy="2542363"/>
          </a:xfrm>
          <a:prstGeom prst="rect">
            <a:avLst/>
          </a:prstGeom>
        </p:spPr>
        <p:txBody>
          <a:bodyPr wrap="square" numCol="1">
            <a:spAutoFit/>
          </a:bodyPr>
          <a:lstStyle/>
          <a:p>
            <a:pPr>
              <a:lnSpc>
                <a:spcPct val="150000"/>
              </a:lnSpc>
            </a:pPr>
            <a:r>
              <a:rPr lang="en-US" b="1" dirty="0">
                <a:solidFill>
                  <a:srgbClr val="C00000"/>
                </a:solidFill>
              </a:rPr>
              <a:t>Getting Help: help() function</a:t>
            </a:r>
          </a:p>
          <a:p>
            <a:pPr>
              <a:lnSpc>
                <a:spcPct val="150000"/>
              </a:lnSpc>
            </a:pPr>
            <a:r>
              <a:rPr lang="en-US" b="1" dirty="0"/>
              <a:t>Syntax: </a:t>
            </a:r>
          </a:p>
          <a:p>
            <a:pPr>
              <a:lnSpc>
                <a:spcPct val="150000"/>
              </a:lnSpc>
            </a:pPr>
            <a:r>
              <a:rPr lang="en-US" b="1" dirty="0" smtClean="0"/>
              <a:t>	help(</a:t>
            </a:r>
            <a:r>
              <a:rPr lang="en-US" b="1" dirty="0" err="1" smtClean="0"/>
              <a:t>object_name</a:t>
            </a:r>
            <a:r>
              <a:rPr lang="en-US" b="1" dirty="0"/>
              <a:t>)</a:t>
            </a:r>
          </a:p>
          <a:p>
            <a:pPr>
              <a:lnSpc>
                <a:spcPct val="150000"/>
              </a:lnSpc>
            </a:pPr>
            <a:r>
              <a:rPr lang="en-US" b="1" dirty="0" smtClean="0"/>
              <a:t>Example: Try following commands in interactive mode</a:t>
            </a:r>
            <a:endParaRPr lang="en-US" b="1" dirty="0"/>
          </a:p>
          <a:p>
            <a:pPr>
              <a:lnSpc>
                <a:spcPct val="150000"/>
              </a:lnSpc>
            </a:pPr>
            <a:r>
              <a:rPr lang="en-US" b="1" dirty="0" smtClean="0"/>
              <a:t>	&gt;&gt;&gt;help(print</a:t>
            </a:r>
            <a:r>
              <a:rPr lang="en-US" b="1" dirty="0"/>
              <a:t>)</a:t>
            </a:r>
          </a:p>
          <a:p>
            <a:pPr>
              <a:lnSpc>
                <a:spcPct val="150000"/>
              </a:lnSpc>
            </a:pPr>
            <a:r>
              <a:rPr lang="en-US" b="1" dirty="0" smtClean="0"/>
              <a:t>	&gt;&gt;&gt;help(id</a:t>
            </a:r>
            <a:r>
              <a:rPr lang="en-US" b="1" dirty="0"/>
              <a:t>)</a:t>
            </a:r>
          </a:p>
        </p:txBody>
      </p:sp>
    </p:spTree>
    <p:extLst>
      <p:ext uri="{BB962C8B-B14F-4D97-AF65-F5344CB8AC3E}">
        <p14:creationId xmlns:p14="http://schemas.microsoft.com/office/powerpoint/2010/main" val="13754323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Literal Constants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15</a:t>
            </a:fld>
            <a:endParaRPr lang="en-US"/>
          </a:p>
        </p:txBody>
      </p:sp>
      <p:sp>
        <p:nvSpPr>
          <p:cNvPr id="6" name="Rectangle 5"/>
          <p:cNvSpPr/>
          <p:nvPr/>
        </p:nvSpPr>
        <p:spPr>
          <a:xfrm>
            <a:off x="202406" y="1551391"/>
            <a:ext cx="11787187" cy="3416320"/>
          </a:xfrm>
          <a:prstGeom prst="rect">
            <a:avLst/>
          </a:prstGeom>
        </p:spPr>
        <p:txBody>
          <a:bodyPr wrap="square" numCol="1">
            <a:spAutoFit/>
          </a:bodyPr>
          <a:lstStyle/>
          <a:p>
            <a:pPr>
              <a:lnSpc>
                <a:spcPct val="150000"/>
              </a:lnSpc>
            </a:pPr>
            <a:r>
              <a:rPr lang="en-US" b="1" dirty="0" smtClean="0">
                <a:solidFill>
                  <a:schemeClr val="accent1">
                    <a:lumMod val="75000"/>
                  </a:schemeClr>
                </a:solidFill>
              </a:rPr>
              <a:t>The </a:t>
            </a:r>
            <a:r>
              <a:rPr lang="en-US" b="1" dirty="0">
                <a:solidFill>
                  <a:schemeClr val="accent1">
                    <a:lumMod val="75000"/>
                  </a:schemeClr>
                </a:solidFill>
              </a:rPr>
              <a:t>value of a literal constant can be used directly in programs. For example, 7, 3.9, 'A', and "Hello" are literal constants. </a:t>
            </a:r>
            <a:endParaRPr lang="en-US" b="1" dirty="0" smtClean="0">
              <a:solidFill>
                <a:schemeClr val="accent1">
                  <a:lumMod val="75000"/>
                </a:schemeClr>
              </a:solidFill>
            </a:endParaRPr>
          </a:p>
          <a:p>
            <a:pPr>
              <a:lnSpc>
                <a:spcPct val="150000"/>
              </a:lnSpc>
            </a:pPr>
            <a:r>
              <a:rPr lang="en-US" b="1" dirty="0" smtClean="0">
                <a:solidFill>
                  <a:srgbClr val="C00000"/>
                </a:solidFill>
              </a:rPr>
              <a:t>Numbers </a:t>
            </a:r>
            <a:r>
              <a:rPr lang="en-US" b="1" dirty="0" smtClean="0">
                <a:solidFill>
                  <a:schemeClr val="accent1">
                    <a:lumMod val="75000"/>
                  </a:schemeClr>
                </a:solidFill>
              </a:rPr>
              <a:t>refers </a:t>
            </a:r>
            <a:r>
              <a:rPr lang="en-US" b="1" dirty="0">
                <a:solidFill>
                  <a:schemeClr val="accent1">
                    <a:lumMod val="75000"/>
                  </a:schemeClr>
                </a:solidFill>
              </a:rPr>
              <a:t>to a numeric value. You can use four types of numbers in Python </a:t>
            </a:r>
            <a:r>
              <a:rPr lang="en-US" b="1" dirty="0" smtClean="0">
                <a:solidFill>
                  <a:schemeClr val="accent1">
                    <a:lumMod val="75000"/>
                  </a:schemeClr>
                </a:solidFill>
              </a:rPr>
              <a:t>program- integers</a:t>
            </a:r>
            <a:r>
              <a:rPr lang="en-US" b="1" dirty="0">
                <a:solidFill>
                  <a:schemeClr val="accent1">
                    <a:lumMod val="75000"/>
                  </a:schemeClr>
                </a:solidFill>
              </a:rPr>
              <a:t>, long integers, floating point and complex numbers. </a:t>
            </a:r>
          </a:p>
          <a:p>
            <a:pPr>
              <a:lnSpc>
                <a:spcPct val="150000"/>
              </a:lnSpc>
            </a:pPr>
            <a:r>
              <a:rPr lang="en-US" b="1" dirty="0">
                <a:solidFill>
                  <a:schemeClr val="accent1">
                    <a:lumMod val="75000"/>
                  </a:schemeClr>
                </a:solidFill>
              </a:rPr>
              <a:t>• Numbers like 5 or other whole numbers are referred to as </a:t>
            </a:r>
            <a:r>
              <a:rPr lang="en-US" b="1" i="1" dirty="0">
                <a:solidFill>
                  <a:schemeClr val="accent1">
                    <a:lumMod val="75000"/>
                  </a:schemeClr>
                </a:solidFill>
              </a:rPr>
              <a:t>integers</a:t>
            </a:r>
            <a:r>
              <a:rPr lang="en-US" b="1" dirty="0">
                <a:solidFill>
                  <a:schemeClr val="accent1">
                    <a:lumMod val="75000"/>
                  </a:schemeClr>
                </a:solidFill>
              </a:rPr>
              <a:t>. Bigger whole numbers are called </a:t>
            </a:r>
            <a:r>
              <a:rPr lang="en-US" b="1" i="1" dirty="0">
                <a:solidFill>
                  <a:schemeClr val="accent1">
                    <a:lumMod val="75000"/>
                  </a:schemeClr>
                </a:solidFill>
              </a:rPr>
              <a:t>long integers</a:t>
            </a:r>
            <a:r>
              <a:rPr lang="en-US" b="1" dirty="0">
                <a:solidFill>
                  <a:schemeClr val="accent1">
                    <a:lumMod val="75000"/>
                  </a:schemeClr>
                </a:solidFill>
              </a:rPr>
              <a:t>. For example, 535633629843L is a long integer. </a:t>
            </a:r>
          </a:p>
          <a:p>
            <a:pPr>
              <a:lnSpc>
                <a:spcPct val="150000"/>
              </a:lnSpc>
            </a:pPr>
            <a:r>
              <a:rPr lang="en-US" b="1" dirty="0">
                <a:solidFill>
                  <a:schemeClr val="accent1">
                    <a:lumMod val="75000"/>
                  </a:schemeClr>
                </a:solidFill>
              </a:rPr>
              <a:t>• Numbers like are 3.23 and 91.5E-2 are termed as </a:t>
            </a:r>
            <a:r>
              <a:rPr lang="en-US" b="1" i="1" dirty="0">
                <a:solidFill>
                  <a:schemeClr val="accent1">
                    <a:lumMod val="75000"/>
                  </a:schemeClr>
                </a:solidFill>
              </a:rPr>
              <a:t>floating point numbers</a:t>
            </a:r>
            <a:r>
              <a:rPr lang="en-US" b="1" dirty="0">
                <a:solidFill>
                  <a:schemeClr val="accent1">
                    <a:lumMod val="75000"/>
                  </a:schemeClr>
                </a:solidFill>
              </a:rPr>
              <a:t>. </a:t>
            </a:r>
          </a:p>
          <a:p>
            <a:pPr>
              <a:lnSpc>
                <a:spcPct val="150000"/>
              </a:lnSpc>
            </a:pPr>
            <a:r>
              <a:rPr lang="en-US" b="1" dirty="0">
                <a:solidFill>
                  <a:schemeClr val="accent1">
                    <a:lumMod val="75000"/>
                  </a:schemeClr>
                </a:solidFill>
              </a:rPr>
              <a:t>• Numbers of a + bi form (like -3 + 7i) are </a:t>
            </a:r>
            <a:r>
              <a:rPr lang="en-US" b="1" i="1" dirty="0">
                <a:solidFill>
                  <a:schemeClr val="accent1">
                    <a:lumMod val="75000"/>
                  </a:schemeClr>
                </a:solidFill>
              </a:rPr>
              <a:t>complex numbers</a:t>
            </a:r>
            <a:r>
              <a:rPr lang="en-US" b="1" dirty="0">
                <a:solidFill>
                  <a:schemeClr val="accent1">
                    <a:lumMod val="75000"/>
                  </a:schemeClr>
                </a:solidFill>
              </a:rPr>
              <a:t>.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1484416" y="4897178"/>
            <a:ext cx="7815330" cy="851110"/>
          </a:xfrm>
          <a:prstGeom prst="rect">
            <a:avLst/>
          </a:prstGeom>
        </p:spPr>
      </p:pic>
      <p:pic>
        <p:nvPicPr>
          <p:cNvPr id="7" name="Picture 6"/>
          <p:cNvPicPr>
            <a:picLocks noChangeAspect="1"/>
          </p:cNvPicPr>
          <p:nvPr/>
        </p:nvPicPr>
        <p:blipFill>
          <a:blip r:embed="rId3"/>
          <a:stretch>
            <a:fillRect/>
          </a:stretch>
        </p:blipFill>
        <p:spPr>
          <a:xfrm>
            <a:off x="1484417" y="5559074"/>
            <a:ext cx="7815330" cy="762188"/>
          </a:xfrm>
          <a:prstGeom prst="rect">
            <a:avLst/>
          </a:prstGeom>
        </p:spPr>
      </p:pic>
      <p:pic>
        <p:nvPicPr>
          <p:cNvPr id="8" name="Picture 7"/>
          <p:cNvPicPr>
            <a:picLocks noChangeAspect="1"/>
          </p:cNvPicPr>
          <p:nvPr/>
        </p:nvPicPr>
        <p:blipFill>
          <a:blip r:embed="rId4"/>
          <a:stretch>
            <a:fillRect/>
          </a:stretch>
        </p:blipFill>
        <p:spPr>
          <a:xfrm>
            <a:off x="9299746" y="5046435"/>
            <a:ext cx="2134068" cy="1238624"/>
          </a:xfrm>
          <a:prstGeom prst="rect">
            <a:avLst/>
          </a:prstGeom>
        </p:spPr>
      </p:pic>
      <p:sp>
        <p:nvSpPr>
          <p:cNvPr id="10" name="TextBox 9"/>
          <p:cNvSpPr txBox="1"/>
          <p:nvPr/>
        </p:nvSpPr>
        <p:spPr>
          <a:xfrm>
            <a:off x="202406" y="4971536"/>
            <a:ext cx="1141017"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23858733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Literal Constants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16</a:t>
            </a:fld>
            <a:endParaRPr lang="en-US"/>
          </a:p>
        </p:txBody>
      </p:sp>
      <p:sp>
        <p:nvSpPr>
          <p:cNvPr id="6" name="Rectangle 5"/>
          <p:cNvSpPr/>
          <p:nvPr/>
        </p:nvSpPr>
        <p:spPr>
          <a:xfrm>
            <a:off x="214313" y="1706332"/>
            <a:ext cx="11687175" cy="2862322"/>
          </a:xfrm>
          <a:prstGeom prst="rect">
            <a:avLst/>
          </a:prstGeom>
        </p:spPr>
        <p:txBody>
          <a:bodyPr wrap="square" numCol="1">
            <a:spAutoFit/>
          </a:bodyPr>
          <a:lstStyle/>
          <a:p>
            <a:r>
              <a:rPr lang="en-US" b="1" dirty="0" smtClean="0">
                <a:solidFill>
                  <a:srgbClr val="C00000"/>
                </a:solidFill>
              </a:rPr>
              <a:t>Strings </a:t>
            </a:r>
          </a:p>
          <a:p>
            <a:pPr>
              <a:lnSpc>
                <a:spcPct val="150000"/>
              </a:lnSpc>
            </a:pPr>
            <a:r>
              <a:rPr lang="en-US" b="1" dirty="0" smtClean="0">
                <a:solidFill>
                  <a:schemeClr val="accent1">
                    <a:lumMod val="75000"/>
                  </a:schemeClr>
                </a:solidFill>
              </a:rPr>
              <a:t>A </a:t>
            </a:r>
            <a:r>
              <a:rPr lang="en-US" b="1" i="1" dirty="0">
                <a:solidFill>
                  <a:schemeClr val="accent1">
                    <a:lumMod val="75000"/>
                  </a:schemeClr>
                </a:solidFill>
              </a:rPr>
              <a:t>string </a:t>
            </a:r>
            <a:r>
              <a:rPr lang="en-US" b="1" dirty="0">
                <a:solidFill>
                  <a:schemeClr val="accent1">
                    <a:lumMod val="75000"/>
                  </a:schemeClr>
                </a:solidFill>
              </a:rPr>
              <a:t>is a group of characters. </a:t>
            </a:r>
            <a:endParaRPr lang="en-US" b="1" dirty="0" smtClean="0">
              <a:solidFill>
                <a:schemeClr val="accent1">
                  <a:lumMod val="75000"/>
                </a:schemeClr>
              </a:solidFill>
            </a:endParaRPr>
          </a:p>
          <a:p>
            <a:pPr>
              <a:lnSpc>
                <a:spcPct val="150000"/>
              </a:lnSpc>
            </a:pPr>
            <a:r>
              <a:rPr lang="en-US" b="1" dirty="0">
                <a:solidFill>
                  <a:schemeClr val="accent1">
                    <a:lumMod val="75000"/>
                  </a:schemeClr>
                </a:solidFill>
              </a:rPr>
              <a:t>• </a:t>
            </a:r>
            <a:r>
              <a:rPr lang="en-US" b="1" i="1" dirty="0">
                <a:solidFill>
                  <a:srgbClr val="C00000"/>
                </a:solidFill>
              </a:rPr>
              <a:t>Using </a:t>
            </a:r>
            <a:r>
              <a:rPr lang="en-US" b="1" i="1" dirty="0" smtClean="0">
                <a:solidFill>
                  <a:srgbClr val="C00000"/>
                </a:solidFill>
              </a:rPr>
              <a:t>Single </a:t>
            </a:r>
            <a:r>
              <a:rPr lang="en-US" b="1" i="1" dirty="0">
                <a:solidFill>
                  <a:srgbClr val="C00000"/>
                </a:solidFill>
              </a:rPr>
              <a:t>Quotes ('): </a:t>
            </a:r>
            <a:r>
              <a:rPr lang="en-US" b="1" dirty="0">
                <a:solidFill>
                  <a:schemeClr val="accent1">
                    <a:lumMod val="75000"/>
                  </a:schemeClr>
                </a:solidFill>
              </a:rPr>
              <a:t>For </a:t>
            </a:r>
            <a:r>
              <a:rPr lang="en-US" b="1" dirty="0" smtClean="0">
                <a:solidFill>
                  <a:schemeClr val="accent1">
                    <a:lumMod val="75000"/>
                  </a:schemeClr>
                </a:solidFill>
              </a:rPr>
              <a:t>example</a:t>
            </a:r>
            <a:r>
              <a:rPr lang="en-US" b="1" dirty="0">
                <a:solidFill>
                  <a:schemeClr val="accent1">
                    <a:lumMod val="75000"/>
                  </a:schemeClr>
                </a:solidFill>
              </a:rPr>
              <a:t>, a string can be written as 'HELLO'. </a:t>
            </a:r>
          </a:p>
          <a:p>
            <a:pPr>
              <a:lnSpc>
                <a:spcPct val="150000"/>
              </a:lnSpc>
            </a:pPr>
            <a:r>
              <a:rPr lang="en-US" b="1" dirty="0">
                <a:solidFill>
                  <a:schemeClr val="accent1">
                    <a:lumMod val="75000"/>
                  </a:schemeClr>
                </a:solidFill>
              </a:rPr>
              <a:t>• </a:t>
            </a:r>
            <a:r>
              <a:rPr lang="en-US" b="1" i="1" dirty="0">
                <a:solidFill>
                  <a:srgbClr val="C00000"/>
                </a:solidFill>
              </a:rPr>
              <a:t>Using Double Quotes ("): </a:t>
            </a:r>
            <a:r>
              <a:rPr lang="en-US" b="1" dirty="0">
                <a:solidFill>
                  <a:schemeClr val="accent1">
                    <a:lumMod val="75000"/>
                  </a:schemeClr>
                </a:solidFill>
              </a:rPr>
              <a:t>Strings in double quotes are exactly same as those in single quotes. Therefore, 'HELLO' is same as "HELLO". </a:t>
            </a:r>
            <a:endParaRPr lang="en-US" b="1" dirty="0" smtClean="0">
              <a:solidFill>
                <a:schemeClr val="accent1">
                  <a:lumMod val="75000"/>
                </a:schemeClr>
              </a:solidFill>
            </a:endParaRPr>
          </a:p>
          <a:p>
            <a:pPr>
              <a:lnSpc>
                <a:spcPct val="150000"/>
              </a:lnSpc>
            </a:pPr>
            <a:r>
              <a:rPr lang="en-US" b="1" dirty="0">
                <a:solidFill>
                  <a:schemeClr val="accent1">
                    <a:lumMod val="75000"/>
                  </a:schemeClr>
                </a:solidFill>
              </a:rPr>
              <a:t>• </a:t>
            </a:r>
            <a:r>
              <a:rPr lang="en-US" b="1" i="1" dirty="0">
                <a:solidFill>
                  <a:srgbClr val="C00000"/>
                </a:solidFill>
              </a:rPr>
              <a:t>Using Triple Quotes (''' '''): </a:t>
            </a:r>
            <a:r>
              <a:rPr lang="en-US" b="1" dirty="0">
                <a:solidFill>
                  <a:schemeClr val="accent1">
                    <a:lumMod val="75000"/>
                  </a:schemeClr>
                </a:solidFill>
              </a:rPr>
              <a:t>You can specify multi-line strings using triple quotes. You can use as many single quotes and double quotes as you want in a string within triple quotes.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474957" y="5156202"/>
            <a:ext cx="10467094" cy="787594"/>
          </a:xfrm>
          <a:prstGeom prst="rect">
            <a:avLst/>
          </a:prstGeom>
        </p:spPr>
      </p:pic>
      <p:sp>
        <p:nvSpPr>
          <p:cNvPr id="8" name="TextBox 7"/>
          <p:cNvSpPr txBox="1"/>
          <p:nvPr/>
        </p:nvSpPr>
        <p:spPr>
          <a:xfrm>
            <a:off x="368079" y="4622927"/>
            <a:ext cx="1141017"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10308000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Escape Sequences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17</a:t>
            </a:fld>
            <a:endParaRPr lang="en-US"/>
          </a:p>
        </p:txBody>
      </p:sp>
      <p:sp>
        <p:nvSpPr>
          <p:cNvPr id="6" name="Rectangle 5"/>
          <p:cNvSpPr/>
          <p:nvPr/>
        </p:nvSpPr>
        <p:spPr>
          <a:xfrm>
            <a:off x="195098" y="1550504"/>
            <a:ext cx="11756250" cy="923330"/>
          </a:xfrm>
          <a:prstGeom prst="rect">
            <a:avLst/>
          </a:prstGeom>
        </p:spPr>
        <p:txBody>
          <a:bodyPr wrap="square" numCol="1">
            <a:spAutoFit/>
          </a:bodyPr>
          <a:lstStyle/>
          <a:p>
            <a:pPr>
              <a:lnSpc>
                <a:spcPct val="150000"/>
              </a:lnSpc>
            </a:pPr>
            <a:r>
              <a:rPr lang="en-US" b="1" dirty="0" smtClean="0">
                <a:solidFill>
                  <a:schemeClr val="accent1">
                    <a:lumMod val="75000"/>
                  </a:schemeClr>
                </a:solidFill>
              </a:rPr>
              <a:t>Some </a:t>
            </a:r>
            <a:r>
              <a:rPr lang="en-US" b="1" dirty="0">
                <a:solidFill>
                  <a:schemeClr val="accent1">
                    <a:lumMod val="75000"/>
                  </a:schemeClr>
                </a:solidFill>
              </a:rPr>
              <a:t>characters (like ", \) cannot be directly included in a string. Such characters must be escaped by placing a backslash before </a:t>
            </a:r>
            <a:r>
              <a:rPr lang="en-US" b="1" dirty="0" smtClean="0">
                <a:solidFill>
                  <a:schemeClr val="accent1">
                    <a:lumMod val="75000"/>
                  </a:schemeClr>
                </a:solidFill>
              </a:rPr>
              <a:t>them.</a:t>
            </a:r>
          </a:p>
        </p:txBody>
      </p:sp>
      <p:pic>
        <p:nvPicPr>
          <p:cNvPr id="5" name="Picture 4"/>
          <p:cNvPicPr>
            <a:picLocks noChangeAspect="1"/>
          </p:cNvPicPr>
          <p:nvPr/>
        </p:nvPicPr>
        <p:blipFill>
          <a:blip r:embed="rId2"/>
          <a:stretch>
            <a:fillRect/>
          </a:stretch>
        </p:blipFill>
        <p:spPr>
          <a:xfrm>
            <a:off x="2890824" y="2358887"/>
            <a:ext cx="6605447" cy="774891"/>
          </a:xfrm>
          <a:prstGeom prst="rect">
            <a:avLst/>
          </a:prstGeom>
        </p:spPr>
      </p:pic>
      <p:pic>
        <p:nvPicPr>
          <p:cNvPr id="7" name="Picture 6"/>
          <p:cNvPicPr>
            <a:picLocks noChangeAspect="1"/>
          </p:cNvPicPr>
          <p:nvPr/>
        </p:nvPicPr>
        <p:blipFill>
          <a:blip r:embed="rId3"/>
          <a:stretch>
            <a:fillRect/>
          </a:stretch>
        </p:blipFill>
        <p:spPr>
          <a:xfrm>
            <a:off x="1165761" y="3196248"/>
            <a:ext cx="9603304" cy="1460860"/>
          </a:xfrm>
          <a:prstGeom prst="rect">
            <a:avLst/>
          </a:prstGeom>
        </p:spPr>
      </p:pic>
      <p:pic>
        <p:nvPicPr>
          <p:cNvPr id="8" name="Picture 7"/>
          <p:cNvPicPr>
            <a:picLocks noChangeAspect="1"/>
          </p:cNvPicPr>
          <p:nvPr/>
        </p:nvPicPr>
        <p:blipFill>
          <a:blip r:embed="rId4"/>
          <a:stretch>
            <a:fillRect/>
          </a:stretch>
        </p:blipFill>
        <p:spPr>
          <a:xfrm>
            <a:off x="1165762" y="4571999"/>
            <a:ext cx="9603304" cy="1840675"/>
          </a:xfrm>
          <a:prstGeom prst="rect">
            <a:avLst/>
          </a:prstGeom>
        </p:spPr>
      </p:pic>
      <p:sp>
        <p:nvSpPr>
          <p:cNvPr id="10" name="TextBox 9"/>
          <p:cNvSpPr txBox="1"/>
          <p:nvPr/>
        </p:nvSpPr>
        <p:spPr>
          <a:xfrm>
            <a:off x="1165761" y="2577080"/>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11053925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Raw 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18</a:t>
            </a:fld>
            <a:endParaRPr lang="en-US"/>
          </a:p>
        </p:txBody>
      </p:sp>
      <p:sp>
        <p:nvSpPr>
          <p:cNvPr id="6" name="Rectangle 5"/>
          <p:cNvSpPr/>
          <p:nvPr/>
        </p:nvSpPr>
        <p:spPr>
          <a:xfrm>
            <a:off x="273132" y="1706332"/>
            <a:ext cx="11797084" cy="1338828"/>
          </a:xfrm>
          <a:prstGeom prst="rect">
            <a:avLst/>
          </a:prstGeom>
        </p:spPr>
        <p:txBody>
          <a:bodyPr wrap="square" numCol="1">
            <a:spAutoFit/>
          </a:bodyPr>
          <a:lstStyle/>
          <a:p>
            <a:pPr>
              <a:lnSpc>
                <a:spcPct val="150000"/>
              </a:lnSpc>
            </a:pPr>
            <a:r>
              <a:rPr lang="en-US" b="1" dirty="0" smtClean="0">
                <a:solidFill>
                  <a:schemeClr val="accent1">
                    <a:lumMod val="75000"/>
                  </a:schemeClr>
                </a:solidFill>
              </a:rPr>
              <a:t>If </a:t>
            </a:r>
            <a:r>
              <a:rPr lang="en-US" b="1" dirty="0">
                <a:solidFill>
                  <a:schemeClr val="accent1">
                    <a:lumMod val="75000"/>
                  </a:schemeClr>
                </a:solidFill>
              </a:rPr>
              <a:t>you want to specify a string that should not handle any escape sequences and want to display exactly as specified then you need to specify that string as a </a:t>
            </a:r>
            <a:r>
              <a:rPr lang="en-US" b="1" i="1" dirty="0">
                <a:solidFill>
                  <a:schemeClr val="accent1">
                    <a:lumMod val="75000"/>
                  </a:schemeClr>
                </a:solidFill>
              </a:rPr>
              <a:t>raw string</a:t>
            </a:r>
            <a:r>
              <a:rPr lang="en-US" b="1" dirty="0" smtClean="0">
                <a:solidFill>
                  <a:schemeClr val="accent1">
                    <a:lumMod val="75000"/>
                  </a:schemeClr>
                </a:solidFill>
              </a:rPr>
              <a:t>.  A </a:t>
            </a:r>
            <a:r>
              <a:rPr lang="en-US" b="1" dirty="0">
                <a:solidFill>
                  <a:srgbClr val="C00000"/>
                </a:solidFill>
              </a:rPr>
              <a:t>raw string </a:t>
            </a:r>
            <a:r>
              <a:rPr lang="en-US" b="1" dirty="0">
                <a:solidFill>
                  <a:schemeClr val="accent1">
                    <a:lumMod val="75000"/>
                  </a:schemeClr>
                </a:solidFill>
              </a:rPr>
              <a:t>is specified by prefixing r or R to the string.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380010" y="3933727"/>
            <a:ext cx="4217324" cy="749484"/>
          </a:xfrm>
          <a:prstGeom prst="rect">
            <a:avLst/>
          </a:prstGeom>
        </p:spPr>
      </p:pic>
      <p:sp>
        <p:nvSpPr>
          <p:cNvPr id="8" name="TextBox 7"/>
          <p:cNvSpPr txBox="1"/>
          <p:nvPr/>
        </p:nvSpPr>
        <p:spPr>
          <a:xfrm>
            <a:off x="273132" y="3348051"/>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33670034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Variables and Identifiers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19</a:t>
            </a:fld>
            <a:endParaRPr lang="en-US"/>
          </a:p>
        </p:txBody>
      </p:sp>
      <p:sp>
        <p:nvSpPr>
          <p:cNvPr id="6" name="Rectangle 5"/>
          <p:cNvSpPr/>
          <p:nvPr/>
        </p:nvSpPr>
        <p:spPr>
          <a:xfrm>
            <a:off x="415636" y="1706332"/>
            <a:ext cx="11329060" cy="4662815"/>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Variable means </a:t>
            </a:r>
            <a:r>
              <a:rPr lang="en-US" b="1" dirty="0">
                <a:solidFill>
                  <a:schemeClr val="accent1">
                    <a:lumMod val="75000"/>
                  </a:schemeClr>
                </a:solidFill>
              </a:rPr>
              <a:t>its value can vary. You can store any piece of information in a variable. Variables are nothing but just parts of your computer’s memory where information is stored. To be identified easily, each variable is given an appropriate name. </a:t>
            </a:r>
            <a:endParaRPr lang="en-US" b="1" dirty="0" smtClean="0">
              <a:solidFill>
                <a:schemeClr val="accent1">
                  <a:lumMod val="75000"/>
                </a:schemeClr>
              </a:solidFill>
            </a:endParaRPr>
          </a:p>
          <a:p>
            <a:pPr algn="just">
              <a:lnSpc>
                <a:spcPct val="150000"/>
              </a:lnSpc>
            </a:pPr>
            <a:r>
              <a:rPr lang="en-US" b="1" i="1" dirty="0" smtClean="0">
                <a:solidFill>
                  <a:schemeClr val="accent1">
                    <a:lumMod val="75000"/>
                  </a:schemeClr>
                </a:solidFill>
              </a:rPr>
              <a:t>Identifiers </a:t>
            </a:r>
            <a:r>
              <a:rPr lang="en-US" b="1" dirty="0" smtClean="0">
                <a:solidFill>
                  <a:schemeClr val="accent1">
                    <a:lumMod val="75000"/>
                  </a:schemeClr>
                </a:solidFill>
              </a:rPr>
              <a:t>are </a:t>
            </a:r>
            <a:r>
              <a:rPr lang="en-US" b="1" dirty="0">
                <a:solidFill>
                  <a:schemeClr val="accent1">
                    <a:lumMod val="75000"/>
                  </a:schemeClr>
                </a:solidFill>
              </a:rPr>
              <a:t>names given to identify something. This something can be a variable, function, class, module or other object. For naming any identifier, there are some basic rules </a:t>
            </a:r>
            <a:r>
              <a:rPr lang="en-US" b="1" dirty="0" smtClean="0">
                <a:solidFill>
                  <a:schemeClr val="accent1">
                    <a:lumMod val="75000"/>
                  </a:schemeClr>
                </a:solidFill>
              </a:rPr>
              <a:t>like:</a:t>
            </a:r>
          </a:p>
          <a:p>
            <a:pPr algn="just">
              <a:lnSpc>
                <a:spcPct val="150000"/>
              </a:lnSpc>
            </a:pPr>
            <a:r>
              <a:rPr lang="en-US" b="1" dirty="0" smtClean="0">
                <a:solidFill>
                  <a:schemeClr val="accent1">
                    <a:lumMod val="75000"/>
                  </a:schemeClr>
                </a:solidFill>
              </a:rPr>
              <a:t>• </a:t>
            </a:r>
            <a:r>
              <a:rPr lang="en-US" b="1" dirty="0">
                <a:solidFill>
                  <a:schemeClr val="accent1">
                    <a:lumMod val="75000"/>
                  </a:schemeClr>
                </a:solidFill>
              </a:rPr>
              <a:t>The </a:t>
            </a:r>
            <a:r>
              <a:rPr lang="en-US" b="1" dirty="0">
                <a:solidFill>
                  <a:srgbClr val="C00000"/>
                </a:solidFill>
              </a:rPr>
              <a:t>first character </a:t>
            </a:r>
            <a:r>
              <a:rPr lang="en-US" b="1" dirty="0">
                <a:solidFill>
                  <a:schemeClr val="accent1">
                    <a:lumMod val="75000"/>
                  </a:schemeClr>
                </a:solidFill>
              </a:rPr>
              <a:t>of an identifier must be an underscore ('_') or a letter (upper or lowercase). </a:t>
            </a:r>
          </a:p>
          <a:p>
            <a:pPr algn="just">
              <a:lnSpc>
                <a:spcPct val="150000"/>
              </a:lnSpc>
            </a:pPr>
            <a:r>
              <a:rPr lang="en-US" b="1" dirty="0">
                <a:solidFill>
                  <a:schemeClr val="accent1">
                    <a:lumMod val="75000"/>
                  </a:schemeClr>
                </a:solidFill>
              </a:rPr>
              <a:t>• The rest of the identifier name can be underscores ('</a:t>
            </a:r>
            <a:r>
              <a:rPr lang="en-US" b="1" dirty="0">
                <a:solidFill>
                  <a:srgbClr val="C00000"/>
                </a:solidFill>
              </a:rPr>
              <a:t>_</a:t>
            </a:r>
            <a:r>
              <a:rPr lang="en-US" b="1" dirty="0">
                <a:solidFill>
                  <a:schemeClr val="accent1">
                    <a:lumMod val="75000"/>
                  </a:schemeClr>
                </a:solidFill>
              </a:rPr>
              <a:t>'), letters (</a:t>
            </a:r>
            <a:r>
              <a:rPr lang="en-US" b="1" dirty="0">
                <a:solidFill>
                  <a:srgbClr val="C00000"/>
                </a:solidFill>
              </a:rPr>
              <a:t>upper or lowercase</a:t>
            </a:r>
            <a:r>
              <a:rPr lang="en-US" b="1" dirty="0">
                <a:solidFill>
                  <a:schemeClr val="accent1">
                    <a:lumMod val="75000"/>
                  </a:schemeClr>
                </a:solidFill>
              </a:rPr>
              <a:t>), or digits (</a:t>
            </a:r>
            <a:r>
              <a:rPr lang="en-US" b="1" dirty="0">
                <a:solidFill>
                  <a:srgbClr val="C00000"/>
                </a:solidFill>
              </a:rPr>
              <a:t>0-9</a:t>
            </a:r>
            <a:r>
              <a:rPr lang="en-US" b="1" dirty="0">
                <a:solidFill>
                  <a:schemeClr val="accent1">
                    <a:lumMod val="75000"/>
                  </a:schemeClr>
                </a:solidFill>
              </a:rPr>
              <a:t>). </a:t>
            </a:r>
          </a:p>
          <a:p>
            <a:pPr algn="just">
              <a:lnSpc>
                <a:spcPct val="150000"/>
              </a:lnSpc>
            </a:pPr>
            <a:r>
              <a:rPr lang="en-US" b="1" dirty="0">
                <a:solidFill>
                  <a:schemeClr val="accent1">
                    <a:lumMod val="75000"/>
                  </a:schemeClr>
                </a:solidFill>
              </a:rPr>
              <a:t>• Identifier names are </a:t>
            </a:r>
            <a:r>
              <a:rPr lang="en-US" b="1" dirty="0">
                <a:solidFill>
                  <a:srgbClr val="C00000"/>
                </a:solidFill>
              </a:rPr>
              <a:t>case-sensitive</a:t>
            </a:r>
            <a:r>
              <a:rPr lang="en-US" b="1" dirty="0">
                <a:solidFill>
                  <a:schemeClr val="accent1">
                    <a:lumMod val="75000"/>
                  </a:schemeClr>
                </a:solidFill>
              </a:rPr>
              <a:t>. For example, </a:t>
            </a:r>
            <a:r>
              <a:rPr lang="en-US" b="1" dirty="0" err="1">
                <a:solidFill>
                  <a:schemeClr val="accent1">
                    <a:lumMod val="75000"/>
                  </a:schemeClr>
                </a:solidFill>
              </a:rPr>
              <a:t>myvar</a:t>
            </a:r>
            <a:r>
              <a:rPr lang="en-US" b="1" dirty="0">
                <a:solidFill>
                  <a:schemeClr val="accent1">
                    <a:lumMod val="75000"/>
                  </a:schemeClr>
                </a:solidFill>
              </a:rPr>
              <a:t> and </a:t>
            </a:r>
            <a:r>
              <a:rPr lang="en-US" b="1" dirty="0" err="1">
                <a:solidFill>
                  <a:schemeClr val="accent1">
                    <a:lumMod val="75000"/>
                  </a:schemeClr>
                </a:solidFill>
              </a:rPr>
              <a:t>myVar</a:t>
            </a:r>
            <a:r>
              <a:rPr lang="en-US" b="1" dirty="0">
                <a:solidFill>
                  <a:schemeClr val="accent1">
                    <a:lumMod val="75000"/>
                  </a:schemeClr>
                </a:solidFill>
              </a:rPr>
              <a:t> are not the same. </a:t>
            </a:r>
          </a:p>
          <a:p>
            <a:pPr algn="just">
              <a:lnSpc>
                <a:spcPct val="150000"/>
              </a:lnSpc>
            </a:pPr>
            <a:r>
              <a:rPr lang="en-US" b="1" dirty="0">
                <a:solidFill>
                  <a:schemeClr val="accent1">
                    <a:lumMod val="75000"/>
                  </a:schemeClr>
                </a:solidFill>
              </a:rPr>
              <a:t>• </a:t>
            </a:r>
            <a:r>
              <a:rPr lang="en-US" b="1" dirty="0">
                <a:solidFill>
                  <a:srgbClr val="C00000"/>
                </a:solidFill>
              </a:rPr>
              <a:t>Punctuation characters </a:t>
            </a:r>
            <a:r>
              <a:rPr lang="en-US" b="1" dirty="0">
                <a:solidFill>
                  <a:schemeClr val="accent1">
                    <a:lumMod val="75000"/>
                  </a:schemeClr>
                </a:solidFill>
              </a:rPr>
              <a:t>such as @, $, and %</a:t>
            </a:r>
            <a:r>
              <a:rPr lang="en-US" b="1" dirty="0">
                <a:solidFill>
                  <a:srgbClr val="C00000"/>
                </a:solidFill>
              </a:rPr>
              <a:t> </a:t>
            </a:r>
            <a:r>
              <a:rPr lang="en-US" b="1" dirty="0">
                <a:solidFill>
                  <a:schemeClr val="accent1">
                    <a:lumMod val="75000"/>
                  </a:schemeClr>
                </a:solidFill>
              </a:rPr>
              <a:t>are not allowed within identifiers. </a:t>
            </a:r>
          </a:p>
          <a:p>
            <a:pPr algn="just">
              <a:lnSpc>
                <a:spcPct val="150000"/>
              </a:lnSpc>
            </a:pPr>
            <a:r>
              <a:rPr lang="en-US" b="1" i="1" dirty="0">
                <a:solidFill>
                  <a:srgbClr val="C00000"/>
                </a:solidFill>
              </a:rPr>
              <a:t>Examples of valid identifier names </a:t>
            </a:r>
            <a:r>
              <a:rPr lang="en-US" b="1" dirty="0">
                <a:solidFill>
                  <a:schemeClr val="accent1">
                    <a:lumMod val="75000"/>
                  </a:schemeClr>
                </a:solidFill>
              </a:rPr>
              <a:t>are sum, __</a:t>
            </a:r>
            <a:r>
              <a:rPr lang="en-US" b="1" dirty="0" err="1">
                <a:solidFill>
                  <a:schemeClr val="accent1">
                    <a:lumMod val="75000"/>
                  </a:schemeClr>
                </a:solidFill>
              </a:rPr>
              <a:t>my_var</a:t>
            </a:r>
            <a:r>
              <a:rPr lang="en-US" b="1" dirty="0">
                <a:solidFill>
                  <a:schemeClr val="accent1">
                    <a:lumMod val="75000"/>
                  </a:schemeClr>
                </a:solidFill>
              </a:rPr>
              <a:t>, num1, r, var_20, First, etc. </a:t>
            </a:r>
          </a:p>
          <a:p>
            <a:pPr algn="just">
              <a:lnSpc>
                <a:spcPct val="150000"/>
              </a:lnSpc>
            </a:pPr>
            <a:r>
              <a:rPr lang="en-US" b="1" i="1" dirty="0">
                <a:solidFill>
                  <a:srgbClr val="C00000"/>
                </a:solidFill>
              </a:rPr>
              <a:t>Examples of invalid identifier names </a:t>
            </a:r>
            <a:r>
              <a:rPr lang="en-US" b="1" dirty="0">
                <a:solidFill>
                  <a:schemeClr val="accent1">
                    <a:lumMod val="75000"/>
                  </a:schemeClr>
                </a:solidFill>
              </a:rPr>
              <a:t>are 1num, my-</a:t>
            </a:r>
            <a:r>
              <a:rPr lang="en-US" b="1" dirty="0" err="1">
                <a:solidFill>
                  <a:schemeClr val="accent1">
                    <a:lumMod val="75000"/>
                  </a:schemeClr>
                </a:solidFill>
              </a:rPr>
              <a:t>var</a:t>
            </a:r>
            <a:r>
              <a:rPr lang="en-US" b="1" dirty="0">
                <a:solidFill>
                  <a:schemeClr val="accent1">
                    <a:lumMod val="75000"/>
                  </a:schemeClr>
                </a:solidFill>
              </a:rPr>
              <a:t>, %check, Basic Sal, H#R&amp;A, etc. </a:t>
            </a:r>
            <a:endParaRPr lang="en-US" b="1" dirty="0" smtClean="0">
              <a:solidFill>
                <a:schemeClr val="accent1">
                  <a:lumMod val="75000"/>
                </a:schemeClr>
              </a:solidFill>
            </a:endParaRPr>
          </a:p>
        </p:txBody>
      </p:sp>
    </p:spTree>
    <p:extLst>
      <p:ext uri="{BB962C8B-B14F-4D97-AF65-F5344CB8AC3E}">
        <p14:creationId xmlns:p14="http://schemas.microsoft.com/office/powerpoint/2010/main" val="27670904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Assigning </a:t>
            </a:r>
            <a:r>
              <a:rPr lang="en-US" sz="3200" b="1" dirty="0"/>
              <a:t>or Initializing Values to Variables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20</a:t>
            </a:fld>
            <a:endParaRPr lang="en-US"/>
          </a:p>
        </p:txBody>
      </p:sp>
      <p:sp>
        <p:nvSpPr>
          <p:cNvPr id="6" name="Rectangle 5"/>
          <p:cNvSpPr/>
          <p:nvPr/>
        </p:nvSpPr>
        <p:spPr>
          <a:xfrm>
            <a:off x="185739" y="1612527"/>
            <a:ext cx="11715750" cy="2031325"/>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In </a:t>
            </a:r>
            <a:r>
              <a:rPr lang="en-US" b="1" dirty="0">
                <a:solidFill>
                  <a:schemeClr val="accent1">
                    <a:lumMod val="75000"/>
                  </a:schemeClr>
                </a:solidFill>
              </a:rPr>
              <a:t>Python, programmers need not explicitly declare variables to reserve memory space. The declaration is done automatically when a value is assigned to the variable using the equal sign (=). The operand on the left side of equal sign is the name of the variable and the operand on its right side is the value to be stored in that variable. </a:t>
            </a:r>
            <a:endParaRPr lang="en-US" b="1" dirty="0" smtClean="0">
              <a:solidFill>
                <a:schemeClr val="accent1">
                  <a:lumMod val="75000"/>
                </a:schemeClr>
              </a:solidFill>
            </a:endParaRPr>
          </a:p>
          <a:p>
            <a:endParaRPr lang="en-US" b="1" dirty="0" smtClean="0">
              <a:solidFill>
                <a:schemeClr val="accent1">
                  <a:lumMod val="75000"/>
                </a:schemeClr>
              </a:solidFill>
            </a:endParaRPr>
          </a:p>
        </p:txBody>
      </p:sp>
      <p:sp>
        <p:nvSpPr>
          <p:cNvPr id="8" name="TextBox 7"/>
          <p:cNvSpPr txBox="1"/>
          <p:nvPr/>
        </p:nvSpPr>
        <p:spPr>
          <a:xfrm>
            <a:off x="185739" y="3459186"/>
            <a:ext cx="1141017" cy="369332"/>
          </a:xfrm>
          <a:prstGeom prst="rect">
            <a:avLst/>
          </a:prstGeom>
          <a:noFill/>
        </p:spPr>
        <p:txBody>
          <a:bodyPr wrap="square" rtlCol="0">
            <a:spAutoFit/>
          </a:bodyPr>
          <a:lstStyle/>
          <a:p>
            <a:r>
              <a:rPr lang="en-IN" dirty="0" smtClean="0"/>
              <a:t>Example:</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9370" y="3162304"/>
            <a:ext cx="7833260" cy="3158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1958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Data Type Boolean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21</a:t>
            </a:fld>
            <a:endParaRPr lang="en-US"/>
          </a:p>
        </p:txBody>
      </p:sp>
      <p:sp>
        <p:nvSpPr>
          <p:cNvPr id="6" name="Rectangle 5"/>
          <p:cNvSpPr/>
          <p:nvPr/>
        </p:nvSpPr>
        <p:spPr>
          <a:xfrm>
            <a:off x="221309" y="1706332"/>
            <a:ext cx="11730038" cy="1338828"/>
          </a:xfrm>
          <a:prstGeom prst="rect">
            <a:avLst/>
          </a:prstGeom>
        </p:spPr>
        <p:txBody>
          <a:bodyPr wrap="square" numCol="1">
            <a:spAutoFit/>
          </a:bodyPr>
          <a:lstStyle/>
          <a:p>
            <a:pPr>
              <a:lnSpc>
                <a:spcPct val="150000"/>
              </a:lnSpc>
            </a:pPr>
            <a:r>
              <a:rPr lang="en-US" b="1" dirty="0">
                <a:solidFill>
                  <a:schemeClr val="accent1">
                    <a:lumMod val="75000"/>
                  </a:schemeClr>
                </a:solidFill>
              </a:rPr>
              <a:t>Boolean is another data type in Python.  A variable of Boolean type can have one of the two values- True or False. Similar to other variables, the Boolean variables are also created while we assign a value to them or when we use a relational operator on them.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3211972"/>
            <a:ext cx="8458200" cy="2939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221309" y="3098296"/>
            <a:ext cx="1141017"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31750657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Input Operation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22</a:t>
            </a:fld>
            <a:endParaRPr lang="en-US"/>
          </a:p>
        </p:txBody>
      </p:sp>
      <p:sp>
        <p:nvSpPr>
          <p:cNvPr id="6" name="Rectangle 5"/>
          <p:cNvSpPr/>
          <p:nvPr/>
        </p:nvSpPr>
        <p:spPr>
          <a:xfrm>
            <a:off x="195097" y="1639373"/>
            <a:ext cx="11415713" cy="1338828"/>
          </a:xfrm>
          <a:prstGeom prst="rect">
            <a:avLst/>
          </a:prstGeom>
        </p:spPr>
        <p:txBody>
          <a:bodyPr wrap="square" numCol="1">
            <a:spAutoFit/>
          </a:bodyPr>
          <a:lstStyle/>
          <a:p>
            <a:pPr>
              <a:lnSpc>
                <a:spcPct val="150000"/>
              </a:lnSpc>
            </a:pPr>
            <a:r>
              <a:rPr lang="en-US" b="1" dirty="0" smtClean="0">
                <a:solidFill>
                  <a:schemeClr val="accent1">
                    <a:lumMod val="75000"/>
                  </a:schemeClr>
                </a:solidFill>
              </a:rPr>
              <a:t>To </a:t>
            </a:r>
            <a:r>
              <a:rPr lang="en-US" b="1" dirty="0">
                <a:solidFill>
                  <a:schemeClr val="accent1">
                    <a:lumMod val="75000"/>
                  </a:schemeClr>
                </a:solidFill>
              </a:rPr>
              <a:t>take input from the users, Python makes use of the </a:t>
            </a:r>
            <a:r>
              <a:rPr lang="en-US" b="1" dirty="0" smtClean="0">
                <a:solidFill>
                  <a:srgbClr val="FF0000"/>
                </a:solidFill>
              </a:rPr>
              <a:t>input() </a:t>
            </a:r>
            <a:r>
              <a:rPr lang="en-US" b="1" dirty="0">
                <a:solidFill>
                  <a:srgbClr val="FF0000"/>
                </a:solidFill>
              </a:rPr>
              <a:t>function</a:t>
            </a:r>
            <a:r>
              <a:rPr lang="en-US" b="1" dirty="0">
                <a:solidFill>
                  <a:schemeClr val="accent1">
                    <a:lumMod val="75000"/>
                  </a:schemeClr>
                </a:solidFill>
              </a:rPr>
              <a:t>. The input() function prompts the user to provide some information on which the program can work and give the result. However, we must always remember that the input function takes user’s input as a string.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2479001" y="3152193"/>
            <a:ext cx="6148147" cy="990844"/>
          </a:xfrm>
          <a:prstGeom prst="rect">
            <a:avLst/>
          </a:prstGeom>
        </p:spPr>
      </p:pic>
      <p:pic>
        <p:nvPicPr>
          <p:cNvPr id="7" name="Picture 6"/>
          <p:cNvPicPr>
            <a:picLocks noChangeAspect="1"/>
          </p:cNvPicPr>
          <p:nvPr/>
        </p:nvPicPr>
        <p:blipFill>
          <a:blip r:embed="rId3"/>
          <a:stretch>
            <a:fillRect/>
          </a:stretch>
        </p:blipFill>
        <p:spPr>
          <a:xfrm>
            <a:off x="2479001" y="4143037"/>
            <a:ext cx="6148147" cy="1397344"/>
          </a:xfrm>
          <a:prstGeom prst="rect">
            <a:avLst/>
          </a:prstGeom>
        </p:spPr>
      </p:pic>
      <p:sp>
        <p:nvSpPr>
          <p:cNvPr id="9" name="TextBox 8"/>
          <p:cNvSpPr txBox="1"/>
          <p:nvPr/>
        </p:nvSpPr>
        <p:spPr>
          <a:xfrm>
            <a:off x="485775" y="3024779"/>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11503087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Comments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23</a:t>
            </a:fld>
            <a:endParaRPr lang="en-US"/>
          </a:p>
        </p:txBody>
      </p:sp>
      <p:sp>
        <p:nvSpPr>
          <p:cNvPr id="6" name="Rectangle 5"/>
          <p:cNvSpPr/>
          <p:nvPr/>
        </p:nvSpPr>
        <p:spPr>
          <a:xfrm>
            <a:off x="195097" y="1615656"/>
            <a:ext cx="11415713" cy="2585323"/>
          </a:xfrm>
          <a:prstGeom prst="rect">
            <a:avLst/>
          </a:prstGeom>
        </p:spPr>
        <p:txBody>
          <a:bodyPr wrap="square" numCol="1">
            <a:spAutoFit/>
          </a:bodyPr>
          <a:lstStyle/>
          <a:p>
            <a:pPr algn="just">
              <a:lnSpc>
                <a:spcPct val="150000"/>
              </a:lnSpc>
            </a:pPr>
            <a:r>
              <a:rPr lang="en-US" b="1" dirty="0" smtClean="0">
                <a:solidFill>
                  <a:srgbClr val="C00000"/>
                </a:solidFill>
              </a:rPr>
              <a:t>Comments </a:t>
            </a:r>
            <a:r>
              <a:rPr lang="en-US" b="1" dirty="0">
                <a:solidFill>
                  <a:schemeClr val="accent1">
                    <a:lumMod val="75000"/>
                  </a:schemeClr>
                </a:solidFill>
              </a:rPr>
              <a:t>are the non-executable statements in a program. They are just added to describe the statements in the program code. Comments make the program easily readable and understandable by the programmer as well as other users who are seeing the code. The interpreter simply ignores the comments. </a:t>
            </a:r>
          </a:p>
          <a:p>
            <a:pPr algn="just">
              <a:lnSpc>
                <a:spcPct val="150000"/>
              </a:lnSpc>
            </a:pPr>
            <a:r>
              <a:rPr lang="en-US" b="1" dirty="0">
                <a:solidFill>
                  <a:schemeClr val="accent1">
                    <a:lumMod val="75000"/>
                  </a:schemeClr>
                </a:solidFill>
              </a:rPr>
              <a:t>In Python, a hash sign (#) that is not inside a string literal begins a comment. All characters following the # and up to the end of the line are part of the comment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4310063" y="4434793"/>
            <a:ext cx="4573002" cy="1968985"/>
          </a:xfrm>
          <a:prstGeom prst="rect">
            <a:avLst/>
          </a:prstGeom>
        </p:spPr>
      </p:pic>
      <p:sp>
        <p:nvSpPr>
          <p:cNvPr id="8" name="TextBox 7"/>
          <p:cNvSpPr txBox="1"/>
          <p:nvPr/>
        </p:nvSpPr>
        <p:spPr>
          <a:xfrm>
            <a:off x="388143" y="4434793"/>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23499048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Indentation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24</a:t>
            </a:fld>
            <a:endParaRPr lang="en-US"/>
          </a:p>
        </p:txBody>
      </p:sp>
      <p:sp>
        <p:nvSpPr>
          <p:cNvPr id="6" name="Rectangle 5"/>
          <p:cNvSpPr/>
          <p:nvPr/>
        </p:nvSpPr>
        <p:spPr>
          <a:xfrm>
            <a:off x="195097" y="1625262"/>
            <a:ext cx="11551426" cy="1338828"/>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Whitespace </a:t>
            </a:r>
            <a:r>
              <a:rPr lang="en-US" b="1" dirty="0">
                <a:solidFill>
                  <a:schemeClr val="accent1">
                    <a:lumMod val="75000"/>
                  </a:schemeClr>
                </a:solidFill>
              </a:rPr>
              <a:t>at the beginning of the line is called </a:t>
            </a:r>
            <a:r>
              <a:rPr lang="en-US" b="1" i="1" dirty="0">
                <a:solidFill>
                  <a:schemeClr val="accent1">
                    <a:lumMod val="75000"/>
                  </a:schemeClr>
                </a:solidFill>
              </a:rPr>
              <a:t>indentation</a:t>
            </a:r>
            <a:r>
              <a:rPr lang="en-US" b="1" dirty="0">
                <a:solidFill>
                  <a:schemeClr val="accent1">
                    <a:lumMod val="75000"/>
                  </a:schemeClr>
                </a:solidFill>
              </a:rPr>
              <a:t>. These </a:t>
            </a:r>
            <a:r>
              <a:rPr lang="en-US" b="1" i="1" dirty="0">
                <a:solidFill>
                  <a:schemeClr val="accent1">
                    <a:lumMod val="75000"/>
                  </a:schemeClr>
                </a:solidFill>
              </a:rPr>
              <a:t>whitespaces or the</a:t>
            </a:r>
            <a:r>
              <a:rPr lang="en-US" b="1" i="1" dirty="0">
                <a:solidFill>
                  <a:srgbClr val="C00000"/>
                </a:solidFill>
              </a:rPr>
              <a:t> indentation</a:t>
            </a:r>
            <a:r>
              <a:rPr lang="en-US" b="1" dirty="0">
                <a:solidFill>
                  <a:srgbClr val="C00000"/>
                </a:solidFill>
              </a:rPr>
              <a:t> </a:t>
            </a:r>
            <a:r>
              <a:rPr lang="en-US" b="1" dirty="0">
                <a:solidFill>
                  <a:schemeClr val="accent1">
                    <a:lumMod val="75000"/>
                  </a:schemeClr>
                </a:solidFill>
              </a:rPr>
              <a:t>are very important in Python. In a Python program, the </a:t>
            </a:r>
            <a:r>
              <a:rPr lang="en-US" b="1" dirty="0" smtClean="0">
                <a:solidFill>
                  <a:schemeClr val="accent1">
                    <a:lumMod val="75000"/>
                  </a:schemeClr>
                </a:solidFill>
              </a:rPr>
              <a:t>leading </a:t>
            </a:r>
            <a:r>
              <a:rPr lang="en-US" b="1" dirty="0">
                <a:solidFill>
                  <a:schemeClr val="accent1">
                    <a:lumMod val="75000"/>
                  </a:schemeClr>
                </a:solidFill>
              </a:rPr>
              <a:t>whitespace including spaces and tabs at the beginning of the logical line determines the indentation level of that logical line. </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2230362" y="3408179"/>
            <a:ext cx="7926537" cy="2184938"/>
          </a:xfrm>
          <a:prstGeom prst="rect">
            <a:avLst/>
          </a:prstGeom>
        </p:spPr>
      </p:pic>
      <p:sp>
        <p:nvSpPr>
          <p:cNvPr id="8" name="TextBox 7"/>
          <p:cNvSpPr txBox="1"/>
          <p:nvPr/>
        </p:nvSpPr>
        <p:spPr>
          <a:xfrm>
            <a:off x="388143" y="3223513"/>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15585276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Arithmetic </a:t>
            </a:r>
            <a:r>
              <a:rPr lang="en-US" sz="3200" b="1" dirty="0"/>
              <a:t>Operators</a:t>
            </a:r>
            <a:r>
              <a:rPr lang="en-US" sz="3200" b="1" dirty="0" smtClean="0"/>
              <a: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545" y="1686297"/>
            <a:ext cx="8674677" cy="4634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2214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Comparison </a:t>
            </a:r>
            <a:r>
              <a:rPr lang="en-US" sz="3200" b="1" dirty="0"/>
              <a:t>Operators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286" y="1745674"/>
            <a:ext cx="9630888" cy="4573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73862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Unary </a:t>
            </a:r>
            <a:r>
              <a:rPr lang="en-US" sz="3200" b="1" dirty="0"/>
              <a:t>Operators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27</a:t>
            </a:fld>
            <a:endParaRPr lang="en-US"/>
          </a:p>
        </p:txBody>
      </p:sp>
      <p:sp>
        <p:nvSpPr>
          <p:cNvPr id="6" name="Rectangle 5"/>
          <p:cNvSpPr/>
          <p:nvPr/>
        </p:nvSpPr>
        <p:spPr>
          <a:xfrm>
            <a:off x="388143" y="1706332"/>
            <a:ext cx="11415713" cy="4247317"/>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Unary </a:t>
            </a:r>
            <a:r>
              <a:rPr lang="en-US" b="1" dirty="0">
                <a:solidFill>
                  <a:schemeClr val="accent1">
                    <a:lumMod val="75000"/>
                  </a:schemeClr>
                </a:solidFill>
              </a:rPr>
              <a:t>operators act on </a:t>
            </a:r>
            <a:r>
              <a:rPr lang="en-US" b="1" dirty="0">
                <a:solidFill>
                  <a:srgbClr val="C00000"/>
                </a:solidFill>
              </a:rPr>
              <a:t>single operands</a:t>
            </a:r>
            <a:r>
              <a:rPr lang="en-US" b="1" dirty="0">
                <a:solidFill>
                  <a:schemeClr val="accent1">
                    <a:lumMod val="75000"/>
                  </a:schemeClr>
                </a:solidFill>
              </a:rPr>
              <a:t>. Python supports unary minus operator. Unary minus operator is strikingly different from the arithmetic operator that operates on two operands and subtracts the second operand from the first operand. When an operand is preceded by a minus sign, the unary operator negates its value. </a:t>
            </a:r>
          </a:p>
          <a:p>
            <a:pPr algn="just">
              <a:lnSpc>
                <a:spcPct val="150000"/>
              </a:lnSpc>
            </a:pPr>
            <a:r>
              <a:rPr lang="en-US" b="1" dirty="0">
                <a:solidFill>
                  <a:schemeClr val="accent1">
                    <a:lumMod val="75000"/>
                  </a:schemeClr>
                </a:solidFill>
              </a:rPr>
              <a:t>For example, if a number is positive, it becomes negative when preceded with a unary minus operator. Similarly, if the number is negative, it becomes positive after applying the unary minus operator. Consider the given example. </a:t>
            </a:r>
          </a:p>
          <a:p>
            <a:pPr algn="just">
              <a:lnSpc>
                <a:spcPct val="150000"/>
              </a:lnSpc>
            </a:pPr>
            <a:r>
              <a:rPr lang="en-US" b="1" dirty="0">
                <a:solidFill>
                  <a:srgbClr val="C00000"/>
                </a:solidFill>
              </a:rPr>
              <a:t>b = 10 a = -(b</a:t>
            </a:r>
            <a:r>
              <a:rPr lang="en-US" b="1" dirty="0" smtClean="0">
                <a:solidFill>
                  <a:srgbClr val="C00000"/>
                </a:solidFill>
              </a:rPr>
              <a:t>)</a:t>
            </a:r>
            <a:endParaRPr lang="en-US" b="1" dirty="0">
              <a:solidFill>
                <a:srgbClr val="C00000"/>
              </a:solidFill>
            </a:endParaRPr>
          </a:p>
          <a:p>
            <a:pPr algn="just">
              <a:lnSpc>
                <a:spcPct val="150000"/>
              </a:lnSpc>
            </a:pPr>
            <a:r>
              <a:rPr lang="en-US" b="1" dirty="0">
                <a:solidFill>
                  <a:schemeClr val="accent1">
                    <a:lumMod val="75000"/>
                  </a:schemeClr>
                </a:solidFill>
              </a:rPr>
              <a:t>The result of this expression, is </a:t>
            </a:r>
            <a:r>
              <a:rPr lang="en-US" b="1" dirty="0">
                <a:solidFill>
                  <a:srgbClr val="C00000"/>
                </a:solidFill>
              </a:rPr>
              <a:t>a = -10</a:t>
            </a:r>
            <a:r>
              <a:rPr lang="en-US" b="1" dirty="0">
                <a:solidFill>
                  <a:schemeClr val="accent1">
                    <a:lumMod val="75000"/>
                  </a:schemeClr>
                </a:solidFill>
              </a:rPr>
              <a:t>, because variable b has a positive value. After applying unary minus operator (-) on the operand b, the value becomes</a:t>
            </a:r>
            <a:r>
              <a:rPr lang="en-US" b="1" dirty="0">
                <a:solidFill>
                  <a:srgbClr val="C00000"/>
                </a:solidFill>
              </a:rPr>
              <a:t> -10</a:t>
            </a:r>
            <a:r>
              <a:rPr lang="en-US" b="1" dirty="0">
                <a:solidFill>
                  <a:schemeClr val="accent1">
                    <a:lumMod val="75000"/>
                  </a:schemeClr>
                </a:solidFill>
              </a:rPr>
              <a:t>, which indicates it as a negative value.</a:t>
            </a:r>
            <a:endParaRPr lang="en-US" b="1" dirty="0" smtClean="0">
              <a:solidFill>
                <a:schemeClr val="accent1">
                  <a:lumMod val="75000"/>
                </a:schemeClr>
              </a:solidFill>
            </a:endParaRPr>
          </a:p>
        </p:txBody>
      </p:sp>
    </p:spTree>
    <p:extLst>
      <p:ext uri="{BB962C8B-B14F-4D97-AF65-F5344CB8AC3E}">
        <p14:creationId xmlns:p14="http://schemas.microsoft.com/office/powerpoint/2010/main" val="9438060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Bitwise </a:t>
            </a:r>
            <a:r>
              <a:rPr lang="en-US" sz="3200" b="1" dirty="0"/>
              <a:t>Operators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28</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827" y="3628046"/>
            <a:ext cx="9072181" cy="1448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37165" y="1668192"/>
            <a:ext cx="11523425" cy="1754326"/>
          </a:xfrm>
          <a:prstGeom prst="rect">
            <a:avLst/>
          </a:prstGeom>
        </p:spPr>
        <p:txBody>
          <a:bodyPr wrap="square">
            <a:spAutoFit/>
          </a:bodyPr>
          <a:lstStyle/>
          <a:p>
            <a:pPr>
              <a:lnSpc>
                <a:spcPct val="150000"/>
              </a:lnSpc>
            </a:pPr>
            <a:r>
              <a:rPr lang="en-IN" b="1" dirty="0">
                <a:solidFill>
                  <a:schemeClr val="accent1">
                    <a:lumMod val="75000"/>
                  </a:schemeClr>
                </a:solidFill>
              </a:rPr>
              <a:t>As the name suggests, bitwise operators perform operations at the bit level. These operators include </a:t>
            </a:r>
            <a:r>
              <a:rPr lang="en-IN" b="1" dirty="0" smtClean="0">
                <a:solidFill>
                  <a:schemeClr val="accent1">
                    <a:lumMod val="75000"/>
                  </a:schemeClr>
                </a:solidFill>
              </a:rPr>
              <a:t>bitwise AND</a:t>
            </a:r>
            <a:r>
              <a:rPr lang="en-IN" b="1" dirty="0">
                <a:solidFill>
                  <a:schemeClr val="accent1">
                    <a:lumMod val="75000"/>
                  </a:schemeClr>
                </a:solidFill>
              </a:rPr>
              <a:t>, bitwise OR, bitwise XOR, and shift operators. Bitwise operators expect their operands to be </a:t>
            </a:r>
            <a:r>
              <a:rPr lang="en-IN" b="1" dirty="0" smtClean="0">
                <a:solidFill>
                  <a:schemeClr val="accent1">
                    <a:lumMod val="75000"/>
                  </a:schemeClr>
                </a:solidFill>
              </a:rPr>
              <a:t>of integers </a:t>
            </a:r>
            <a:r>
              <a:rPr lang="en-IN" b="1" dirty="0">
                <a:solidFill>
                  <a:schemeClr val="accent1">
                    <a:lumMod val="75000"/>
                  </a:schemeClr>
                </a:solidFill>
              </a:rPr>
              <a:t>and treat them as a sequence of bits</a:t>
            </a:r>
            <a:r>
              <a:rPr lang="en-IN" b="1" dirty="0" smtClean="0">
                <a:solidFill>
                  <a:schemeClr val="accent1">
                    <a:lumMod val="75000"/>
                  </a:schemeClr>
                </a:solidFill>
              </a:rPr>
              <a:t>.</a:t>
            </a:r>
          </a:p>
          <a:p>
            <a:pPr>
              <a:lnSpc>
                <a:spcPct val="150000"/>
              </a:lnSpc>
            </a:pPr>
            <a:r>
              <a:rPr lang="en-IN" b="1" dirty="0">
                <a:solidFill>
                  <a:schemeClr val="accent1">
                    <a:lumMod val="75000"/>
                  </a:schemeClr>
                </a:solidFill>
              </a:rPr>
              <a:t>The truth tables of these bitwise operators </a:t>
            </a:r>
            <a:r>
              <a:rPr lang="en-IN" b="1" dirty="0" smtClean="0">
                <a:solidFill>
                  <a:schemeClr val="accent1">
                    <a:lumMod val="75000"/>
                  </a:schemeClr>
                </a:solidFill>
              </a:rPr>
              <a:t>are given below.</a:t>
            </a:r>
            <a:endParaRPr lang="en-IN" b="1" dirty="0">
              <a:solidFill>
                <a:schemeClr val="accent1">
                  <a:lumMod val="75000"/>
                </a:schemeClr>
              </a:solidFill>
            </a:endParaRPr>
          </a:p>
        </p:txBody>
      </p:sp>
    </p:spTree>
    <p:extLst>
      <p:ext uri="{BB962C8B-B14F-4D97-AF65-F5344CB8AC3E}">
        <p14:creationId xmlns:p14="http://schemas.microsoft.com/office/powerpoint/2010/main" val="31573084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Shift </a:t>
            </a:r>
            <a:r>
              <a:rPr lang="en-US" sz="3200" b="1" dirty="0"/>
              <a:t>Operators</a:t>
            </a:r>
            <a:endParaRPr lang="en-US" sz="3200" dirty="0"/>
          </a:p>
        </p:txBody>
      </p:sp>
      <p:sp>
        <p:nvSpPr>
          <p:cNvPr id="6" name="Rectangle 5"/>
          <p:cNvSpPr/>
          <p:nvPr/>
        </p:nvSpPr>
        <p:spPr>
          <a:xfrm>
            <a:off x="195097" y="1699452"/>
            <a:ext cx="11415713" cy="923330"/>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Python </a:t>
            </a:r>
            <a:r>
              <a:rPr lang="en-US" b="1" dirty="0">
                <a:solidFill>
                  <a:schemeClr val="accent1">
                    <a:lumMod val="75000"/>
                  </a:schemeClr>
                </a:solidFill>
              </a:rPr>
              <a:t>supports two bitwise shift operators. They are shift left (&lt;&lt;) and shift right (&gt;&gt;). These operations are used to shift bits to the left or to the right. The syntax for a shift operation can be given as follows:</a:t>
            </a:r>
            <a:endParaRPr lang="en-US" b="1" dirty="0" smtClean="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889536" y="3108873"/>
            <a:ext cx="1778390" cy="406500"/>
          </a:xfrm>
          <a:prstGeom prst="rect">
            <a:avLst/>
          </a:prstGeom>
        </p:spPr>
      </p:pic>
      <p:pic>
        <p:nvPicPr>
          <p:cNvPr id="7" name="Picture 6"/>
          <p:cNvPicPr>
            <a:picLocks noChangeAspect="1"/>
          </p:cNvPicPr>
          <p:nvPr/>
        </p:nvPicPr>
        <p:blipFill>
          <a:blip r:embed="rId3"/>
          <a:stretch>
            <a:fillRect/>
          </a:stretch>
        </p:blipFill>
        <p:spPr>
          <a:xfrm>
            <a:off x="3044412" y="3104949"/>
            <a:ext cx="3861646" cy="635156"/>
          </a:xfrm>
          <a:prstGeom prst="rect">
            <a:avLst/>
          </a:prstGeom>
        </p:spPr>
      </p:pic>
      <p:pic>
        <p:nvPicPr>
          <p:cNvPr id="8" name="Picture 7"/>
          <p:cNvPicPr>
            <a:picLocks noChangeAspect="1"/>
          </p:cNvPicPr>
          <p:nvPr/>
        </p:nvPicPr>
        <p:blipFill>
          <a:blip r:embed="rId4"/>
          <a:stretch>
            <a:fillRect/>
          </a:stretch>
        </p:blipFill>
        <p:spPr>
          <a:xfrm>
            <a:off x="7389421" y="3130355"/>
            <a:ext cx="3861646" cy="584344"/>
          </a:xfrm>
          <a:prstGeom prst="rect">
            <a:avLst/>
          </a:prstGeom>
        </p:spPr>
      </p:pic>
      <p:pic>
        <p:nvPicPr>
          <p:cNvPr id="9" name="Picture 8"/>
          <p:cNvPicPr>
            <a:picLocks noChangeAspect="1"/>
          </p:cNvPicPr>
          <p:nvPr/>
        </p:nvPicPr>
        <p:blipFill>
          <a:blip r:embed="rId5"/>
          <a:stretch>
            <a:fillRect/>
          </a:stretch>
        </p:blipFill>
        <p:spPr>
          <a:xfrm>
            <a:off x="3953174" y="4237187"/>
            <a:ext cx="4979491" cy="1283016"/>
          </a:xfrm>
          <a:prstGeom prst="rect">
            <a:avLst/>
          </a:prstGeom>
        </p:spPr>
      </p:pic>
      <p:sp>
        <p:nvSpPr>
          <p:cNvPr id="11" name="TextBox 10"/>
          <p:cNvSpPr txBox="1"/>
          <p:nvPr/>
        </p:nvSpPr>
        <p:spPr>
          <a:xfrm>
            <a:off x="268707" y="2698239"/>
            <a:ext cx="1141017"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28157893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Logical </a:t>
            </a:r>
            <a:r>
              <a:rPr lang="en-US" sz="3200" b="1" dirty="0"/>
              <a:t>Operators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30</a:t>
            </a:fld>
            <a:endParaRPr lang="en-US"/>
          </a:p>
        </p:txBody>
      </p:sp>
      <p:sp>
        <p:nvSpPr>
          <p:cNvPr id="6" name="Rectangle 5"/>
          <p:cNvSpPr/>
          <p:nvPr/>
        </p:nvSpPr>
        <p:spPr>
          <a:xfrm>
            <a:off x="142503" y="1455973"/>
            <a:ext cx="11863449" cy="5078313"/>
          </a:xfrm>
          <a:prstGeom prst="rect">
            <a:avLst/>
          </a:prstGeom>
        </p:spPr>
        <p:txBody>
          <a:bodyPr wrap="square" numCol="1">
            <a:spAutoFit/>
          </a:bodyPr>
          <a:lstStyle/>
          <a:p>
            <a:pPr algn="just">
              <a:lnSpc>
                <a:spcPct val="150000"/>
              </a:lnSpc>
            </a:pPr>
            <a:r>
              <a:rPr lang="en-US" b="1" dirty="0" smtClean="0">
                <a:solidFill>
                  <a:srgbClr val="C00000"/>
                </a:solidFill>
              </a:rPr>
              <a:t>Logical </a:t>
            </a:r>
            <a:r>
              <a:rPr lang="en-US" b="1" dirty="0">
                <a:solidFill>
                  <a:srgbClr val="C00000"/>
                </a:solidFill>
              </a:rPr>
              <a:t>AND </a:t>
            </a:r>
            <a:r>
              <a:rPr lang="en-US" b="1" dirty="0" smtClean="0">
                <a:solidFill>
                  <a:srgbClr val="C00000"/>
                </a:solidFill>
              </a:rPr>
              <a:t>(&amp;&amp;) operator </a:t>
            </a:r>
            <a:r>
              <a:rPr lang="en-US" b="1" dirty="0">
                <a:solidFill>
                  <a:schemeClr val="accent1">
                    <a:lumMod val="75000"/>
                  </a:schemeClr>
                </a:solidFill>
              </a:rPr>
              <a:t>is used to simultaneously evaluate two conditions or expressions with relational operators. If expressions on both the sides (left and right side) of the logical operator are true, then the whole expression is true. For example, </a:t>
            </a:r>
            <a:r>
              <a:rPr lang="en-US" b="1" dirty="0" smtClean="0">
                <a:solidFill>
                  <a:schemeClr val="accent1">
                    <a:lumMod val="75000"/>
                  </a:schemeClr>
                </a:solidFill>
              </a:rPr>
              <a:t>If </a:t>
            </a:r>
            <a:r>
              <a:rPr lang="en-US" b="1" dirty="0">
                <a:solidFill>
                  <a:schemeClr val="accent1">
                    <a:lumMod val="75000"/>
                  </a:schemeClr>
                </a:solidFill>
              </a:rPr>
              <a:t>we have an expression (a&gt;b) &amp;&amp; (b&gt;c), then the whole expression is true only if both expressions are true. That is, if b is greater than a and c. </a:t>
            </a:r>
          </a:p>
          <a:p>
            <a:pPr algn="just">
              <a:lnSpc>
                <a:spcPct val="150000"/>
              </a:lnSpc>
            </a:pPr>
            <a:r>
              <a:rPr lang="en-US" b="1" dirty="0" smtClean="0">
                <a:solidFill>
                  <a:srgbClr val="C00000"/>
                </a:solidFill>
              </a:rPr>
              <a:t>Logical </a:t>
            </a:r>
            <a:r>
              <a:rPr lang="en-US" b="1" dirty="0">
                <a:solidFill>
                  <a:srgbClr val="C00000"/>
                </a:solidFill>
              </a:rPr>
              <a:t>OR </a:t>
            </a:r>
            <a:r>
              <a:rPr lang="en-US" b="1" dirty="0" smtClean="0">
                <a:solidFill>
                  <a:srgbClr val="C00000"/>
                </a:solidFill>
              </a:rPr>
              <a:t>(||) operator </a:t>
            </a:r>
            <a:r>
              <a:rPr lang="en-US" b="1" dirty="0">
                <a:solidFill>
                  <a:schemeClr val="accent1">
                    <a:lumMod val="75000"/>
                  </a:schemeClr>
                </a:solidFill>
              </a:rPr>
              <a:t>is used to simultaneously evaluate two conditions or expressions with relational operators. If one or both the expressions of the logical operator is true, then the whole expression is true. For example, </a:t>
            </a:r>
            <a:r>
              <a:rPr lang="en-US" b="1" dirty="0" smtClean="0">
                <a:solidFill>
                  <a:schemeClr val="accent1">
                    <a:lumMod val="75000"/>
                  </a:schemeClr>
                </a:solidFill>
              </a:rPr>
              <a:t>If </a:t>
            </a:r>
            <a:r>
              <a:rPr lang="en-US" b="1" dirty="0">
                <a:solidFill>
                  <a:schemeClr val="accent1">
                    <a:lumMod val="75000"/>
                  </a:schemeClr>
                </a:solidFill>
              </a:rPr>
              <a:t>we have an expression (a&gt;b) || (b&gt;c), then the whole expression is true if either b is greater than a or b is greater than c. </a:t>
            </a:r>
          </a:p>
          <a:p>
            <a:pPr algn="just">
              <a:lnSpc>
                <a:spcPct val="150000"/>
              </a:lnSpc>
            </a:pPr>
            <a:r>
              <a:rPr lang="en-US" b="1" dirty="0" smtClean="0">
                <a:solidFill>
                  <a:srgbClr val="C00000"/>
                </a:solidFill>
              </a:rPr>
              <a:t>Logical </a:t>
            </a:r>
            <a:r>
              <a:rPr lang="en-US" b="1" dirty="0">
                <a:solidFill>
                  <a:srgbClr val="C00000"/>
                </a:solidFill>
              </a:rPr>
              <a:t>not </a:t>
            </a:r>
            <a:r>
              <a:rPr lang="en-US" b="1" dirty="0" smtClean="0">
                <a:solidFill>
                  <a:srgbClr val="C00000"/>
                </a:solidFill>
              </a:rPr>
              <a:t>(!) operator </a:t>
            </a:r>
            <a:r>
              <a:rPr lang="en-US" b="1" dirty="0">
                <a:solidFill>
                  <a:schemeClr val="accent1">
                    <a:lumMod val="75000"/>
                  </a:schemeClr>
                </a:solidFill>
              </a:rPr>
              <a:t>takes a single expression and negates the value of the expression. Logical NOT produces a zero if the expression evaluates to a non-zero value and produces a 1 if the expression produces a zero. In other words, it just reverses the value of the expression. For example, </a:t>
            </a:r>
            <a:r>
              <a:rPr lang="en-US" b="1" dirty="0" smtClean="0">
                <a:solidFill>
                  <a:schemeClr val="accent1">
                    <a:lumMod val="75000"/>
                  </a:schemeClr>
                </a:solidFill>
              </a:rPr>
              <a:t>a </a:t>
            </a:r>
            <a:r>
              <a:rPr lang="en-US" b="1" dirty="0">
                <a:solidFill>
                  <a:schemeClr val="accent1">
                    <a:lumMod val="75000"/>
                  </a:schemeClr>
                </a:solidFill>
              </a:rPr>
              <a:t>= 10, b b = !a; Now, the value of b = 0. The value of a is not zero, therefore, !a = 0. The value of !a is assigned to b, hence, the result.</a:t>
            </a:r>
            <a:endParaRPr lang="en-US" b="1" dirty="0" smtClean="0">
              <a:solidFill>
                <a:schemeClr val="accent1">
                  <a:lumMod val="75000"/>
                </a:schemeClr>
              </a:solidFill>
            </a:endParaRPr>
          </a:p>
        </p:txBody>
      </p:sp>
    </p:spTree>
    <p:extLst>
      <p:ext uri="{BB962C8B-B14F-4D97-AF65-F5344CB8AC3E}">
        <p14:creationId xmlns:p14="http://schemas.microsoft.com/office/powerpoint/2010/main" val="16313417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Membership and Identity </a:t>
            </a:r>
            <a:r>
              <a:rPr lang="en-US" sz="3200" b="1" dirty="0"/>
              <a:t>Operators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31</a:t>
            </a:fld>
            <a:endParaRPr lang="en-US"/>
          </a:p>
        </p:txBody>
      </p:sp>
      <p:sp>
        <p:nvSpPr>
          <p:cNvPr id="6" name="Rectangle 5"/>
          <p:cNvSpPr/>
          <p:nvPr/>
        </p:nvSpPr>
        <p:spPr>
          <a:xfrm>
            <a:off x="179958" y="1604475"/>
            <a:ext cx="11580854" cy="5078313"/>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Python </a:t>
            </a:r>
            <a:r>
              <a:rPr lang="en-US" b="1" dirty="0">
                <a:solidFill>
                  <a:schemeClr val="accent1">
                    <a:lumMod val="75000"/>
                  </a:schemeClr>
                </a:solidFill>
              </a:rPr>
              <a:t>supports two types of membership operators–in and not in. These operators, </a:t>
            </a:r>
            <a:r>
              <a:rPr lang="en-US" b="1" dirty="0" smtClean="0">
                <a:solidFill>
                  <a:schemeClr val="accent1">
                    <a:lumMod val="75000"/>
                  </a:schemeClr>
                </a:solidFill>
              </a:rPr>
              <a:t>test </a:t>
            </a:r>
            <a:r>
              <a:rPr lang="en-US" b="1" dirty="0">
                <a:solidFill>
                  <a:schemeClr val="accent1">
                    <a:lumMod val="75000"/>
                  </a:schemeClr>
                </a:solidFill>
              </a:rPr>
              <a:t>for membership in a sequence such as strings, lists, or </a:t>
            </a:r>
            <a:r>
              <a:rPr lang="en-US" b="1" dirty="0" smtClean="0">
                <a:solidFill>
                  <a:schemeClr val="accent1">
                    <a:lumMod val="75000"/>
                  </a:schemeClr>
                </a:solidFill>
              </a:rPr>
              <a:t>tuples.</a:t>
            </a:r>
            <a:endParaRPr lang="en-US" b="1" dirty="0">
              <a:solidFill>
                <a:schemeClr val="accent1">
                  <a:lumMod val="75000"/>
                </a:schemeClr>
              </a:solidFill>
            </a:endParaRPr>
          </a:p>
          <a:p>
            <a:pPr algn="just">
              <a:lnSpc>
                <a:spcPct val="150000"/>
              </a:lnSpc>
            </a:pPr>
            <a:r>
              <a:rPr lang="en-US" b="1" dirty="0">
                <a:solidFill>
                  <a:srgbClr val="C00000"/>
                </a:solidFill>
              </a:rPr>
              <a:t>in Operator: </a:t>
            </a:r>
            <a:r>
              <a:rPr lang="en-US" b="1" dirty="0">
                <a:solidFill>
                  <a:schemeClr val="accent1">
                    <a:lumMod val="75000"/>
                  </a:schemeClr>
                </a:solidFill>
              </a:rPr>
              <a:t>The operator returns true if a variable is found in the specified sequence and false otherwise. For example, a in </a:t>
            </a:r>
            <a:r>
              <a:rPr lang="en-US" b="1" dirty="0" err="1">
                <a:solidFill>
                  <a:schemeClr val="accent1">
                    <a:lumMod val="75000"/>
                  </a:schemeClr>
                </a:solidFill>
              </a:rPr>
              <a:t>nums</a:t>
            </a:r>
            <a:r>
              <a:rPr lang="en-US" b="1" dirty="0">
                <a:solidFill>
                  <a:schemeClr val="accent1">
                    <a:lumMod val="75000"/>
                  </a:schemeClr>
                </a:solidFill>
              </a:rPr>
              <a:t> returns 1, if a is a member of </a:t>
            </a:r>
            <a:r>
              <a:rPr lang="en-US" b="1" dirty="0" err="1">
                <a:solidFill>
                  <a:schemeClr val="accent1">
                    <a:lumMod val="75000"/>
                  </a:schemeClr>
                </a:solidFill>
              </a:rPr>
              <a:t>nums</a:t>
            </a:r>
            <a:r>
              <a:rPr lang="en-US" b="1" dirty="0">
                <a:solidFill>
                  <a:schemeClr val="accent1">
                    <a:lumMod val="75000"/>
                  </a:schemeClr>
                </a:solidFill>
              </a:rPr>
              <a:t>. </a:t>
            </a:r>
          </a:p>
          <a:p>
            <a:pPr algn="just">
              <a:lnSpc>
                <a:spcPct val="150000"/>
              </a:lnSpc>
            </a:pPr>
            <a:r>
              <a:rPr lang="en-US" b="1" dirty="0">
                <a:solidFill>
                  <a:srgbClr val="C00000"/>
                </a:solidFill>
              </a:rPr>
              <a:t>not in Operator: </a:t>
            </a:r>
            <a:r>
              <a:rPr lang="en-US" b="1" dirty="0">
                <a:solidFill>
                  <a:schemeClr val="accent1">
                    <a:lumMod val="75000"/>
                  </a:schemeClr>
                </a:solidFill>
              </a:rPr>
              <a:t>The operator returns true if a variable is not found in the specified sequence and false otherwise. For example, a not in </a:t>
            </a:r>
            <a:r>
              <a:rPr lang="en-US" b="1" dirty="0" err="1">
                <a:solidFill>
                  <a:schemeClr val="accent1">
                    <a:lumMod val="75000"/>
                  </a:schemeClr>
                </a:solidFill>
              </a:rPr>
              <a:t>nums</a:t>
            </a:r>
            <a:r>
              <a:rPr lang="en-US" b="1" dirty="0">
                <a:solidFill>
                  <a:schemeClr val="accent1">
                    <a:lumMod val="75000"/>
                  </a:schemeClr>
                </a:solidFill>
              </a:rPr>
              <a:t> returns 1, if a is not a member of </a:t>
            </a:r>
            <a:r>
              <a:rPr lang="en-US" b="1" dirty="0" err="1">
                <a:solidFill>
                  <a:schemeClr val="accent1">
                    <a:lumMod val="75000"/>
                  </a:schemeClr>
                </a:solidFill>
              </a:rPr>
              <a:t>nums</a:t>
            </a:r>
            <a:r>
              <a:rPr lang="en-US" b="1" dirty="0" smtClean="0">
                <a:solidFill>
                  <a:schemeClr val="accent1">
                    <a:lumMod val="75000"/>
                  </a:schemeClr>
                </a:solidFill>
              </a:rPr>
              <a:t>.</a:t>
            </a:r>
          </a:p>
          <a:p>
            <a:pPr algn="just">
              <a:lnSpc>
                <a:spcPct val="150000"/>
              </a:lnSpc>
            </a:pPr>
            <a:endParaRPr lang="en-US" sz="1050" b="1" dirty="0" smtClean="0">
              <a:solidFill>
                <a:srgbClr val="C00000"/>
              </a:solidFill>
            </a:endParaRPr>
          </a:p>
          <a:p>
            <a:pPr algn="just">
              <a:lnSpc>
                <a:spcPct val="150000"/>
              </a:lnSpc>
            </a:pPr>
            <a:r>
              <a:rPr lang="en-US" b="1" dirty="0" smtClean="0">
                <a:solidFill>
                  <a:srgbClr val="C00000"/>
                </a:solidFill>
              </a:rPr>
              <a:t>Identity Operators</a:t>
            </a:r>
          </a:p>
          <a:p>
            <a:pPr algn="just">
              <a:lnSpc>
                <a:spcPct val="150000"/>
              </a:lnSpc>
            </a:pPr>
            <a:r>
              <a:rPr lang="en-US" b="1" dirty="0" smtClean="0">
                <a:solidFill>
                  <a:srgbClr val="C00000"/>
                </a:solidFill>
              </a:rPr>
              <a:t>is </a:t>
            </a:r>
            <a:r>
              <a:rPr lang="en-US" b="1" dirty="0">
                <a:solidFill>
                  <a:srgbClr val="C00000"/>
                </a:solidFill>
              </a:rPr>
              <a:t>Operator: </a:t>
            </a:r>
            <a:r>
              <a:rPr lang="en-US" b="1" dirty="0">
                <a:solidFill>
                  <a:schemeClr val="accent1">
                    <a:lumMod val="75000"/>
                  </a:schemeClr>
                </a:solidFill>
              </a:rPr>
              <a:t>Returns true if operands or values on both sides of the operator point to the same object and false otherwise. For example, if a is b returns 1, if id(a) is same as id(b). </a:t>
            </a:r>
          </a:p>
          <a:p>
            <a:pPr algn="just">
              <a:lnSpc>
                <a:spcPct val="150000"/>
              </a:lnSpc>
            </a:pPr>
            <a:r>
              <a:rPr lang="en-US" b="1" dirty="0">
                <a:solidFill>
                  <a:srgbClr val="C00000"/>
                </a:solidFill>
              </a:rPr>
              <a:t>is not Operator: </a:t>
            </a:r>
            <a:r>
              <a:rPr lang="en-US" b="1" dirty="0">
                <a:solidFill>
                  <a:schemeClr val="accent1">
                    <a:lumMod val="75000"/>
                  </a:schemeClr>
                </a:solidFill>
              </a:rPr>
              <a:t>Returns true if operands or values on both sides of the operator does not point to the same object and false otherwise. For example, if a is not b returns 1, if id(a) is not same as id(b).</a:t>
            </a:r>
            <a:endParaRPr lang="en-US" b="1" dirty="0" smtClean="0">
              <a:solidFill>
                <a:schemeClr val="accent1">
                  <a:lumMod val="75000"/>
                </a:schemeClr>
              </a:solidFill>
            </a:endParaRPr>
          </a:p>
        </p:txBody>
      </p:sp>
    </p:spTree>
    <p:extLst>
      <p:ext uri="{BB962C8B-B14F-4D97-AF65-F5344CB8AC3E}">
        <p14:creationId xmlns:p14="http://schemas.microsoft.com/office/powerpoint/2010/main" val="17558426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Expressions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32</a:t>
            </a:fld>
            <a:endParaRPr lang="en-US"/>
          </a:p>
        </p:txBody>
      </p:sp>
      <p:sp>
        <p:nvSpPr>
          <p:cNvPr id="6" name="Rectangle 5"/>
          <p:cNvSpPr/>
          <p:nvPr/>
        </p:nvSpPr>
        <p:spPr>
          <a:xfrm>
            <a:off x="196948" y="1508300"/>
            <a:ext cx="11754399" cy="5493812"/>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An</a:t>
            </a:r>
            <a:r>
              <a:rPr lang="en-US" b="1" dirty="0" smtClean="0">
                <a:solidFill>
                  <a:srgbClr val="C00000"/>
                </a:solidFill>
              </a:rPr>
              <a:t> </a:t>
            </a:r>
            <a:r>
              <a:rPr lang="en-US" b="1" dirty="0">
                <a:solidFill>
                  <a:srgbClr val="C00000"/>
                </a:solidFill>
              </a:rPr>
              <a:t>expression </a:t>
            </a:r>
            <a:r>
              <a:rPr lang="en-US" b="1" dirty="0">
                <a:solidFill>
                  <a:schemeClr val="accent1">
                    <a:lumMod val="75000"/>
                  </a:schemeClr>
                </a:solidFill>
              </a:rPr>
              <a:t>is any legal combination of symbols (like variables, constants and operators) that represents a value. </a:t>
            </a:r>
            <a:r>
              <a:rPr lang="en-US" b="1" dirty="0" smtClean="0">
                <a:solidFill>
                  <a:schemeClr val="accent1">
                    <a:lumMod val="75000"/>
                  </a:schemeClr>
                </a:solidFill>
              </a:rPr>
              <a:t>In </a:t>
            </a:r>
            <a:r>
              <a:rPr lang="en-US" b="1" dirty="0">
                <a:solidFill>
                  <a:schemeClr val="accent1">
                    <a:lumMod val="75000"/>
                  </a:schemeClr>
                </a:solidFill>
              </a:rPr>
              <a:t>Python, an expression must have at least one operand (variable or constant) and can have one or more operators. On evaluating an expression, we get a value. </a:t>
            </a:r>
            <a:r>
              <a:rPr lang="en-US" b="1" i="1" dirty="0" smtClean="0">
                <a:solidFill>
                  <a:schemeClr val="accent1">
                    <a:lumMod val="75000"/>
                  </a:schemeClr>
                </a:solidFill>
              </a:rPr>
              <a:t>Operan</a:t>
            </a:r>
            <a:r>
              <a:rPr lang="en-US" b="1" dirty="0" smtClean="0">
                <a:solidFill>
                  <a:schemeClr val="accent1">
                    <a:lumMod val="75000"/>
                  </a:schemeClr>
                </a:solidFill>
              </a:rPr>
              <a:t>d </a:t>
            </a:r>
            <a:r>
              <a:rPr lang="en-US" b="1" dirty="0">
                <a:solidFill>
                  <a:schemeClr val="accent1">
                    <a:lumMod val="75000"/>
                  </a:schemeClr>
                </a:solidFill>
              </a:rPr>
              <a:t>is the value on which operator is applied</a:t>
            </a:r>
            <a:r>
              <a:rPr lang="en-US" b="1" dirty="0" smtClean="0">
                <a:solidFill>
                  <a:schemeClr val="accent1">
                    <a:lumMod val="75000"/>
                  </a:schemeClr>
                </a:solidFill>
              </a:rPr>
              <a:t>.</a:t>
            </a:r>
          </a:p>
          <a:p>
            <a:pPr>
              <a:lnSpc>
                <a:spcPct val="150000"/>
              </a:lnSpc>
            </a:pPr>
            <a:r>
              <a:rPr lang="en-US" b="1" i="1" dirty="0" smtClean="0">
                <a:solidFill>
                  <a:srgbClr val="C00000"/>
                </a:solidFill>
              </a:rPr>
              <a:t>Constant </a:t>
            </a:r>
            <a:r>
              <a:rPr lang="en-US" b="1" i="1" dirty="0">
                <a:solidFill>
                  <a:srgbClr val="C00000"/>
                </a:solidFill>
              </a:rPr>
              <a:t>Expressions</a:t>
            </a:r>
            <a:r>
              <a:rPr lang="en-US" b="1" dirty="0">
                <a:solidFill>
                  <a:srgbClr val="C00000"/>
                </a:solidFill>
              </a:rPr>
              <a:t>: </a:t>
            </a:r>
            <a:r>
              <a:rPr lang="en-US" b="1" dirty="0">
                <a:solidFill>
                  <a:schemeClr val="accent1">
                    <a:lumMod val="75000"/>
                  </a:schemeClr>
                </a:solidFill>
              </a:rPr>
              <a:t>One that involves only constants. Example: 8 + 9 – 2 </a:t>
            </a:r>
          </a:p>
          <a:p>
            <a:pPr>
              <a:lnSpc>
                <a:spcPct val="150000"/>
              </a:lnSpc>
            </a:pPr>
            <a:r>
              <a:rPr lang="en-US" b="1" i="1" dirty="0">
                <a:solidFill>
                  <a:srgbClr val="C00000"/>
                </a:solidFill>
              </a:rPr>
              <a:t>Integral Expressions: </a:t>
            </a:r>
            <a:r>
              <a:rPr lang="en-US" b="1" dirty="0">
                <a:solidFill>
                  <a:schemeClr val="accent1">
                    <a:lumMod val="75000"/>
                  </a:schemeClr>
                </a:solidFill>
              </a:rPr>
              <a:t>One that produces an integer result after evaluating the expression. Example: </a:t>
            </a:r>
          </a:p>
          <a:p>
            <a:pPr>
              <a:lnSpc>
                <a:spcPct val="150000"/>
              </a:lnSpc>
            </a:pPr>
            <a:r>
              <a:rPr lang="en-US" b="1" dirty="0">
                <a:solidFill>
                  <a:schemeClr val="accent1">
                    <a:lumMod val="75000"/>
                  </a:schemeClr>
                </a:solidFill>
              </a:rPr>
              <a:t>a = 10 </a:t>
            </a:r>
          </a:p>
          <a:p>
            <a:pPr>
              <a:lnSpc>
                <a:spcPct val="150000"/>
              </a:lnSpc>
            </a:pPr>
            <a:r>
              <a:rPr lang="en-US" b="1" dirty="0" smtClean="0">
                <a:solidFill>
                  <a:schemeClr val="accent1">
                    <a:lumMod val="75000"/>
                  </a:schemeClr>
                </a:solidFill>
              </a:rPr>
              <a:t>• </a:t>
            </a:r>
            <a:r>
              <a:rPr lang="en-US" b="1" i="1" dirty="0">
                <a:solidFill>
                  <a:schemeClr val="accent1">
                    <a:lumMod val="75000"/>
                  </a:schemeClr>
                </a:solidFill>
              </a:rPr>
              <a:t>Float</a:t>
            </a:r>
            <a:r>
              <a:rPr lang="en-US" b="1" i="1" dirty="0">
                <a:solidFill>
                  <a:srgbClr val="C00000"/>
                </a:solidFill>
              </a:rPr>
              <a:t>ing Point Expressions: </a:t>
            </a:r>
            <a:r>
              <a:rPr lang="en-US" b="1" dirty="0">
                <a:solidFill>
                  <a:schemeClr val="accent1">
                    <a:lumMod val="75000"/>
                  </a:schemeClr>
                </a:solidFill>
              </a:rPr>
              <a:t>One that produces floating point results. Example: a * b / 2 </a:t>
            </a:r>
          </a:p>
          <a:p>
            <a:pPr>
              <a:lnSpc>
                <a:spcPct val="150000"/>
              </a:lnSpc>
            </a:pPr>
            <a:r>
              <a:rPr lang="en-US" b="1" dirty="0">
                <a:solidFill>
                  <a:schemeClr val="accent1">
                    <a:lumMod val="75000"/>
                  </a:schemeClr>
                </a:solidFill>
              </a:rPr>
              <a:t>• </a:t>
            </a:r>
            <a:r>
              <a:rPr lang="en-US" b="1" i="1" dirty="0">
                <a:solidFill>
                  <a:srgbClr val="C00000"/>
                </a:solidFill>
              </a:rPr>
              <a:t>Relational Expressions: </a:t>
            </a:r>
            <a:r>
              <a:rPr lang="en-US" b="1" i="1" dirty="0">
                <a:solidFill>
                  <a:schemeClr val="accent1">
                    <a:lumMod val="75000"/>
                  </a:schemeClr>
                </a:solidFill>
              </a:rPr>
              <a:t>One that returns either true or false value. </a:t>
            </a:r>
            <a:r>
              <a:rPr lang="en-US" b="1" dirty="0">
                <a:solidFill>
                  <a:schemeClr val="accent1">
                    <a:lumMod val="75000"/>
                  </a:schemeClr>
                </a:solidFill>
              </a:rPr>
              <a:t>Example: c = a&gt;b </a:t>
            </a:r>
          </a:p>
          <a:p>
            <a:pPr>
              <a:lnSpc>
                <a:spcPct val="150000"/>
              </a:lnSpc>
            </a:pPr>
            <a:r>
              <a:rPr lang="en-US" b="1" dirty="0">
                <a:solidFill>
                  <a:schemeClr val="accent1">
                    <a:lumMod val="75000"/>
                  </a:schemeClr>
                </a:solidFill>
              </a:rPr>
              <a:t>• </a:t>
            </a:r>
            <a:r>
              <a:rPr lang="en-US" b="1" i="1" dirty="0">
                <a:solidFill>
                  <a:srgbClr val="C00000"/>
                </a:solidFill>
              </a:rPr>
              <a:t>Logical Expressions: </a:t>
            </a:r>
            <a:r>
              <a:rPr lang="en-US" b="1" dirty="0">
                <a:solidFill>
                  <a:schemeClr val="accent1">
                    <a:lumMod val="75000"/>
                  </a:schemeClr>
                </a:solidFill>
              </a:rPr>
              <a:t>One that combines two or more relational expressions and returns a value as </a:t>
            </a:r>
            <a:r>
              <a:rPr lang="en-US" b="1" i="1" dirty="0">
                <a:solidFill>
                  <a:schemeClr val="accent1">
                    <a:lumMod val="75000"/>
                  </a:schemeClr>
                </a:solidFill>
              </a:rPr>
              <a:t>True </a:t>
            </a:r>
            <a:r>
              <a:rPr lang="en-US" b="1" dirty="0">
                <a:solidFill>
                  <a:schemeClr val="accent1">
                    <a:lumMod val="75000"/>
                  </a:schemeClr>
                </a:solidFill>
              </a:rPr>
              <a:t>or </a:t>
            </a:r>
            <a:r>
              <a:rPr lang="en-US" b="1" i="1" dirty="0">
                <a:solidFill>
                  <a:schemeClr val="accent1">
                    <a:lumMod val="75000"/>
                  </a:schemeClr>
                </a:solidFill>
              </a:rPr>
              <a:t>False</a:t>
            </a:r>
            <a:r>
              <a:rPr lang="en-US" b="1" dirty="0">
                <a:solidFill>
                  <a:schemeClr val="accent1">
                    <a:lumMod val="75000"/>
                  </a:schemeClr>
                </a:solidFill>
              </a:rPr>
              <a:t>. Example: a&gt;b &amp;&amp; y! = 0 </a:t>
            </a:r>
          </a:p>
          <a:p>
            <a:pPr>
              <a:lnSpc>
                <a:spcPct val="150000"/>
              </a:lnSpc>
            </a:pPr>
            <a:r>
              <a:rPr lang="en-US" b="1" dirty="0">
                <a:solidFill>
                  <a:srgbClr val="C00000"/>
                </a:solidFill>
              </a:rPr>
              <a:t>• </a:t>
            </a:r>
            <a:r>
              <a:rPr lang="en-US" b="1" i="1" dirty="0">
                <a:solidFill>
                  <a:srgbClr val="C00000"/>
                </a:solidFill>
              </a:rPr>
              <a:t>Bitwise Expressions: </a:t>
            </a:r>
            <a:r>
              <a:rPr lang="en-US" b="1" dirty="0">
                <a:solidFill>
                  <a:schemeClr val="accent1">
                    <a:lumMod val="75000"/>
                  </a:schemeClr>
                </a:solidFill>
              </a:rPr>
              <a:t>One that manipulates data at bit level. Example: x = </a:t>
            </a:r>
            <a:r>
              <a:rPr lang="en-US" b="1" dirty="0" err="1">
                <a:solidFill>
                  <a:schemeClr val="accent1">
                    <a:lumMod val="75000"/>
                  </a:schemeClr>
                </a:solidFill>
              </a:rPr>
              <a:t>y&amp;z</a:t>
            </a:r>
            <a:r>
              <a:rPr lang="en-US" b="1" dirty="0">
                <a:solidFill>
                  <a:schemeClr val="accent1">
                    <a:lumMod val="75000"/>
                  </a:schemeClr>
                </a:solidFill>
              </a:rPr>
              <a:t> </a:t>
            </a:r>
          </a:p>
          <a:p>
            <a:pPr>
              <a:lnSpc>
                <a:spcPct val="150000"/>
              </a:lnSpc>
            </a:pPr>
            <a:r>
              <a:rPr lang="en-US" b="1" dirty="0">
                <a:solidFill>
                  <a:schemeClr val="accent1">
                    <a:lumMod val="75000"/>
                  </a:schemeClr>
                </a:solidFill>
              </a:rPr>
              <a:t>• </a:t>
            </a:r>
            <a:r>
              <a:rPr lang="en-US" b="1" i="1" dirty="0">
                <a:solidFill>
                  <a:srgbClr val="C00000"/>
                </a:solidFill>
              </a:rPr>
              <a:t>Assignment Expressions: </a:t>
            </a:r>
            <a:r>
              <a:rPr lang="en-US" b="1" dirty="0">
                <a:solidFill>
                  <a:schemeClr val="accent1">
                    <a:lumMod val="75000"/>
                  </a:schemeClr>
                </a:solidFill>
              </a:rPr>
              <a:t>One that assigns a value to a variable. Example: c = a + b or c = 10 </a:t>
            </a:r>
            <a:endParaRPr lang="en-US" b="1" dirty="0" smtClean="0">
              <a:solidFill>
                <a:schemeClr val="accent1">
                  <a:lumMod val="75000"/>
                </a:schemeClr>
              </a:solidFill>
            </a:endParaRPr>
          </a:p>
        </p:txBody>
      </p:sp>
    </p:spTree>
    <p:extLst>
      <p:ext uri="{BB962C8B-B14F-4D97-AF65-F5344CB8AC3E}">
        <p14:creationId xmlns:p14="http://schemas.microsoft.com/office/powerpoint/2010/main" val="14459361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Operations on 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33</a:t>
            </a:fld>
            <a:endParaRPr lang="en-US"/>
          </a:p>
        </p:txBody>
      </p:sp>
      <p:pic>
        <p:nvPicPr>
          <p:cNvPr id="5" name="Picture 4"/>
          <p:cNvPicPr>
            <a:picLocks noChangeAspect="1"/>
          </p:cNvPicPr>
          <p:nvPr/>
        </p:nvPicPr>
        <p:blipFill>
          <a:blip r:embed="rId2"/>
          <a:stretch>
            <a:fillRect/>
          </a:stretch>
        </p:blipFill>
        <p:spPr>
          <a:xfrm>
            <a:off x="2183542" y="1875367"/>
            <a:ext cx="7824915" cy="558938"/>
          </a:xfrm>
          <a:prstGeom prst="rect">
            <a:avLst/>
          </a:prstGeom>
        </p:spPr>
      </p:pic>
      <p:pic>
        <p:nvPicPr>
          <p:cNvPr id="6" name="Picture 5"/>
          <p:cNvPicPr>
            <a:picLocks noChangeAspect="1"/>
          </p:cNvPicPr>
          <p:nvPr/>
        </p:nvPicPr>
        <p:blipFill>
          <a:blip r:embed="rId3"/>
          <a:stretch>
            <a:fillRect/>
          </a:stretch>
        </p:blipFill>
        <p:spPr>
          <a:xfrm>
            <a:off x="2183542" y="2669915"/>
            <a:ext cx="4827058" cy="584344"/>
          </a:xfrm>
          <a:prstGeom prst="rect">
            <a:avLst/>
          </a:prstGeom>
        </p:spPr>
      </p:pic>
      <p:pic>
        <p:nvPicPr>
          <p:cNvPr id="7" name="Picture 6"/>
          <p:cNvPicPr>
            <a:picLocks noChangeAspect="1"/>
          </p:cNvPicPr>
          <p:nvPr/>
        </p:nvPicPr>
        <p:blipFill>
          <a:blip r:embed="rId4"/>
          <a:stretch>
            <a:fillRect/>
          </a:stretch>
        </p:blipFill>
        <p:spPr>
          <a:xfrm>
            <a:off x="2183542" y="3288375"/>
            <a:ext cx="6198958" cy="2388188"/>
          </a:xfrm>
          <a:prstGeom prst="rect">
            <a:avLst/>
          </a:prstGeom>
        </p:spPr>
      </p:pic>
      <p:sp>
        <p:nvSpPr>
          <p:cNvPr id="9" name="TextBox 8"/>
          <p:cNvSpPr txBox="1"/>
          <p:nvPr/>
        </p:nvSpPr>
        <p:spPr>
          <a:xfrm>
            <a:off x="388142" y="1875367"/>
            <a:ext cx="1141017"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864688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Slice Operations on 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34</a:t>
            </a:fld>
            <a:endParaRPr lang="en-US"/>
          </a:p>
        </p:txBody>
      </p:sp>
      <p:sp>
        <p:nvSpPr>
          <p:cNvPr id="5" name="Rectangle 4"/>
          <p:cNvSpPr/>
          <p:nvPr/>
        </p:nvSpPr>
        <p:spPr>
          <a:xfrm>
            <a:off x="195097" y="1550504"/>
            <a:ext cx="11752064" cy="2169825"/>
          </a:xfrm>
          <a:prstGeom prst="rect">
            <a:avLst/>
          </a:prstGeom>
        </p:spPr>
        <p:txBody>
          <a:bodyPr wrap="square" numCol="1">
            <a:spAutoFit/>
          </a:bodyPr>
          <a:lstStyle/>
          <a:p>
            <a:pPr>
              <a:lnSpc>
                <a:spcPct val="150000"/>
              </a:lnSpc>
            </a:pPr>
            <a:r>
              <a:rPr lang="en-US" b="1" dirty="0" smtClean="0">
                <a:solidFill>
                  <a:schemeClr val="accent1">
                    <a:lumMod val="75000"/>
                  </a:schemeClr>
                </a:solidFill>
              </a:rPr>
              <a:t>You </a:t>
            </a:r>
            <a:r>
              <a:rPr lang="en-US" b="1" dirty="0">
                <a:solidFill>
                  <a:schemeClr val="accent1">
                    <a:lumMod val="75000"/>
                  </a:schemeClr>
                </a:solidFill>
              </a:rPr>
              <a:t>can extract subsets of strings by using the </a:t>
            </a:r>
            <a:r>
              <a:rPr lang="en-US" b="1" dirty="0">
                <a:solidFill>
                  <a:srgbClr val="C00000"/>
                </a:solidFill>
              </a:rPr>
              <a:t>slice operator </a:t>
            </a:r>
            <a:r>
              <a:rPr lang="en-US" b="1" dirty="0">
                <a:solidFill>
                  <a:schemeClr val="accent1">
                    <a:lumMod val="75000"/>
                  </a:schemeClr>
                </a:solidFill>
              </a:rPr>
              <a:t>([ ] and [:]). </a:t>
            </a:r>
            <a:r>
              <a:rPr lang="en-US" b="1" dirty="0" smtClean="0">
                <a:solidFill>
                  <a:schemeClr val="accent1">
                    <a:lumMod val="75000"/>
                  </a:schemeClr>
                </a:solidFill>
              </a:rPr>
              <a:t> You </a:t>
            </a:r>
            <a:r>
              <a:rPr lang="en-US" b="1" dirty="0">
                <a:solidFill>
                  <a:schemeClr val="accent1">
                    <a:lumMod val="75000"/>
                  </a:schemeClr>
                </a:solidFill>
              </a:rPr>
              <a:t>need to specify index or the range of index of characters to be extracted. The index of the first character is 0 and the index of the last character is n-1, where n is the number of characters in the string. </a:t>
            </a:r>
          </a:p>
          <a:p>
            <a:pPr>
              <a:lnSpc>
                <a:spcPct val="150000"/>
              </a:lnSpc>
            </a:pPr>
            <a:r>
              <a:rPr lang="en-US" b="1" dirty="0">
                <a:solidFill>
                  <a:schemeClr val="accent1">
                    <a:lumMod val="75000"/>
                  </a:schemeClr>
                </a:solidFill>
              </a:rPr>
              <a:t>If you want to extract characters starting from the end of the string, then you must specify the index as a negative number. For example, the index of the last character is -</a:t>
            </a:r>
            <a:r>
              <a:rPr lang="en-US" b="1" dirty="0" smtClean="0">
                <a:solidFill>
                  <a:schemeClr val="accent1">
                    <a:lumMod val="75000"/>
                  </a:schemeClr>
                </a:solidFill>
              </a:rPr>
              <a:t>1.</a:t>
            </a:r>
          </a:p>
        </p:txBody>
      </p:sp>
      <p:sp>
        <p:nvSpPr>
          <p:cNvPr id="8" name="TextBox 7"/>
          <p:cNvSpPr txBox="1"/>
          <p:nvPr/>
        </p:nvSpPr>
        <p:spPr>
          <a:xfrm>
            <a:off x="195097" y="3704480"/>
            <a:ext cx="1141017" cy="369332"/>
          </a:xfrm>
          <a:prstGeom prst="rect">
            <a:avLst/>
          </a:prstGeom>
          <a:noFill/>
        </p:spPr>
        <p:txBody>
          <a:bodyPr wrap="square" rtlCol="0">
            <a:spAutoFit/>
          </a:bodyPr>
          <a:lstStyle/>
          <a:p>
            <a:r>
              <a:rPr lang="en-IN" dirty="0" smtClean="0"/>
              <a:t>Examples:</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435" y="3704480"/>
            <a:ext cx="5334577" cy="272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46399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35</a:t>
            </a:fld>
            <a:endParaRPr lang="en-US"/>
          </a:p>
        </p:txBody>
      </p:sp>
      <p:sp>
        <p:nvSpPr>
          <p:cNvPr id="5" name="Rectangle 4"/>
          <p:cNvSpPr/>
          <p:nvPr/>
        </p:nvSpPr>
        <p:spPr>
          <a:xfrm>
            <a:off x="195097" y="1550504"/>
            <a:ext cx="11842005" cy="1754326"/>
          </a:xfrm>
          <a:prstGeom prst="rect">
            <a:avLst/>
          </a:prstGeom>
        </p:spPr>
        <p:txBody>
          <a:bodyPr wrap="square" numCol="1">
            <a:spAutoFit/>
          </a:bodyPr>
          <a:lstStyle/>
          <a:p>
            <a:pPr>
              <a:lnSpc>
                <a:spcPct val="150000"/>
              </a:lnSpc>
            </a:pPr>
            <a:r>
              <a:rPr lang="en-US" b="1" dirty="0" smtClean="0">
                <a:solidFill>
                  <a:srgbClr val="C00000"/>
                </a:solidFill>
              </a:rPr>
              <a:t>Lists</a:t>
            </a:r>
            <a:r>
              <a:rPr lang="en-US" b="1" dirty="0" smtClean="0">
                <a:solidFill>
                  <a:schemeClr val="accent1">
                    <a:lumMod val="75000"/>
                  </a:schemeClr>
                </a:solidFill>
              </a:rPr>
              <a:t> </a:t>
            </a:r>
            <a:r>
              <a:rPr lang="en-US" b="1" dirty="0">
                <a:solidFill>
                  <a:schemeClr val="accent1">
                    <a:lumMod val="75000"/>
                  </a:schemeClr>
                </a:solidFill>
              </a:rPr>
              <a:t>are the most versatile data type of Python language. </a:t>
            </a:r>
            <a:r>
              <a:rPr lang="en-US" b="1" dirty="0" smtClean="0">
                <a:solidFill>
                  <a:schemeClr val="accent1">
                    <a:lumMod val="75000"/>
                  </a:schemeClr>
                </a:solidFill>
              </a:rPr>
              <a:t> A </a:t>
            </a:r>
            <a:r>
              <a:rPr lang="en-US" b="1" dirty="0">
                <a:solidFill>
                  <a:schemeClr val="accent1">
                    <a:lumMod val="75000"/>
                  </a:schemeClr>
                </a:solidFill>
              </a:rPr>
              <a:t>list consist of items separated by commas and enclosed within square brackets </a:t>
            </a:r>
            <a:r>
              <a:rPr lang="en-US" b="1" dirty="0" smtClean="0">
                <a:solidFill>
                  <a:schemeClr val="accent1">
                    <a:lumMod val="75000"/>
                  </a:schemeClr>
                </a:solidFill>
              </a:rPr>
              <a:t>The </a:t>
            </a:r>
            <a:r>
              <a:rPr lang="en-US" b="1" dirty="0">
                <a:solidFill>
                  <a:schemeClr val="accent1">
                    <a:lumMod val="75000"/>
                  </a:schemeClr>
                </a:solidFill>
              </a:rPr>
              <a:t>values stored in a list are accessed using indexes. The index of the first element being 0 and n-1 as that of the last element, where n is the total number of elements in the list. Like strings, you can also use the slice, concatenation and repetition operations on lists.</a:t>
            </a:r>
            <a:endParaRPr lang="en-US" b="1" dirty="0" smtClean="0">
              <a:solidFill>
                <a:schemeClr val="accent1">
                  <a:lumMod val="75000"/>
                </a:schemeClr>
              </a:solidFill>
            </a:endParaRPr>
          </a:p>
        </p:txBody>
      </p:sp>
      <p:sp>
        <p:nvSpPr>
          <p:cNvPr id="8" name="TextBox 7"/>
          <p:cNvSpPr txBox="1"/>
          <p:nvPr/>
        </p:nvSpPr>
        <p:spPr>
          <a:xfrm>
            <a:off x="195097" y="3223513"/>
            <a:ext cx="1141017" cy="369332"/>
          </a:xfrm>
          <a:prstGeom prst="rect">
            <a:avLst/>
          </a:prstGeom>
          <a:noFill/>
        </p:spPr>
        <p:txBody>
          <a:bodyPr wrap="square" rtlCol="0">
            <a:spAutoFit/>
          </a:bodyPr>
          <a:lstStyle/>
          <a:p>
            <a:r>
              <a:rPr lang="en-IN" dirty="0" smtClean="0"/>
              <a:t>Examples:</a:t>
            </a:r>
            <a:endParaRPr lang="en-IN"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957" y="3223513"/>
            <a:ext cx="6781800" cy="3189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7133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Tuples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36</a:t>
            </a:fld>
            <a:endParaRPr lang="en-US"/>
          </a:p>
        </p:txBody>
      </p:sp>
      <p:sp>
        <p:nvSpPr>
          <p:cNvPr id="5" name="Rectangle 4"/>
          <p:cNvSpPr/>
          <p:nvPr/>
        </p:nvSpPr>
        <p:spPr>
          <a:xfrm>
            <a:off x="179883" y="1589955"/>
            <a:ext cx="11721606" cy="1338828"/>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A </a:t>
            </a:r>
            <a:r>
              <a:rPr lang="en-US" b="1" dirty="0">
                <a:solidFill>
                  <a:srgbClr val="C00000"/>
                </a:solidFill>
              </a:rPr>
              <a:t>tuple</a:t>
            </a:r>
            <a:r>
              <a:rPr lang="en-US" b="1" dirty="0">
                <a:solidFill>
                  <a:schemeClr val="accent1">
                    <a:lumMod val="75000"/>
                  </a:schemeClr>
                </a:solidFill>
              </a:rPr>
              <a:t> is similar to the list as it also consists of a number of values separated by commas and enclosed within parentheses. The main difference between lists and tuples is that you can change the values in a list but not in a tuple. This means that while tuple is a read only data type, the list is not. </a:t>
            </a:r>
            <a:endParaRPr lang="en-US" b="1" dirty="0" smtClean="0">
              <a:solidFill>
                <a:schemeClr val="accent1">
                  <a:lumMod val="75000"/>
                </a:schemeClr>
              </a:solidFill>
            </a:endParaRPr>
          </a:p>
        </p:txBody>
      </p:sp>
      <p:sp>
        <p:nvSpPr>
          <p:cNvPr id="8" name="TextBox 7"/>
          <p:cNvSpPr txBox="1"/>
          <p:nvPr/>
        </p:nvSpPr>
        <p:spPr>
          <a:xfrm>
            <a:off x="179883" y="3218135"/>
            <a:ext cx="1141017" cy="369332"/>
          </a:xfrm>
          <a:prstGeom prst="rect">
            <a:avLst/>
          </a:prstGeom>
          <a:noFill/>
        </p:spPr>
        <p:txBody>
          <a:bodyPr wrap="square" rtlCol="0">
            <a:spAutoFit/>
          </a:bodyPr>
          <a:lstStyle/>
          <a:p>
            <a:r>
              <a:rPr lang="en-IN" dirty="0" smtClean="0"/>
              <a:t>Examples:</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8917" y="3045160"/>
            <a:ext cx="7201332" cy="3367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0129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Dictionary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37</a:t>
            </a:fld>
            <a:endParaRPr lang="en-US"/>
          </a:p>
        </p:txBody>
      </p:sp>
      <p:sp>
        <p:nvSpPr>
          <p:cNvPr id="5" name="Rectangle 4"/>
          <p:cNvSpPr/>
          <p:nvPr/>
        </p:nvSpPr>
        <p:spPr>
          <a:xfrm>
            <a:off x="164893" y="1628418"/>
            <a:ext cx="11736596" cy="1754326"/>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Python’s </a:t>
            </a:r>
            <a:r>
              <a:rPr lang="en-US" b="1" dirty="0">
                <a:solidFill>
                  <a:schemeClr val="accent1">
                    <a:lumMod val="75000"/>
                  </a:schemeClr>
                </a:solidFill>
              </a:rPr>
              <a:t>dictionaries stores data in key-value pairs. The key values are usually strings and value can be of any data type. The key value pairs are enclosed with curly braces ({ }). Each key value pair separated from the other using a colon (:). To access any value in the dictionary, you just need to specify its key in square braces ([]).Basically dictionaries are used for fast retrieval of data </a:t>
            </a:r>
            <a:endParaRPr lang="en-US" b="1" dirty="0" smtClean="0">
              <a:solidFill>
                <a:schemeClr val="accent1">
                  <a:lumMod val="75000"/>
                </a:schemeClr>
              </a:solidFill>
            </a:endParaRPr>
          </a:p>
        </p:txBody>
      </p:sp>
      <p:pic>
        <p:nvPicPr>
          <p:cNvPr id="6" name="Picture 5"/>
          <p:cNvPicPr>
            <a:picLocks noChangeAspect="1"/>
          </p:cNvPicPr>
          <p:nvPr/>
        </p:nvPicPr>
        <p:blipFill>
          <a:blip r:embed="rId2"/>
          <a:stretch>
            <a:fillRect/>
          </a:stretch>
        </p:blipFill>
        <p:spPr>
          <a:xfrm>
            <a:off x="2623320" y="3629358"/>
            <a:ext cx="7215181" cy="2273860"/>
          </a:xfrm>
          <a:prstGeom prst="rect">
            <a:avLst/>
          </a:prstGeom>
        </p:spPr>
      </p:pic>
      <p:sp>
        <p:nvSpPr>
          <p:cNvPr id="8" name="TextBox 7"/>
          <p:cNvSpPr txBox="1"/>
          <p:nvPr/>
        </p:nvSpPr>
        <p:spPr>
          <a:xfrm>
            <a:off x="164893" y="3460658"/>
            <a:ext cx="1141017"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39115933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53996"/>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Type Conversion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38</a:t>
            </a:fld>
            <a:endParaRPr lang="en-US"/>
          </a:p>
        </p:txBody>
      </p:sp>
      <p:sp>
        <p:nvSpPr>
          <p:cNvPr id="5" name="Rectangle 4"/>
          <p:cNvSpPr/>
          <p:nvPr/>
        </p:nvSpPr>
        <p:spPr>
          <a:xfrm>
            <a:off x="209861" y="1544551"/>
            <a:ext cx="11678215" cy="1200329"/>
          </a:xfrm>
          <a:prstGeom prst="rect">
            <a:avLst/>
          </a:prstGeom>
        </p:spPr>
        <p:txBody>
          <a:bodyPr wrap="square" numCol="1">
            <a:spAutoFit/>
          </a:bodyPr>
          <a:lstStyle/>
          <a:p>
            <a:pPr>
              <a:lnSpc>
                <a:spcPct val="150000"/>
              </a:lnSpc>
            </a:pPr>
            <a:r>
              <a:rPr lang="en-US" b="1" dirty="0" smtClean="0">
                <a:solidFill>
                  <a:schemeClr val="accent1">
                    <a:lumMod val="75000"/>
                  </a:schemeClr>
                </a:solidFill>
              </a:rPr>
              <a:t>In </a:t>
            </a:r>
            <a:r>
              <a:rPr lang="en-US" b="1" dirty="0">
                <a:solidFill>
                  <a:schemeClr val="accent1">
                    <a:lumMod val="75000"/>
                  </a:schemeClr>
                </a:solidFill>
              </a:rPr>
              <a:t>Python, it is just not possible to complete certain operations that involves different types of data. For example, it is not possible to perform "2" + 4 since one operand is an integer and the other is of string type. </a:t>
            </a:r>
          </a:p>
          <a:p>
            <a:r>
              <a:rPr lang="en-US" dirty="0"/>
              <a:t>	</a:t>
            </a:r>
          </a:p>
        </p:txBody>
      </p:sp>
      <p:sp>
        <p:nvSpPr>
          <p:cNvPr id="9" name="TextBox 8"/>
          <p:cNvSpPr txBox="1"/>
          <p:nvPr/>
        </p:nvSpPr>
        <p:spPr>
          <a:xfrm>
            <a:off x="273132" y="2453524"/>
            <a:ext cx="1141017" cy="369332"/>
          </a:xfrm>
          <a:prstGeom prst="rect">
            <a:avLst/>
          </a:prstGeom>
          <a:noFill/>
        </p:spPr>
        <p:txBody>
          <a:bodyPr wrap="square" rtlCol="0">
            <a:spAutoFit/>
          </a:bodyPr>
          <a:lstStyle/>
          <a:p>
            <a:r>
              <a:rPr lang="en-IN" dirty="0" smtClean="0"/>
              <a:t>Example:</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164" y="3112248"/>
            <a:ext cx="9271610" cy="3209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148" y="2529911"/>
            <a:ext cx="952302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97133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Type Casting </a:t>
            </a:r>
            <a:r>
              <a:rPr lang="en-US" sz="3200" b="1" dirty="0" err="1" smtClean="0"/>
              <a:t>vs</a:t>
            </a:r>
            <a:r>
              <a:rPr lang="en-US" sz="3200" b="1" dirty="0" smtClean="0"/>
              <a:t> Type Coercion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39</a:t>
            </a:fld>
            <a:endParaRPr lang="en-US"/>
          </a:p>
        </p:txBody>
      </p:sp>
      <p:sp>
        <p:nvSpPr>
          <p:cNvPr id="5" name="Rectangle 4"/>
          <p:cNvSpPr/>
          <p:nvPr/>
        </p:nvSpPr>
        <p:spPr>
          <a:xfrm>
            <a:off x="320635" y="1706332"/>
            <a:ext cx="11580854" cy="2585323"/>
          </a:xfrm>
          <a:prstGeom prst="rect">
            <a:avLst/>
          </a:prstGeom>
        </p:spPr>
        <p:txBody>
          <a:bodyPr wrap="square" numCol="1">
            <a:spAutoFit/>
          </a:bodyPr>
          <a:lstStyle/>
          <a:p>
            <a:pPr algn="just">
              <a:lnSpc>
                <a:spcPct val="150000"/>
              </a:lnSpc>
            </a:pPr>
            <a:r>
              <a:rPr lang="en-US" b="1" dirty="0" smtClean="0">
                <a:solidFill>
                  <a:schemeClr val="accent1">
                    <a:lumMod val="75000"/>
                  </a:schemeClr>
                </a:solidFill>
              </a:rPr>
              <a:t>In </a:t>
            </a:r>
            <a:r>
              <a:rPr lang="en-US" b="1" dirty="0">
                <a:solidFill>
                  <a:schemeClr val="accent1">
                    <a:lumMod val="75000"/>
                  </a:schemeClr>
                </a:solidFill>
              </a:rPr>
              <a:t>the </a:t>
            </a:r>
            <a:r>
              <a:rPr lang="en-US" b="1" dirty="0" smtClean="0">
                <a:solidFill>
                  <a:schemeClr val="accent1">
                    <a:lumMod val="75000"/>
                  </a:schemeClr>
                </a:solidFill>
              </a:rPr>
              <a:t>last slide, </a:t>
            </a:r>
            <a:r>
              <a:rPr lang="en-US" b="1" dirty="0">
                <a:solidFill>
                  <a:schemeClr val="accent1">
                    <a:lumMod val="75000"/>
                  </a:schemeClr>
                </a:solidFill>
              </a:rPr>
              <a:t>we have done explicit conversion of a value from one data type to another. This is known as </a:t>
            </a:r>
            <a:r>
              <a:rPr lang="en-US" b="1" i="1" dirty="0">
                <a:solidFill>
                  <a:srgbClr val="C00000"/>
                </a:solidFill>
              </a:rPr>
              <a:t>type casting</a:t>
            </a:r>
            <a:r>
              <a:rPr lang="en-US" b="1" dirty="0">
                <a:solidFill>
                  <a:schemeClr val="accent1">
                    <a:lumMod val="75000"/>
                  </a:schemeClr>
                </a:solidFill>
              </a:rPr>
              <a:t>. </a:t>
            </a:r>
            <a:endParaRPr lang="en-US" b="1" dirty="0" smtClean="0">
              <a:solidFill>
                <a:schemeClr val="accent1">
                  <a:lumMod val="75000"/>
                </a:schemeClr>
              </a:solidFill>
            </a:endParaRPr>
          </a:p>
          <a:p>
            <a:pPr algn="just">
              <a:lnSpc>
                <a:spcPct val="150000"/>
              </a:lnSpc>
            </a:pPr>
            <a:r>
              <a:rPr lang="en-US" b="1" dirty="0" smtClean="0">
                <a:solidFill>
                  <a:schemeClr val="accent1">
                    <a:lumMod val="75000"/>
                  </a:schemeClr>
                </a:solidFill>
              </a:rPr>
              <a:t>However</a:t>
            </a:r>
            <a:r>
              <a:rPr lang="en-US" b="1" dirty="0">
                <a:solidFill>
                  <a:schemeClr val="accent1">
                    <a:lumMod val="75000"/>
                  </a:schemeClr>
                </a:solidFill>
              </a:rPr>
              <a:t>, in most of the programming languages including Python, there is an implicit conversion of data types either during compilation or during run-time. This is also known </a:t>
            </a:r>
            <a:r>
              <a:rPr lang="en-US" b="1" i="1" dirty="0">
                <a:solidFill>
                  <a:srgbClr val="C00000"/>
                </a:solidFill>
              </a:rPr>
              <a:t>type coercion</a:t>
            </a:r>
            <a:r>
              <a:rPr lang="en-US" b="1" dirty="0">
                <a:solidFill>
                  <a:schemeClr val="accent1">
                    <a:lumMod val="75000"/>
                  </a:schemeClr>
                </a:solidFill>
              </a:rPr>
              <a:t>. For example, in an expression that has integer and floating point numbers (like 21 + 2.1 gives 23.1), the compiler will automatically convert the integer into floating point number so that fractional part is not lost. </a:t>
            </a:r>
            <a:r>
              <a:rPr lang="en-US" dirty="0"/>
              <a:t>	</a:t>
            </a:r>
          </a:p>
        </p:txBody>
      </p:sp>
    </p:spTree>
    <p:extLst>
      <p:ext uri="{BB962C8B-B14F-4D97-AF65-F5344CB8AC3E}">
        <p14:creationId xmlns:p14="http://schemas.microsoft.com/office/powerpoint/2010/main" val="1350335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4EAA311-F8B8-413B-ACCD-5A57951484CD}" type="slidenum">
              <a:rPr lang="en-US" smtClean="0"/>
              <a:pPr/>
              <a:t>40</a:t>
            </a:fld>
            <a:endParaRPr lang="en-US" dirty="0"/>
          </a:p>
        </p:txBody>
      </p:sp>
      <p:sp>
        <p:nvSpPr>
          <p:cNvPr id="4" name="Rectangle 3"/>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Control Statements</a:t>
            </a:r>
            <a:endParaRPr lang="en-US" sz="3200" b="1" dirty="0"/>
          </a:p>
        </p:txBody>
      </p:sp>
      <p:sp>
        <p:nvSpPr>
          <p:cNvPr id="5" name="Rectangle 4"/>
          <p:cNvSpPr/>
          <p:nvPr/>
        </p:nvSpPr>
        <p:spPr>
          <a:xfrm>
            <a:off x="327547" y="1755221"/>
            <a:ext cx="11515275" cy="3416320"/>
          </a:xfrm>
          <a:prstGeom prst="rect">
            <a:avLst/>
          </a:prstGeom>
        </p:spPr>
        <p:txBody>
          <a:bodyPr wrap="square">
            <a:spAutoFit/>
          </a:bodyPr>
          <a:lstStyle/>
          <a:p>
            <a:pPr algn="just">
              <a:lnSpc>
                <a:spcPct val="150000"/>
              </a:lnSpc>
            </a:pPr>
            <a:r>
              <a:rPr lang="en-IN" b="1" dirty="0">
                <a:solidFill>
                  <a:schemeClr val="accent1">
                    <a:lumMod val="75000"/>
                  </a:schemeClr>
                </a:solidFill>
              </a:rPr>
              <a:t> </a:t>
            </a:r>
            <a:r>
              <a:rPr lang="en-IN" b="1" dirty="0" smtClean="0">
                <a:solidFill>
                  <a:schemeClr val="accent1">
                    <a:lumMod val="75000"/>
                  </a:schemeClr>
                </a:solidFill>
              </a:rPr>
              <a:t>A </a:t>
            </a:r>
            <a:r>
              <a:rPr lang="en-IN" b="1" i="1" dirty="0" smtClean="0">
                <a:solidFill>
                  <a:srgbClr val="FF0000"/>
                </a:solidFill>
              </a:rPr>
              <a:t>control statement </a:t>
            </a:r>
            <a:r>
              <a:rPr lang="en-IN" b="1" dirty="0">
                <a:solidFill>
                  <a:schemeClr val="accent1">
                    <a:lumMod val="75000"/>
                  </a:schemeClr>
                </a:solidFill>
              </a:rPr>
              <a:t>is a statement that determines the control flow of a set of instructions, i.e., it decides the </a:t>
            </a:r>
            <a:r>
              <a:rPr lang="en-IN" b="1" dirty="0" smtClean="0">
                <a:solidFill>
                  <a:schemeClr val="accent1">
                    <a:lumMod val="75000"/>
                  </a:schemeClr>
                </a:solidFill>
              </a:rPr>
              <a:t>sequence in </a:t>
            </a:r>
            <a:r>
              <a:rPr lang="en-IN" b="1" dirty="0">
                <a:solidFill>
                  <a:schemeClr val="accent1">
                    <a:lumMod val="75000"/>
                  </a:schemeClr>
                </a:solidFill>
              </a:rPr>
              <a:t>which the instructions in a program are to be executed</a:t>
            </a:r>
            <a:r>
              <a:rPr lang="en-IN" b="1" dirty="0" smtClean="0">
                <a:solidFill>
                  <a:schemeClr val="accent1">
                    <a:lumMod val="75000"/>
                  </a:schemeClr>
                </a:solidFill>
              </a:rPr>
              <a:t>.</a:t>
            </a:r>
          </a:p>
          <a:p>
            <a:pPr algn="just">
              <a:lnSpc>
                <a:spcPct val="150000"/>
              </a:lnSpc>
            </a:pPr>
            <a:endParaRPr lang="en-IN" b="1" dirty="0">
              <a:solidFill>
                <a:schemeClr val="accent1">
                  <a:lumMod val="75000"/>
                </a:schemeClr>
              </a:solidFill>
            </a:endParaRPr>
          </a:p>
          <a:p>
            <a:pPr algn="just">
              <a:lnSpc>
                <a:spcPct val="150000"/>
              </a:lnSpc>
            </a:pPr>
            <a:r>
              <a:rPr lang="en-IN" b="1" dirty="0" smtClean="0">
                <a:solidFill>
                  <a:schemeClr val="accent1">
                    <a:lumMod val="75000"/>
                  </a:schemeClr>
                </a:solidFill>
              </a:rPr>
              <a:t>Types of  Control Statements —</a:t>
            </a:r>
          </a:p>
          <a:p>
            <a:pPr marL="285750" indent="-285750" algn="just">
              <a:lnSpc>
                <a:spcPct val="150000"/>
              </a:lnSpc>
              <a:buFont typeface="Arial" panose="020B0604020202020204" pitchFamily="34" charset="0"/>
              <a:buChar char="•"/>
            </a:pPr>
            <a:r>
              <a:rPr lang="en-US" b="1" dirty="0" smtClean="0">
                <a:solidFill>
                  <a:schemeClr val="accent1">
                    <a:lumMod val="75000"/>
                  </a:schemeClr>
                </a:solidFill>
              </a:rPr>
              <a:t>Sequential Control: </a:t>
            </a:r>
            <a:r>
              <a:rPr lang="en-IN" b="1" dirty="0" smtClean="0">
                <a:solidFill>
                  <a:schemeClr val="accent1">
                    <a:lumMod val="75000"/>
                  </a:schemeClr>
                </a:solidFill>
              </a:rPr>
              <a:t> A </a:t>
            </a:r>
            <a:r>
              <a:rPr lang="en-IN" b="1" dirty="0">
                <a:solidFill>
                  <a:schemeClr val="accent1">
                    <a:lumMod val="75000"/>
                  </a:schemeClr>
                </a:solidFill>
              </a:rPr>
              <a:t>Python program is executed sequentially from the first line of </a:t>
            </a:r>
            <a:r>
              <a:rPr lang="en-IN" b="1" dirty="0" smtClean="0">
                <a:solidFill>
                  <a:schemeClr val="accent1">
                    <a:lumMod val="75000"/>
                  </a:schemeClr>
                </a:solidFill>
              </a:rPr>
              <a:t>the program </a:t>
            </a:r>
            <a:r>
              <a:rPr lang="en-IN" b="1" dirty="0">
                <a:solidFill>
                  <a:schemeClr val="accent1">
                    <a:lumMod val="75000"/>
                  </a:schemeClr>
                </a:solidFill>
              </a:rPr>
              <a:t>to its last line. </a:t>
            </a:r>
            <a:endParaRPr lang="en-US" b="1" dirty="0" smtClean="0">
              <a:solidFill>
                <a:schemeClr val="accent1">
                  <a:lumMod val="75000"/>
                </a:schemeClr>
              </a:solidFill>
            </a:endParaRPr>
          </a:p>
          <a:p>
            <a:pPr marL="285750" indent="-285750" algn="just">
              <a:lnSpc>
                <a:spcPct val="150000"/>
              </a:lnSpc>
              <a:buFont typeface="Arial" panose="020B0604020202020204" pitchFamily="34" charset="0"/>
              <a:buChar char="•"/>
            </a:pPr>
            <a:r>
              <a:rPr lang="en-US" b="1" dirty="0" smtClean="0">
                <a:solidFill>
                  <a:schemeClr val="accent1">
                    <a:lumMod val="75000"/>
                  </a:schemeClr>
                </a:solidFill>
              </a:rPr>
              <a:t>Selection </a:t>
            </a:r>
            <a:r>
              <a:rPr lang="en-US" b="1" dirty="0">
                <a:solidFill>
                  <a:schemeClr val="accent1">
                    <a:lumMod val="75000"/>
                  </a:schemeClr>
                </a:solidFill>
              </a:rPr>
              <a:t>Control: </a:t>
            </a:r>
            <a:r>
              <a:rPr lang="en-US" b="1" dirty="0" smtClean="0">
                <a:solidFill>
                  <a:schemeClr val="accent1">
                    <a:lumMod val="75000"/>
                  </a:schemeClr>
                </a:solidFill>
              </a:rPr>
              <a:t> To </a:t>
            </a:r>
            <a:r>
              <a:rPr lang="en-IN" b="1" dirty="0">
                <a:solidFill>
                  <a:schemeClr val="accent1">
                    <a:lumMod val="75000"/>
                  </a:schemeClr>
                </a:solidFill>
              </a:rPr>
              <a:t>execute only a selected set of </a:t>
            </a:r>
            <a:r>
              <a:rPr lang="en-IN" b="1" dirty="0" smtClean="0">
                <a:solidFill>
                  <a:schemeClr val="accent1">
                    <a:lumMod val="75000"/>
                  </a:schemeClr>
                </a:solidFill>
              </a:rPr>
              <a:t>statements.</a:t>
            </a:r>
            <a:endParaRPr lang="en-US" b="1" dirty="0">
              <a:solidFill>
                <a:schemeClr val="accent1">
                  <a:lumMod val="75000"/>
                </a:schemeClr>
              </a:solidFill>
            </a:endParaRPr>
          </a:p>
          <a:p>
            <a:pPr marL="285750" indent="-285750" algn="just">
              <a:lnSpc>
                <a:spcPct val="150000"/>
              </a:lnSpc>
              <a:buFont typeface="Arial" panose="020B0604020202020204" pitchFamily="34" charset="0"/>
              <a:buChar char="•"/>
            </a:pPr>
            <a:r>
              <a:rPr lang="en-US" b="1" dirty="0" smtClean="0">
                <a:solidFill>
                  <a:schemeClr val="accent1">
                    <a:lumMod val="75000"/>
                  </a:schemeClr>
                </a:solidFill>
              </a:rPr>
              <a:t>Iterative Control: </a:t>
            </a:r>
            <a:r>
              <a:rPr lang="en-IN" b="1" dirty="0">
                <a:solidFill>
                  <a:schemeClr val="accent1">
                    <a:lumMod val="75000"/>
                  </a:schemeClr>
                </a:solidFill>
              </a:rPr>
              <a:t> </a:t>
            </a:r>
            <a:r>
              <a:rPr lang="en-IN" b="1" dirty="0" smtClean="0">
                <a:solidFill>
                  <a:schemeClr val="accent1">
                    <a:lumMod val="75000"/>
                  </a:schemeClr>
                </a:solidFill>
              </a:rPr>
              <a:t>To execute </a:t>
            </a:r>
            <a:r>
              <a:rPr lang="en-IN" b="1" dirty="0">
                <a:solidFill>
                  <a:schemeClr val="accent1">
                    <a:lumMod val="75000"/>
                  </a:schemeClr>
                </a:solidFill>
              </a:rPr>
              <a:t>a set of statements </a:t>
            </a:r>
            <a:r>
              <a:rPr lang="en-IN" b="1" dirty="0" smtClean="0">
                <a:solidFill>
                  <a:schemeClr val="accent1">
                    <a:lumMod val="75000"/>
                  </a:schemeClr>
                </a:solidFill>
              </a:rPr>
              <a:t>repeatedly. </a:t>
            </a:r>
            <a:endParaRPr lang="en-US" b="1" dirty="0">
              <a:solidFill>
                <a:schemeClr val="accent1">
                  <a:lumMod val="75000"/>
                </a:schemeClr>
              </a:solidFill>
            </a:endParaRPr>
          </a:p>
        </p:txBody>
      </p:sp>
    </p:spTree>
    <p:extLst>
      <p:ext uri="{BB962C8B-B14F-4D97-AF65-F5344CB8AC3E}">
        <p14:creationId xmlns:p14="http://schemas.microsoft.com/office/powerpoint/2010/main" val="1496705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If </a:t>
            </a:r>
            <a:r>
              <a:rPr lang="en-US" sz="3200" b="1" dirty="0"/>
              <a:t>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41</a:t>
            </a:fld>
            <a:endParaRPr lang="en-US"/>
          </a:p>
        </p:txBody>
      </p:sp>
      <p:pic>
        <p:nvPicPr>
          <p:cNvPr id="5" name="Picture 4"/>
          <p:cNvPicPr>
            <a:picLocks noChangeAspect="1"/>
          </p:cNvPicPr>
          <p:nvPr/>
        </p:nvPicPr>
        <p:blipFill>
          <a:blip r:embed="rId2"/>
          <a:stretch>
            <a:fillRect/>
          </a:stretch>
        </p:blipFill>
        <p:spPr>
          <a:xfrm>
            <a:off x="409741" y="2655294"/>
            <a:ext cx="2724317" cy="1770854"/>
          </a:xfrm>
          <a:prstGeom prst="rect">
            <a:avLst/>
          </a:prstGeom>
        </p:spPr>
      </p:pic>
      <p:pic>
        <p:nvPicPr>
          <p:cNvPr id="6" name="Picture 5"/>
          <p:cNvPicPr>
            <a:picLocks noChangeAspect="1"/>
          </p:cNvPicPr>
          <p:nvPr/>
        </p:nvPicPr>
        <p:blipFill>
          <a:blip r:embed="rId3"/>
          <a:stretch>
            <a:fillRect/>
          </a:stretch>
        </p:blipFill>
        <p:spPr>
          <a:xfrm>
            <a:off x="3402424" y="2092010"/>
            <a:ext cx="2893436" cy="2504833"/>
          </a:xfrm>
          <a:prstGeom prst="rect">
            <a:avLst/>
          </a:prstGeom>
        </p:spPr>
      </p:pic>
      <p:sp>
        <p:nvSpPr>
          <p:cNvPr id="8" name="TextBox 7"/>
          <p:cNvSpPr txBox="1"/>
          <p:nvPr/>
        </p:nvSpPr>
        <p:spPr>
          <a:xfrm>
            <a:off x="6721434" y="2130832"/>
            <a:ext cx="2414319" cy="369332"/>
          </a:xfrm>
          <a:prstGeom prst="rect">
            <a:avLst/>
          </a:prstGeom>
          <a:noFill/>
        </p:spPr>
        <p:txBody>
          <a:bodyPr wrap="square" rtlCol="0">
            <a:spAutoFit/>
          </a:bodyPr>
          <a:lstStyle/>
          <a:p>
            <a:r>
              <a:rPr lang="en-IN" dirty="0" smtClean="0"/>
              <a:t>Example:</a:t>
            </a:r>
            <a:endParaRPr lang="en-IN"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1434" y="2655295"/>
            <a:ext cx="4890531" cy="1770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76975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If-Else </a:t>
            </a:r>
            <a:r>
              <a:rPr lang="en-US" sz="3200" b="1" dirty="0"/>
              <a:t>Statement</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42</a:t>
            </a:fld>
            <a:endParaRPr lang="en-US"/>
          </a:p>
        </p:txBody>
      </p:sp>
      <p:pic>
        <p:nvPicPr>
          <p:cNvPr id="5" name="Picture 4"/>
          <p:cNvPicPr>
            <a:picLocks noChangeAspect="1"/>
          </p:cNvPicPr>
          <p:nvPr/>
        </p:nvPicPr>
        <p:blipFill>
          <a:blip r:embed="rId2"/>
          <a:stretch>
            <a:fillRect/>
          </a:stretch>
        </p:blipFill>
        <p:spPr>
          <a:xfrm>
            <a:off x="125673" y="1876243"/>
            <a:ext cx="2503867" cy="1562993"/>
          </a:xfrm>
          <a:prstGeom prst="rect">
            <a:avLst/>
          </a:prstGeom>
        </p:spPr>
      </p:pic>
      <p:sp>
        <p:nvSpPr>
          <p:cNvPr id="8" name="TextBox 7"/>
          <p:cNvSpPr txBox="1"/>
          <p:nvPr/>
        </p:nvSpPr>
        <p:spPr>
          <a:xfrm>
            <a:off x="6890450" y="1894618"/>
            <a:ext cx="2414319" cy="369332"/>
          </a:xfrm>
          <a:prstGeom prst="rect">
            <a:avLst/>
          </a:prstGeom>
          <a:noFill/>
        </p:spPr>
        <p:txBody>
          <a:bodyPr wrap="square" rtlCol="0">
            <a:spAutoFit/>
          </a:bodyPr>
          <a:lstStyle/>
          <a:p>
            <a:r>
              <a:rPr lang="en-IN" dirty="0" smtClean="0"/>
              <a:t>Example:</a:t>
            </a:r>
            <a:endParaRPr lang="en-IN"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075" y="1894618"/>
            <a:ext cx="4037611"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0450" y="2410691"/>
            <a:ext cx="5145108" cy="2453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4295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Nested if Statements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43</a:t>
            </a:fld>
            <a:endParaRPr lang="en-US"/>
          </a:p>
        </p:txBody>
      </p:sp>
      <p:sp>
        <p:nvSpPr>
          <p:cNvPr id="5" name="Rectangle 4"/>
          <p:cNvSpPr/>
          <p:nvPr/>
        </p:nvSpPr>
        <p:spPr>
          <a:xfrm>
            <a:off x="260641" y="1594011"/>
            <a:ext cx="11614683" cy="1754326"/>
          </a:xfrm>
          <a:prstGeom prst="rect">
            <a:avLst/>
          </a:prstGeom>
        </p:spPr>
        <p:txBody>
          <a:bodyPr wrap="square">
            <a:spAutoFit/>
          </a:bodyPr>
          <a:lstStyle/>
          <a:p>
            <a:pPr algn="just">
              <a:lnSpc>
                <a:spcPct val="150000"/>
              </a:lnSpc>
            </a:pPr>
            <a:r>
              <a:rPr lang="en-US" b="1" dirty="0">
                <a:solidFill>
                  <a:schemeClr val="accent1">
                    <a:lumMod val="75000"/>
                  </a:schemeClr>
                </a:solidFill>
              </a:rPr>
              <a:t>A statement that contains other statements is called a </a:t>
            </a:r>
            <a:r>
              <a:rPr lang="en-US" b="1" i="1" dirty="0">
                <a:solidFill>
                  <a:srgbClr val="C00000"/>
                </a:solidFill>
              </a:rPr>
              <a:t>compound statement</a:t>
            </a:r>
            <a:r>
              <a:rPr lang="en-US" b="1" i="1" dirty="0">
                <a:solidFill>
                  <a:schemeClr val="accent1">
                    <a:lumMod val="75000"/>
                  </a:schemeClr>
                </a:solidFill>
              </a:rPr>
              <a:t>. </a:t>
            </a:r>
            <a:r>
              <a:rPr lang="en-US" b="1" dirty="0">
                <a:solidFill>
                  <a:schemeClr val="accent1">
                    <a:lumMod val="75000"/>
                  </a:schemeClr>
                </a:solidFill>
              </a:rPr>
              <a:t>To perform more complex checks, if statements can be nested, that is, can be placed one inside the other. In such a case, the inner if statement is the statement part of the outer one. Nested if statements are used to check if more than one conditions are satisfied. </a:t>
            </a:r>
          </a:p>
        </p:txBody>
      </p:sp>
      <p:sp>
        <p:nvSpPr>
          <p:cNvPr id="8" name="TextBox 7"/>
          <p:cNvSpPr txBox="1"/>
          <p:nvPr/>
        </p:nvSpPr>
        <p:spPr>
          <a:xfrm>
            <a:off x="260642" y="3391844"/>
            <a:ext cx="2414319" cy="369332"/>
          </a:xfrm>
          <a:prstGeom prst="rect">
            <a:avLst/>
          </a:prstGeom>
          <a:noFill/>
        </p:spPr>
        <p:txBody>
          <a:bodyPr wrap="square" rtlCol="0">
            <a:spAutoFit/>
          </a:bodyPr>
          <a:lstStyle/>
          <a:p>
            <a:r>
              <a:rPr lang="en-IN" dirty="0" smtClean="0"/>
              <a:t>Example:</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801" y="3581892"/>
            <a:ext cx="6536168" cy="30445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5949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If-</a:t>
            </a:r>
            <a:r>
              <a:rPr lang="en-US" sz="3200" b="1" dirty="0" err="1" smtClean="0"/>
              <a:t>elif</a:t>
            </a:r>
            <a:r>
              <a:rPr lang="en-US" sz="3200" b="1" dirty="0" smtClean="0"/>
              <a:t>-else </a:t>
            </a:r>
            <a:r>
              <a:rPr lang="en-US" sz="3200" b="1" dirty="0"/>
              <a:t>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44</a:t>
            </a:fld>
            <a:endParaRPr lang="en-US"/>
          </a:p>
        </p:txBody>
      </p:sp>
      <p:sp>
        <p:nvSpPr>
          <p:cNvPr id="5" name="Rectangle 4"/>
          <p:cNvSpPr/>
          <p:nvPr/>
        </p:nvSpPr>
        <p:spPr>
          <a:xfrm>
            <a:off x="319087" y="1664804"/>
            <a:ext cx="11553825" cy="1338828"/>
          </a:xfrm>
          <a:prstGeom prst="rect">
            <a:avLst/>
          </a:prstGeom>
        </p:spPr>
        <p:txBody>
          <a:bodyPr wrap="square">
            <a:spAutoFit/>
          </a:bodyPr>
          <a:lstStyle/>
          <a:p>
            <a:pPr algn="just">
              <a:lnSpc>
                <a:spcPct val="150000"/>
              </a:lnSpc>
            </a:pPr>
            <a:r>
              <a:rPr lang="en-US" b="1" dirty="0">
                <a:solidFill>
                  <a:schemeClr val="accent1">
                    <a:lumMod val="75000"/>
                  </a:schemeClr>
                </a:solidFill>
              </a:rPr>
              <a:t>Python supports if-</a:t>
            </a:r>
            <a:r>
              <a:rPr lang="en-US" b="1" dirty="0" err="1">
                <a:solidFill>
                  <a:schemeClr val="accent1">
                    <a:lumMod val="75000"/>
                  </a:schemeClr>
                </a:solidFill>
              </a:rPr>
              <a:t>elif</a:t>
            </a:r>
            <a:r>
              <a:rPr lang="en-US" b="1" dirty="0">
                <a:solidFill>
                  <a:schemeClr val="accent1">
                    <a:lumMod val="75000"/>
                  </a:schemeClr>
                </a:solidFill>
              </a:rPr>
              <a:t>-else statements to test additional conditions apart from the initial test expression. The if-</a:t>
            </a:r>
            <a:r>
              <a:rPr lang="en-US" b="1" dirty="0" err="1">
                <a:solidFill>
                  <a:schemeClr val="accent1">
                    <a:lumMod val="75000"/>
                  </a:schemeClr>
                </a:solidFill>
              </a:rPr>
              <a:t>elif</a:t>
            </a:r>
            <a:r>
              <a:rPr lang="en-US" b="1" dirty="0">
                <a:solidFill>
                  <a:schemeClr val="accent1">
                    <a:lumMod val="75000"/>
                  </a:schemeClr>
                </a:solidFill>
              </a:rPr>
              <a:t>-else construct works in the same way as a usual if-else statement. If-</a:t>
            </a:r>
            <a:r>
              <a:rPr lang="en-US" b="1" dirty="0" err="1">
                <a:solidFill>
                  <a:schemeClr val="accent1">
                    <a:lumMod val="75000"/>
                  </a:schemeClr>
                </a:solidFill>
              </a:rPr>
              <a:t>elif</a:t>
            </a:r>
            <a:r>
              <a:rPr lang="en-US" b="1" dirty="0">
                <a:solidFill>
                  <a:schemeClr val="accent1">
                    <a:lumMod val="75000"/>
                  </a:schemeClr>
                </a:solidFill>
              </a:rPr>
              <a:t>-else construct is also known as</a:t>
            </a:r>
            <a:r>
              <a:rPr lang="en-US" b="1" dirty="0">
                <a:solidFill>
                  <a:srgbClr val="C00000"/>
                </a:solidFill>
              </a:rPr>
              <a:t> nested-if </a:t>
            </a:r>
            <a:r>
              <a:rPr lang="en-US" b="1" dirty="0">
                <a:solidFill>
                  <a:schemeClr val="accent1">
                    <a:lumMod val="75000"/>
                  </a:schemeClr>
                </a:solidFill>
              </a:rPr>
              <a:t>construct. </a:t>
            </a:r>
          </a:p>
        </p:txBody>
      </p:sp>
      <p:pic>
        <p:nvPicPr>
          <p:cNvPr id="6" name="Picture 5"/>
          <p:cNvPicPr>
            <a:picLocks noChangeAspect="1"/>
          </p:cNvPicPr>
          <p:nvPr/>
        </p:nvPicPr>
        <p:blipFill>
          <a:blip r:embed="rId2"/>
          <a:stretch>
            <a:fillRect/>
          </a:stretch>
        </p:blipFill>
        <p:spPr>
          <a:xfrm>
            <a:off x="5036024" y="2643571"/>
            <a:ext cx="6836888" cy="3308240"/>
          </a:xfrm>
          <a:prstGeom prst="rect">
            <a:avLst/>
          </a:prstGeom>
        </p:spPr>
      </p:pic>
      <p:pic>
        <p:nvPicPr>
          <p:cNvPr id="7" name="Picture 6"/>
          <p:cNvPicPr>
            <a:picLocks noChangeAspect="1"/>
          </p:cNvPicPr>
          <p:nvPr/>
        </p:nvPicPr>
        <p:blipFill>
          <a:blip r:embed="rId3"/>
          <a:stretch>
            <a:fillRect/>
          </a:stretch>
        </p:blipFill>
        <p:spPr>
          <a:xfrm>
            <a:off x="326893" y="3561417"/>
            <a:ext cx="4559138" cy="2759845"/>
          </a:xfrm>
          <a:prstGeom prst="rect">
            <a:avLst/>
          </a:prstGeom>
        </p:spPr>
      </p:pic>
      <p:sp>
        <p:nvSpPr>
          <p:cNvPr id="8" name="TextBox 7"/>
          <p:cNvSpPr txBox="1"/>
          <p:nvPr/>
        </p:nvSpPr>
        <p:spPr>
          <a:xfrm>
            <a:off x="319087" y="3117932"/>
            <a:ext cx="1531378"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2113225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While Loop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45</a:t>
            </a:fld>
            <a:endParaRPr lang="en-US"/>
          </a:p>
        </p:txBody>
      </p:sp>
      <p:pic>
        <p:nvPicPr>
          <p:cNvPr id="5" name="Picture 4"/>
          <p:cNvPicPr>
            <a:picLocks noChangeAspect="1"/>
          </p:cNvPicPr>
          <p:nvPr/>
        </p:nvPicPr>
        <p:blipFill>
          <a:blip r:embed="rId2"/>
          <a:stretch>
            <a:fillRect/>
          </a:stretch>
        </p:blipFill>
        <p:spPr>
          <a:xfrm>
            <a:off x="3730593" y="1761560"/>
            <a:ext cx="4676428" cy="3069747"/>
          </a:xfrm>
          <a:prstGeom prst="rect">
            <a:avLst/>
          </a:prstGeom>
        </p:spPr>
      </p:pic>
      <p:pic>
        <p:nvPicPr>
          <p:cNvPr id="6" name="Picture 5"/>
          <p:cNvPicPr>
            <a:picLocks noChangeAspect="1"/>
          </p:cNvPicPr>
          <p:nvPr/>
        </p:nvPicPr>
        <p:blipFill>
          <a:blip r:embed="rId3"/>
          <a:stretch>
            <a:fillRect/>
          </a:stretch>
        </p:blipFill>
        <p:spPr>
          <a:xfrm>
            <a:off x="401650" y="1867485"/>
            <a:ext cx="3150544" cy="1605997"/>
          </a:xfrm>
          <a:prstGeom prst="rect">
            <a:avLst/>
          </a:prstGeom>
        </p:spPr>
      </p:pic>
      <p:pic>
        <p:nvPicPr>
          <p:cNvPr id="7" name="Picture 6"/>
          <p:cNvPicPr>
            <a:picLocks noChangeAspect="1"/>
          </p:cNvPicPr>
          <p:nvPr/>
        </p:nvPicPr>
        <p:blipFill>
          <a:blip r:embed="rId4"/>
          <a:stretch>
            <a:fillRect/>
          </a:stretch>
        </p:blipFill>
        <p:spPr>
          <a:xfrm>
            <a:off x="8755291" y="2342903"/>
            <a:ext cx="3404346" cy="2261157"/>
          </a:xfrm>
          <a:prstGeom prst="rect">
            <a:avLst/>
          </a:prstGeom>
        </p:spPr>
      </p:pic>
      <p:sp>
        <p:nvSpPr>
          <p:cNvPr id="8" name="TextBox 7"/>
          <p:cNvSpPr txBox="1"/>
          <p:nvPr/>
        </p:nvSpPr>
        <p:spPr>
          <a:xfrm>
            <a:off x="8670236" y="1973571"/>
            <a:ext cx="2414319"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108132631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For Loop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46</a:t>
            </a:fld>
            <a:endParaRPr lang="en-US"/>
          </a:p>
        </p:txBody>
      </p:sp>
      <p:sp>
        <p:nvSpPr>
          <p:cNvPr id="5" name="Rectangle 4"/>
          <p:cNvSpPr/>
          <p:nvPr/>
        </p:nvSpPr>
        <p:spPr>
          <a:xfrm>
            <a:off x="157163" y="1667395"/>
            <a:ext cx="11815762" cy="1338828"/>
          </a:xfrm>
          <a:prstGeom prst="rect">
            <a:avLst/>
          </a:prstGeom>
        </p:spPr>
        <p:txBody>
          <a:bodyPr wrap="square">
            <a:spAutoFit/>
          </a:bodyPr>
          <a:lstStyle/>
          <a:p>
            <a:pPr>
              <a:lnSpc>
                <a:spcPct val="150000"/>
              </a:lnSpc>
            </a:pPr>
            <a:r>
              <a:rPr lang="en-IN" b="1" dirty="0" smtClean="0">
                <a:solidFill>
                  <a:schemeClr val="accent1">
                    <a:lumMod val="75000"/>
                  </a:schemeClr>
                </a:solidFill>
              </a:rPr>
              <a:t>For </a:t>
            </a:r>
            <a:r>
              <a:rPr lang="en-IN" b="1" dirty="0">
                <a:solidFill>
                  <a:schemeClr val="accent1">
                    <a:lumMod val="75000"/>
                  </a:schemeClr>
                </a:solidFill>
              </a:rPr>
              <a:t>loop provides a mechanism to </a:t>
            </a:r>
            <a:r>
              <a:rPr lang="en-IN" b="1" dirty="0" smtClean="0">
                <a:solidFill>
                  <a:schemeClr val="accent1">
                    <a:lumMod val="75000"/>
                  </a:schemeClr>
                </a:solidFill>
              </a:rPr>
              <a:t>repeat a </a:t>
            </a:r>
            <a:r>
              <a:rPr lang="en-IN" b="1" dirty="0">
                <a:solidFill>
                  <a:schemeClr val="accent1">
                    <a:lumMod val="75000"/>
                  </a:schemeClr>
                </a:solidFill>
              </a:rPr>
              <a:t>task until a particular condition is True. </a:t>
            </a:r>
            <a:r>
              <a:rPr lang="en-IN" b="1" dirty="0" smtClean="0">
                <a:solidFill>
                  <a:schemeClr val="accent1">
                    <a:lumMod val="75000"/>
                  </a:schemeClr>
                </a:solidFill>
              </a:rPr>
              <a:t> It is usually known </a:t>
            </a:r>
            <a:r>
              <a:rPr lang="en-IN" b="1" dirty="0">
                <a:solidFill>
                  <a:schemeClr val="accent1">
                    <a:lumMod val="75000"/>
                  </a:schemeClr>
                </a:solidFill>
              </a:rPr>
              <a:t>as a </a:t>
            </a:r>
            <a:r>
              <a:rPr lang="en-IN" b="1" i="1" dirty="0">
                <a:solidFill>
                  <a:schemeClr val="accent1">
                    <a:lumMod val="75000"/>
                  </a:schemeClr>
                </a:solidFill>
              </a:rPr>
              <a:t>determinate or definite loop</a:t>
            </a:r>
            <a:r>
              <a:rPr lang="en-IN" b="1" dirty="0">
                <a:solidFill>
                  <a:schemeClr val="accent1">
                    <a:lumMod val="75000"/>
                  </a:schemeClr>
                </a:solidFill>
              </a:rPr>
              <a:t> because the </a:t>
            </a:r>
            <a:r>
              <a:rPr lang="en-IN" b="1" dirty="0" smtClean="0">
                <a:solidFill>
                  <a:schemeClr val="accent1">
                    <a:lumMod val="75000"/>
                  </a:schemeClr>
                </a:solidFill>
              </a:rPr>
              <a:t>programmer knows </a:t>
            </a:r>
            <a:r>
              <a:rPr lang="en-IN" b="1" dirty="0">
                <a:solidFill>
                  <a:schemeClr val="accent1">
                    <a:lumMod val="75000"/>
                  </a:schemeClr>
                </a:solidFill>
              </a:rPr>
              <a:t>exactly how many times the loop will repeat</a:t>
            </a:r>
            <a:r>
              <a:rPr lang="en-IN" b="1" dirty="0" smtClean="0">
                <a:solidFill>
                  <a:schemeClr val="accent1">
                    <a:lumMod val="75000"/>
                  </a:schemeClr>
                </a:solidFill>
              </a:rPr>
              <a:t>.</a:t>
            </a:r>
          </a:p>
          <a:p>
            <a:pPr>
              <a:lnSpc>
                <a:spcPct val="150000"/>
              </a:lnSpc>
            </a:pPr>
            <a:r>
              <a:rPr lang="en-IN" b="1" dirty="0">
                <a:solidFill>
                  <a:schemeClr val="accent1">
                    <a:lumMod val="75000"/>
                  </a:schemeClr>
                </a:solidFill>
              </a:rPr>
              <a:t>The for...in statement is a looping statement used in Python to iterate over a sequence of </a:t>
            </a:r>
            <a:r>
              <a:rPr lang="en-IN" b="1" dirty="0" smtClean="0">
                <a:solidFill>
                  <a:schemeClr val="accent1">
                    <a:lumMod val="75000"/>
                  </a:schemeClr>
                </a:solidFill>
              </a:rPr>
              <a:t>objects.</a:t>
            </a:r>
            <a:endParaRPr lang="en-US" b="1" dirty="0">
              <a:solidFill>
                <a:schemeClr val="accent1">
                  <a:lumMod val="75000"/>
                </a:schemeClr>
              </a:solidFill>
            </a:endParaRPr>
          </a:p>
        </p:txBody>
      </p:sp>
      <p:pic>
        <p:nvPicPr>
          <p:cNvPr id="6" name="Picture 5"/>
          <p:cNvPicPr>
            <a:picLocks noChangeAspect="1"/>
          </p:cNvPicPr>
          <p:nvPr/>
        </p:nvPicPr>
        <p:blipFill>
          <a:blip r:embed="rId2"/>
          <a:stretch>
            <a:fillRect/>
          </a:stretch>
        </p:blipFill>
        <p:spPr>
          <a:xfrm>
            <a:off x="414821" y="3178836"/>
            <a:ext cx="3583134" cy="1159641"/>
          </a:xfrm>
          <a:prstGeom prst="rect">
            <a:avLst/>
          </a:prstGeom>
        </p:spPr>
      </p:pic>
      <p:pic>
        <p:nvPicPr>
          <p:cNvPr id="8" name="Picture 7"/>
          <p:cNvPicPr>
            <a:picLocks noChangeAspect="1"/>
          </p:cNvPicPr>
          <p:nvPr/>
        </p:nvPicPr>
        <p:blipFill>
          <a:blip r:embed="rId3"/>
          <a:stretch>
            <a:fillRect/>
          </a:stretch>
        </p:blipFill>
        <p:spPr>
          <a:xfrm>
            <a:off x="4641703" y="3123818"/>
            <a:ext cx="4242989" cy="3130219"/>
          </a:xfrm>
          <a:prstGeom prst="rect">
            <a:avLst/>
          </a:prstGeom>
        </p:spPr>
      </p:pic>
    </p:spTree>
    <p:extLst>
      <p:ext uri="{BB962C8B-B14F-4D97-AF65-F5344CB8AC3E}">
        <p14:creationId xmlns:p14="http://schemas.microsoft.com/office/powerpoint/2010/main" val="18272273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For Loop and Range()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47</a:t>
            </a:fld>
            <a:endParaRPr lang="en-US"/>
          </a:p>
        </p:txBody>
      </p:sp>
      <p:sp>
        <p:nvSpPr>
          <p:cNvPr id="5" name="Rectangle 4"/>
          <p:cNvSpPr/>
          <p:nvPr/>
        </p:nvSpPr>
        <p:spPr>
          <a:xfrm>
            <a:off x="157163" y="1667395"/>
            <a:ext cx="11815762" cy="2585323"/>
          </a:xfrm>
          <a:prstGeom prst="rect">
            <a:avLst/>
          </a:prstGeom>
        </p:spPr>
        <p:txBody>
          <a:bodyPr wrap="square">
            <a:spAutoFit/>
          </a:bodyPr>
          <a:lstStyle/>
          <a:p>
            <a:pPr>
              <a:lnSpc>
                <a:spcPct val="150000"/>
              </a:lnSpc>
            </a:pPr>
            <a:r>
              <a:rPr lang="en-US" b="1" dirty="0" smtClean="0">
                <a:solidFill>
                  <a:schemeClr val="accent1">
                    <a:lumMod val="75000"/>
                  </a:schemeClr>
                </a:solidFill>
              </a:rPr>
              <a:t>The </a:t>
            </a:r>
            <a:r>
              <a:rPr lang="en-US" b="1" dirty="0">
                <a:solidFill>
                  <a:srgbClr val="C00000"/>
                </a:solidFill>
              </a:rPr>
              <a:t>range() </a:t>
            </a:r>
            <a:r>
              <a:rPr lang="en-US" b="1" dirty="0" smtClean="0">
                <a:solidFill>
                  <a:schemeClr val="accent1">
                    <a:lumMod val="75000"/>
                  </a:schemeClr>
                </a:solidFill>
              </a:rPr>
              <a:t>function is </a:t>
            </a:r>
            <a:r>
              <a:rPr lang="en-US" b="1" dirty="0">
                <a:solidFill>
                  <a:schemeClr val="accent1">
                    <a:lumMod val="75000"/>
                  </a:schemeClr>
                </a:solidFill>
              </a:rPr>
              <a:t>a built-in function in Python that is used to iterate over a sequence of numbers. The syntax of range() </a:t>
            </a:r>
            <a:r>
              <a:rPr lang="en-US" b="1" dirty="0" smtClean="0">
                <a:solidFill>
                  <a:schemeClr val="accent1">
                    <a:lumMod val="75000"/>
                  </a:schemeClr>
                </a:solidFill>
              </a:rPr>
              <a:t>is  </a:t>
            </a:r>
            <a:r>
              <a:rPr lang="en-US" b="1" dirty="0" smtClean="0">
                <a:solidFill>
                  <a:srgbClr val="C00000"/>
                </a:solidFill>
              </a:rPr>
              <a:t>range(beg</a:t>
            </a:r>
            <a:r>
              <a:rPr lang="en-US" b="1" dirty="0">
                <a:solidFill>
                  <a:srgbClr val="C00000"/>
                </a:solidFill>
              </a:rPr>
              <a:t>, end, [step])</a:t>
            </a:r>
          </a:p>
          <a:p>
            <a:pPr algn="just">
              <a:lnSpc>
                <a:spcPct val="150000"/>
              </a:lnSpc>
            </a:pPr>
            <a:r>
              <a:rPr lang="en-US" b="1" dirty="0">
                <a:solidFill>
                  <a:schemeClr val="accent1">
                    <a:lumMod val="75000"/>
                  </a:schemeClr>
                </a:solidFill>
              </a:rPr>
              <a:t>The range() produces a sequence of numbers starting with beg (inclusive) and ending with one less than the number end. The step argument is option (that is why it is placed in brackets). By default, every number in the range is incremented by </a:t>
            </a:r>
            <a:r>
              <a:rPr lang="en-US" b="1" dirty="0">
                <a:solidFill>
                  <a:schemeClr val="accent1">
                    <a:lumMod val="75000"/>
                  </a:schemeClr>
                </a:solidFill>
                <a:latin typeface="Times New Roman" panose="02020603050405020304" pitchFamily="18" charset="0"/>
                <a:cs typeface="Times New Roman" panose="02020603050405020304" pitchFamily="18" charset="0"/>
              </a:rPr>
              <a:t>1</a:t>
            </a:r>
            <a:r>
              <a:rPr lang="en-US" b="1" dirty="0">
                <a:solidFill>
                  <a:schemeClr val="accent1">
                    <a:lumMod val="75000"/>
                  </a:schemeClr>
                </a:solidFill>
              </a:rPr>
              <a:t> but we can specify a different increment using step. It can be both negative and positive, but not zero.</a:t>
            </a:r>
          </a:p>
        </p:txBody>
      </p:sp>
      <p:sp>
        <p:nvSpPr>
          <p:cNvPr id="7" name="TextBox 6"/>
          <p:cNvSpPr txBox="1"/>
          <p:nvPr/>
        </p:nvSpPr>
        <p:spPr>
          <a:xfrm>
            <a:off x="157163" y="4437384"/>
            <a:ext cx="2414319" cy="369332"/>
          </a:xfrm>
          <a:prstGeom prst="rect">
            <a:avLst/>
          </a:prstGeom>
          <a:noFill/>
        </p:spPr>
        <p:txBody>
          <a:bodyPr wrap="square" rtlCol="0">
            <a:spAutoFit/>
          </a:bodyPr>
          <a:lstStyle/>
          <a:p>
            <a:r>
              <a:rPr lang="en-IN" dirty="0" smtClean="0"/>
              <a:t>Examples:</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4473" y="4273038"/>
            <a:ext cx="7534275"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63266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Range()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48</a:t>
            </a:fld>
            <a:endParaRPr lang="en-US"/>
          </a:p>
        </p:txBody>
      </p:sp>
      <p:sp>
        <p:nvSpPr>
          <p:cNvPr id="5" name="Rectangle 4"/>
          <p:cNvSpPr/>
          <p:nvPr/>
        </p:nvSpPr>
        <p:spPr>
          <a:xfrm>
            <a:off x="166686" y="1550504"/>
            <a:ext cx="11858625" cy="2585323"/>
          </a:xfrm>
          <a:prstGeom prst="rect">
            <a:avLst/>
          </a:prstGeom>
        </p:spPr>
        <p:txBody>
          <a:bodyPr wrap="square">
            <a:spAutoFit/>
          </a:bodyPr>
          <a:lstStyle/>
          <a:p>
            <a:pPr algn="just">
              <a:lnSpc>
                <a:spcPct val="150000"/>
              </a:lnSpc>
            </a:pPr>
            <a:r>
              <a:rPr lang="en-US" b="1" dirty="0" smtClean="0">
                <a:solidFill>
                  <a:schemeClr val="accent1">
                    <a:lumMod val="75000"/>
                  </a:schemeClr>
                </a:solidFill>
              </a:rPr>
              <a:t>If range() </a:t>
            </a:r>
            <a:r>
              <a:rPr lang="en-US" b="1" dirty="0">
                <a:solidFill>
                  <a:schemeClr val="accent1">
                    <a:lumMod val="75000"/>
                  </a:schemeClr>
                </a:solidFill>
              </a:rPr>
              <a:t>function is given a single argument, it produces an object with values from 0 to argument-1. For example: range(10) is equal to writing range(0, 10</a:t>
            </a:r>
            <a:r>
              <a:rPr lang="en-US" b="1" dirty="0" smtClean="0">
                <a:solidFill>
                  <a:schemeClr val="accent1">
                    <a:lumMod val="75000"/>
                  </a:schemeClr>
                </a:solidFill>
              </a:rPr>
              <a:t>).</a:t>
            </a:r>
            <a:endParaRPr lang="en-US" b="1" dirty="0">
              <a:solidFill>
                <a:schemeClr val="accent1">
                  <a:lumMod val="75000"/>
                </a:schemeClr>
              </a:solidFill>
            </a:endParaRPr>
          </a:p>
          <a:p>
            <a:pPr algn="just">
              <a:lnSpc>
                <a:spcPct val="150000"/>
              </a:lnSpc>
            </a:pPr>
            <a:r>
              <a:rPr lang="en-US" b="1" dirty="0">
                <a:solidFill>
                  <a:schemeClr val="accent1">
                    <a:lumMod val="75000"/>
                  </a:schemeClr>
                </a:solidFill>
              </a:rPr>
              <a:t>• If range() is called with two arguments, it produces values from the first to the second. For example, range(0,10</a:t>
            </a:r>
            <a:r>
              <a:rPr lang="en-US" b="1" dirty="0" smtClean="0">
                <a:solidFill>
                  <a:schemeClr val="accent1">
                    <a:lumMod val="75000"/>
                  </a:schemeClr>
                </a:solidFill>
              </a:rPr>
              <a:t>). </a:t>
            </a:r>
            <a:endParaRPr lang="en-US" b="1" dirty="0">
              <a:solidFill>
                <a:schemeClr val="accent1">
                  <a:lumMod val="75000"/>
                </a:schemeClr>
              </a:solidFill>
            </a:endParaRPr>
          </a:p>
          <a:p>
            <a:pPr algn="just">
              <a:lnSpc>
                <a:spcPct val="150000"/>
              </a:lnSpc>
            </a:pPr>
            <a:r>
              <a:rPr lang="en-US" b="1" dirty="0">
                <a:solidFill>
                  <a:schemeClr val="accent1">
                    <a:lumMod val="75000"/>
                  </a:schemeClr>
                </a:solidFill>
              </a:rPr>
              <a:t>• If range() has three arguments then the third argument specifies the interval of the sequence produced. In this case, the third argument must be an integer. For example, range(1,20,3</a:t>
            </a:r>
            <a:r>
              <a:rPr lang="en-US" b="1" dirty="0" smtClean="0">
                <a:solidFill>
                  <a:schemeClr val="accent1">
                    <a:lumMod val="75000"/>
                  </a:schemeClr>
                </a:solidFill>
              </a:rPr>
              <a:t>).</a:t>
            </a:r>
            <a:endParaRPr lang="en-US" b="1" dirty="0">
              <a:solidFill>
                <a:schemeClr val="accent1">
                  <a:lumMod val="75000"/>
                </a:schemeClr>
              </a:solidFill>
            </a:endParaRPr>
          </a:p>
        </p:txBody>
      </p:sp>
      <p:pic>
        <p:nvPicPr>
          <p:cNvPr id="6" name="Picture 5"/>
          <p:cNvPicPr>
            <a:picLocks noChangeAspect="1"/>
          </p:cNvPicPr>
          <p:nvPr/>
        </p:nvPicPr>
        <p:blipFill>
          <a:blip r:embed="rId2"/>
          <a:stretch>
            <a:fillRect/>
          </a:stretch>
        </p:blipFill>
        <p:spPr>
          <a:xfrm>
            <a:off x="283366" y="4762602"/>
            <a:ext cx="10162227" cy="1365243"/>
          </a:xfrm>
          <a:prstGeom prst="rect">
            <a:avLst/>
          </a:prstGeom>
        </p:spPr>
      </p:pic>
      <p:sp>
        <p:nvSpPr>
          <p:cNvPr id="7" name="TextBox 6"/>
          <p:cNvSpPr txBox="1"/>
          <p:nvPr/>
        </p:nvSpPr>
        <p:spPr>
          <a:xfrm>
            <a:off x="166686" y="4212811"/>
            <a:ext cx="2414319"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21995615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Condition-controlled </a:t>
            </a:r>
            <a:r>
              <a:rPr lang="en-US" sz="3200" b="1" dirty="0"/>
              <a:t>and Counter-controlled </a:t>
            </a:r>
            <a:r>
              <a:rPr lang="en-US" sz="3200" b="1" dirty="0" smtClean="0"/>
              <a:t>Loops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49</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7" y="1805049"/>
            <a:ext cx="8658225" cy="2658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886" y="4463082"/>
            <a:ext cx="8658225" cy="1619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79841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Nested Loops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50</a:t>
            </a:fld>
            <a:endParaRPr lang="en-US"/>
          </a:p>
        </p:txBody>
      </p:sp>
      <p:sp>
        <p:nvSpPr>
          <p:cNvPr id="5" name="Rectangle 4"/>
          <p:cNvSpPr/>
          <p:nvPr/>
        </p:nvSpPr>
        <p:spPr>
          <a:xfrm>
            <a:off x="200026" y="1495329"/>
            <a:ext cx="11801474" cy="2169825"/>
          </a:xfrm>
          <a:prstGeom prst="rect">
            <a:avLst/>
          </a:prstGeom>
        </p:spPr>
        <p:txBody>
          <a:bodyPr wrap="square">
            <a:spAutoFit/>
          </a:bodyPr>
          <a:lstStyle/>
          <a:p>
            <a:pPr algn="just">
              <a:lnSpc>
                <a:spcPct val="150000"/>
              </a:lnSpc>
            </a:pPr>
            <a:r>
              <a:rPr lang="en-US" b="1" dirty="0">
                <a:solidFill>
                  <a:schemeClr val="accent1">
                    <a:lumMod val="75000"/>
                  </a:schemeClr>
                </a:solidFill>
              </a:rPr>
              <a:t>Python allows its users to have nested loops, that is, loops that can be placed inside other loops. Although this feature will work with any loop like while loop as well as for loop. </a:t>
            </a:r>
          </a:p>
          <a:p>
            <a:pPr algn="just">
              <a:lnSpc>
                <a:spcPct val="150000"/>
              </a:lnSpc>
            </a:pPr>
            <a:r>
              <a:rPr lang="en-US" b="1" dirty="0">
                <a:solidFill>
                  <a:schemeClr val="accent1">
                    <a:lumMod val="75000"/>
                  </a:schemeClr>
                </a:solidFill>
              </a:rPr>
              <a:t>A for loop can be used to control the number of times a particular set of statements will be executed. Another outer loop could be used to control the number of times that a whole loop is repeated. </a:t>
            </a:r>
          </a:p>
          <a:p>
            <a:pPr algn="just">
              <a:lnSpc>
                <a:spcPct val="150000"/>
              </a:lnSpc>
            </a:pPr>
            <a:r>
              <a:rPr lang="en-US" b="1" dirty="0">
                <a:solidFill>
                  <a:schemeClr val="accent1">
                    <a:lumMod val="75000"/>
                  </a:schemeClr>
                </a:solidFill>
              </a:rPr>
              <a:t>Loops should be properly indented to identify which statements are contained within each for statement. </a:t>
            </a:r>
          </a:p>
        </p:txBody>
      </p:sp>
      <p:pic>
        <p:nvPicPr>
          <p:cNvPr id="6" name="Picture 5"/>
          <p:cNvPicPr>
            <a:picLocks noChangeAspect="1"/>
          </p:cNvPicPr>
          <p:nvPr/>
        </p:nvPicPr>
        <p:blipFill>
          <a:blip r:embed="rId3"/>
          <a:stretch>
            <a:fillRect/>
          </a:stretch>
        </p:blipFill>
        <p:spPr>
          <a:xfrm>
            <a:off x="1705970" y="3945493"/>
            <a:ext cx="3712191" cy="2375769"/>
          </a:xfrm>
          <a:prstGeom prst="rect">
            <a:avLst/>
          </a:prstGeom>
        </p:spPr>
      </p:pic>
      <p:sp>
        <p:nvSpPr>
          <p:cNvPr id="7" name="TextBox 6"/>
          <p:cNvSpPr txBox="1"/>
          <p:nvPr/>
        </p:nvSpPr>
        <p:spPr>
          <a:xfrm>
            <a:off x="200026" y="3892192"/>
            <a:ext cx="2414319"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10930271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The Break 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51</a:t>
            </a:fld>
            <a:endParaRPr lang="en-US"/>
          </a:p>
        </p:txBody>
      </p:sp>
      <p:sp>
        <p:nvSpPr>
          <p:cNvPr id="5" name="Rectangle 4"/>
          <p:cNvSpPr/>
          <p:nvPr/>
        </p:nvSpPr>
        <p:spPr>
          <a:xfrm>
            <a:off x="216694" y="1580168"/>
            <a:ext cx="11758612" cy="1338828"/>
          </a:xfrm>
          <a:prstGeom prst="rect">
            <a:avLst/>
          </a:prstGeom>
        </p:spPr>
        <p:txBody>
          <a:bodyPr wrap="square">
            <a:spAutoFit/>
          </a:bodyPr>
          <a:lstStyle/>
          <a:p>
            <a:pPr algn="just">
              <a:lnSpc>
                <a:spcPct val="150000"/>
              </a:lnSpc>
            </a:pPr>
            <a:r>
              <a:rPr lang="en-US" b="1" dirty="0" smtClean="0">
                <a:solidFill>
                  <a:schemeClr val="accent1">
                    <a:lumMod val="75000"/>
                  </a:schemeClr>
                </a:solidFill>
              </a:rPr>
              <a:t>The </a:t>
            </a:r>
            <a:r>
              <a:rPr lang="en-US" b="1" i="1" dirty="0">
                <a:solidFill>
                  <a:schemeClr val="accent1">
                    <a:lumMod val="75000"/>
                  </a:schemeClr>
                </a:solidFill>
              </a:rPr>
              <a:t>break </a:t>
            </a:r>
            <a:r>
              <a:rPr lang="en-US" b="1" dirty="0">
                <a:solidFill>
                  <a:schemeClr val="accent1">
                    <a:lumMod val="75000"/>
                  </a:schemeClr>
                </a:solidFill>
              </a:rPr>
              <a:t>statement is used to terminate the execution of the nearest enclosing loop in which it appears. The break statement is widely used with for loop and while loop. When compiler encounters a break statement, the control passes to the statement that follows the loop in which the break statement appears. </a:t>
            </a:r>
          </a:p>
        </p:txBody>
      </p:sp>
      <p:pic>
        <p:nvPicPr>
          <p:cNvPr id="6" name="Picture 5"/>
          <p:cNvPicPr>
            <a:picLocks noChangeAspect="1"/>
          </p:cNvPicPr>
          <p:nvPr/>
        </p:nvPicPr>
        <p:blipFill>
          <a:blip r:embed="rId2"/>
          <a:stretch>
            <a:fillRect/>
          </a:stretch>
        </p:blipFill>
        <p:spPr>
          <a:xfrm>
            <a:off x="156796" y="3371765"/>
            <a:ext cx="2884509" cy="2670275"/>
          </a:xfrm>
          <a:prstGeom prst="rect">
            <a:avLst/>
          </a:prstGeom>
        </p:spPr>
      </p:pic>
      <p:pic>
        <p:nvPicPr>
          <p:cNvPr id="7" name="Picture 6"/>
          <p:cNvPicPr>
            <a:picLocks noChangeAspect="1"/>
          </p:cNvPicPr>
          <p:nvPr/>
        </p:nvPicPr>
        <p:blipFill>
          <a:blip r:embed="rId3"/>
          <a:stretch>
            <a:fillRect/>
          </a:stretch>
        </p:blipFill>
        <p:spPr>
          <a:xfrm>
            <a:off x="3128962" y="3071910"/>
            <a:ext cx="8846343" cy="2970130"/>
          </a:xfrm>
          <a:prstGeom prst="rect">
            <a:avLst/>
          </a:prstGeom>
        </p:spPr>
      </p:pic>
      <p:sp>
        <p:nvSpPr>
          <p:cNvPr id="8" name="TextBox 7"/>
          <p:cNvSpPr txBox="1"/>
          <p:nvPr/>
        </p:nvSpPr>
        <p:spPr>
          <a:xfrm>
            <a:off x="69138" y="3020097"/>
            <a:ext cx="2414319"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33429045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The Continue 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52</a:t>
            </a:fld>
            <a:endParaRPr lang="en-US"/>
          </a:p>
        </p:txBody>
      </p:sp>
      <p:sp>
        <p:nvSpPr>
          <p:cNvPr id="5" name="Rectangle 4"/>
          <p:cNvSpPr/>
          <p:nvPr/>
        </p:nvSpPr>
        <p:spPr>
          <a:xfrm>
            <a:off x="118752" y="1479067"/>
            <a:ext cx="11910951" cy="1338828"/>
          </a:xfrm>
          <a:prstGeom prst="rect">
            <a:avLst/>
          </a:prstGeom>
        </p:spPr>
        <p:txBody>
          <a:bodyPr wrap="square">
            <a:spAutoFit/>
          </a:bodyPr>
          <a:lstStyle/>
          <a:p>
            <a:pPr algn="just">
              <a:lnSpc>
                <a:spcPct val="150000"/>
              </a:lnSpc>
            </a:pPr>
            <a:r>
              <a:rPr lang="en-US" b="1" dirty="0">
                <a:solidFill>
                  <a:schemeClr val="accent1">
                    <a:lumMod val="75000"/>
                  </a:schemeClr>
                </a:solidFill>
              </a:rPr>
              <a:t>Like the break statement, the continue statement can only appear in the body of a loop. When the compiler encounters a continue statement then the rest of the statements in the loop are skipped and the control is unconditionally transferred to the loop-continuation portion of the nearest enclosing loop. </a:t>
            </a:r>
          </a:p>
        </p:txBody>
      </p:sp>
      <p:pic>
        <p:nvPicPr>
          <p:cNvPr id="6" name="Picture 5"/>
          <p:cNvPicPr>
            <a:picLocks noChangeAspect="1"/>
          </p:cNvPicPr>
          <p:nvPr/>
        </p:nvPicPr>
        <p:blipFill>
          <a:blip r:embed="rId2"/>
          <a:stretch>
            <a:fillRect/>
          </a:stretch>
        </p:blipFill>
        <p:spPr>
          <a:xfrm>
            <a:off x="397120" y="3255089"/>
            <a:ext cx="2743801" cy="2883610"/>
          </a:xfrm>
          <a:prstGeom prst="rect">
            <a:avLst/>
          </a:prstGeom>
        </p:spPr>
      </p:pic>
      <p:sp>
        <p:nvSpPr>
          <p:cNvPr id="8" name="TextBox 7"/>
          <p:cNvSpPr txBox="1"/>
          <p:nvPr/>
        </p:nvSpPr>
        <p:spPr>
          <a:xfrm>
            <a:off x="397120" y="2887919"/>
            <a:ext cx="2414319" cy="369332"/>
          </a:xfrm>
          <a:prstGeom prst="rect">
            <a:avLst/>
          </a:prstGeom>
          <a:noFill/>
        </p:spPr>
        <p:txBody>
          <a:bodyPr wrap="square" rtlCol="0">
            <a:spAutoFit/>
          </a:bodyPr>
          <a:lstStyle/>
          <a:p>
            <a:r>
              <a:rPr lang="en-IN" dirty="0" smtClean="0"/>
              <a:t>Example:</a:t>
            </a:r>
            <a:endParaRPr lang="en-IN"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799" y="3255089"/>
            <a:ext cx="8045635" cy="30272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346688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The Pass 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53</a:t>
            </a:fld>
            <a:endParaRPr lang="en-US"/>
          </a:p>
        </p:txBody>
      </p:sp>
      <p:sp>
        <p:nvSpPr>
          <p:cNvPr id="5" name="Rectangle 4"/>
          <p:cNvSpPr/>
          <p:nvPr/>
        </p:nvSpPr>
        <p:spPr>
          <a:xfrm>
            <a:off x="245269" y="1479067"/>
            <a:ext cx="11701462" cy="2585323"/>
          </a:xfrm>
          <a:prstGeom prst="rect">
            <a:avLst/>
          </a:prstGeom>
        </p:spPr>
        <p:txBody>
          <a:bodyPr wrap="square">
            <a:spAutoFit/>
          </a:bodyPr>
          <a:lstStyle/>
          <a:p>
            <a:pPr algn="just">
              <a:lnSpc>
                <a:spcPct val="150000"/>
              </a:lnSpc>
            </a:pPr>
            <a:r>
              <a:rPr lang="en-US" b="1" dirty="0" smtClean="0">
                <a:solidFill>
                  <a:schemeClr val="accent1">
                    <a:lumMod val="75000"/>
                  </a:schemeClr>
                </a:solidFill>
              </a:rPr>
              <a:t>Pass </a:t>
            </a:r>
            <a:r>
              <a:rPr lang="en-US" b="1" dirty="0">
                <a:solidFill>
                  <a:schemeClr val="accent1">
                    <a:lumMod val="75000"/>
                  </a:schemeClr>
                </a:solidFill>
              </a:rPr>
              <a:t>statement is used when a statement is required syntactically but no command or code has to be executed. It specified a </a:t>
            </a:r>
            <a:r>
              <a:rPr lang="en-US" b="1" i="1" dirty="0">
                <a:solidFill>
                  <a:schemeClr val="accent1">
                    <a:lumMod val="75000"/>
                  </a:schemeClr>
                </a:solidFill>
              </a:rPr>
              <a:t>null </a:t>
            </a:r>
            <a:r>
              <a:rPr lang="en-US" b="1" dirty="0">
                <a:solidFill>
                  <a:schemeClr val="accent1">
                    <a:lumMod val="75000"/>
                  </a:schemeClr>
                </a:solidFill>
              </a:rPr>
              <a:t>operation or simply No Operation (NOP) statement. Nothing happens when the pass statement is executed. </a:t>
            </a:r>
            <a:endParaRPr lang="en-US" b="1" dirty="0" smtClean="0">
              <a:solidFill>
                <a:schemeClr val="accent1">
                  <a:lumMod val="75000"/>
                </a:schemeClr>
              </a:solidFill>
            </a:endParaRPr>
          </a:p>
          <a:p>
            <a:pPr algn="just">
              <a:lnSpc>
                <a:spcPct val="150000"/>
              </a:lnSpc>
            </a:pPr>
            <a:r>
              <a:rPr lang="en-US" b="1" dirty="0" smtClean="0">
                <a:solidFill>
                  <a:srgbClr val="C00000"/>
                </a:solidFill>
              </a:rPr>
              <a:t>Difference </a:t>
            </a:r>
            <a:r>
              <a:rPr lang="en-US" b="1" dirty="0">
                <a:solidFill>
                  <a:srgbClr val="C00000"/>
                </a:solidFill>
              </a:rPr>
              <a:t>between comment and pass statements </a:t>
            </a:r>
            <a:r>
              <a:rPr lang="en-US" b="1" dirty="0">
                <a:solidFill>
                  <a:schemeClr val="accent1">
                    <a:lumMod val="75000"/>
                  </a:schemeClr>
                </a:solidFill>
              </a:rPr>
              <a:t>In Python programming, pass is a null statement. The difference between a comment and pass statement is that while the interpreter ignores a comment entirely, pass is not ignored. Comment is not executed but pass statement is executed but nothing happens. </a:t>
            </a:r>
          </a:p>
        </p:txBody>
      </p:sp>
      <p:pic>
        <p:nvPicPr>
          <p:cNvPr id="7" name="Picture 6"/>
          <p:cNvPicPr>
            <a:picLocks noChangeAspect="1"/>
          </p:cNvPicPr>
          <p:nvPr/>
        </p:nvPicPr>
        <p:blipFill>
          <a:blip r:embed="rId2"/>
          <a:stretch>
            <a:fillRect/>
          </a:stretch>
        </p:blipFill>
        <p:spPr>
          <a:xfrm>
            <a:off x="1791365" y="4088144"/>
            <a:ext cx="5572214" cy="2483012"/>
          </a:xfrm>
          <a:prstGeom prst="rect">
            <a:avLst/>
          </a:prstGeom>
        </p:spPr>
      </p:pic>
      <p:sp>
        <p:nvSpPr>
          <p:cNvPr id="8" name="TextBox 7"/>
          <p:cNvSpPr txBox="1"/>
          <p:nvPr/>
        </p:nvSpPr>
        <p:spPr>
          <a:xfrm>
            <a:off x="245269" y="4088144"/>
            <a:ext cx="2414319" cy="369332"/>
          </a:xfrm>
          <a:prstGeom prst="rect">
            <a:avLst/>
          </a:prstGeom>
          <a:noFill/>
        </p:spPr>
        <p:txBody>
          <a:bodyPr wrap="square" rtlCol="0">
            <a:spAutoFit/>
          </a:bodyPr>
          <a:lstStyle/>
          <a:p>
            <a:r>
              <a:rPr lang="en-IN" dirty="0" smtClean="0"/>
              <a:t>Example:</a:t>
            </a:r>
            <a:endParaRPr lang="en-IN" dirty="0"/>
          </a:p>
        </p:txBody>
      </p:sp>
    </p:spTree>
    <p:extLst>
      <p:ext uri="{BB962C8B-B14F-4D97-AF65-F5344CB8AC3E}">
        <p14:creationId xmlns:p14="http://schemas.microsoft.com/office/powerpoint/2010/main" val="9151898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The Else Statement Used With Loops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54</a:t>
            </a:fld>
            <a:endParaRPr lang="en-US"/>
          </a:p>
        </p:txBody>
      </p:sp>
      <p:sp>
        <p:nvSpPr>
          <p:cNvPr id="5" name="Rectangle 4"/>
          <p:cNvSpPr/>
          <p:nvPr/>
        </p:nvSpPr>
        <p:spPr>
          <a:xfrm>
            <a:off x="214313" y="1751618"/>
            <a:ext cx="11672887" cy="1338828"/>
          </a:xfrm>
          <a:prstGeom prst="rect">
            <a:avLst/>
          </a:prstGeom>
        </p:spPr>
        <p:txBody>
          <a:bodyPr wrap="square">
            <a:spAutoFit/>
          </a:bodyPr>
          <a:lstStyle/>
          <a:p>
            <a:pPr algn="just">
              <a:lnSpc>
                <a:spcPct val="150000"/>
              </a:lnSpc>
            </a:pPr>
            <a:r>
              <a:rPr lang="en-US" b="1" dirty="0" smtClean="0">
                <a:solidFill>
                  <a:schemeClr val="accent1">
                    <a:lumMod val="75000"/>
                  </a:schemeClr>
                </a:solidFill>
              </a:rPr>
              <a:t>Unlike </a:t>
            </a:r>
            <a:r>
              <a:rPr lang="en-US" b="1" dirty="0">
                <a:solidFill>
                  <a:schemeClr val="accent1">
                    <a:lumMod val="75000"/>
                  </a:schemeClr>
                </a:solidFill>
              </a:rPr>
              <a:t>C and C++, </a:t>
            </a:r>
            <a:r>
              <a:rPr lang="en-US" b="1" dirty="0" smtClean="0">
                <a:solidFill>
                  <a:schemeClr val="accent1">
                    <a:lumMod val="75000"/>
                  </a:schemeClr>
                </a:solidFill>
              </a:rPr>
              <a:t> in </a:t>
            </a:r>
            <a:r>
              <a:rPr lang="en-US" b="1" dirty="0">
                <a:solidFill>
                  <a:schemeClr val="accent1">
                    <a:lumMod val="75000"/>
                  </a:schemeClr>
                </a:solidFill>
              </a:rPr>
              <a:t>Python you can have the </a:t>
            </a:r>
            <a:r>
              <a:rPr lang="en-US" b="1" i="1" dirty="0">
                <a:solidFill>
                  <a:schemeClr val="accent1">
                    <a:lumMod val="75000"/>
                  </a:schemeClr>
                </a:solidFill>
              </a:rPr>
              <a:t>else </a:t>
            </a:r>
            <a:r>
              <a:rPr lang="en-US" b="1" dirty="0">
                <a:solidFill>
                  <a:schemeClr val="accent1">
                    <a:lumMod val="75000"/>
                  </a:schemeClr>
                </a:solidFill>
              </a:rPr>
              <a:t>statement associated with a loop statements. If the else statement is used with a </a:t>
            </a:r>
            <a:r>
              <a:rPr lang="en-US" b="1" i="1" dirty="0">
                <a:solidFill>
                  <a:schemeClr val="accent1">
                    <a:lumMod val="75000"/>
                  </a:schemeClr>
                </a:solidFill>
              </a:rPr>
              <a:t>for </a:t>
            </a:r>
            <a:r>
              <a:rPr lang="en-US" b="1" dirty="0">
                <a:solidFill>
                  <a:schemeClr val="accent1">
                    <a:lumMod val="75000"/>
                  </a:schemeClr>
                </a:solidFill>
              </a:rPr>
              <a:t>loop, the </a:t>
            </a:r>
            <a:r>
              <a:rPr lang="en-US" b="1" i="1" dirty="0">
                <a:solidFill>
                  <a:schemeClr val="accent1">
                    <a:lumMod val="75000"/>
                  </a:schemeClr>
                </a:solidFill>
              </a:rPr>
              <a:t>else </a:t>
            </a:r>
            <a:r>
              <a:rPr lang="en-US" b="1" dirty="0">
                <a:solidFill>
                  <a:schemeClr val="accent1">
                    <a:lumMod val="75000"/>
                  </a:schemeClr>
                </a:solidFill>
              </a:rPr>
              <a:t>statement is executed when the loop has completed iterating. But when used with the </a:t>
            </a:r>
            <a:r>
              <a:rPr lang="en-US" b="1" i="1" dirty="0">
                <a:solidFill>
                  <a:schemeClr val="accent1">
                    <a:lumMod val="75000"/>
                  </a:schemeClr>
                </a:solidFill>
              </a:rPr>
              <a:t>while </a:t>
            </a:r>
            <a:r>
              <a:rPr lang="en-US" b="1" dirty="0">
                <a:solidFill>
                  <a:schemeClr val="accent1">
                    <a:lumMod val="75000"/>
                  </a:schemeClr>
                </a:solidFill>
              </a:rPr>
              <a:t>loop, the </a:t>
            </a:r>
            <a:r>
              <a:rPr lang="en-US" b="1" i="1" dirty="0">
                <a:solidFill>
                  <a:schemeClr val="accent1">
                    <a:lumMod val="75000"/>
                  </a:schemeClr>
                </a:solidFill>
              </a:rPr>
              <a:t>else </a:t>
            </a:r>
            <a:r>
              <a:rPr lang="en-US" b="1" dirty="0">
                <a:solidFill>
                  <a:schemeClr val="accent1">
                    <a:lumMod val="75000"/>
                  </a:schemeClr>
                </a:solidFill>
              </a:rPr>
              <a:t>statement is executed when the condition becomes false. </a:t>
            </a:r>
          </a:p>
        </p:txBody>
      </p:sp>
      <p:pic>
        <p:nvPicPr>
          <p:cNvPr id="6" name="Picture 5"/>
          <p:cNvPicPr>
            <a:picLocks noChangeAspect="1"/>
          </p:cNvPicPr>
          <p:nvPr/>
        </p:nvPicPr>
        <p:blipFill>
          <a:blip r:embed="rId2"/>
          <a:stretch>
            <a:fillRect/>
          </a:stretch>
        </p:blipFill>
        <p:spPr>
          <a:xfrm>
            <a:off x="476536" y="3621465"/>
            <a:ext cx="10365471" cy="2734438"/>
          </a:xfrm>
          <a:prstGeom prst="rect">
            <a:avLst/>
          </a:prstGeom>
        </p:spPr>
      </p:pic>
      <p:sp>
        <p:nvSpPr>
          <p:cNvPr id="7" name="TextBox 6"/>
          <p:cNvSpPr txBox="1"/>
          <p:nvPr/>
        </p:nvSpPr>
        <p:spPr>
          <a:xfrm>
            <a:off x="214313" y="3171289"/>
            <a:ext cx="2414319" cy="369332"/>
          </a:xfrm>
          <a:prstGeom prst="rect">
            <a:avLst/>
          </a:prstGeom>
          <a:noFill/>
        </p:spPr>
        <p:txBody>
          <a:bodyPr wrap="square" rtlCol="0">
            <a:spAutoFit/>
          </a:bodyPr>
          <a:lstStyle/>
          <a:p>
            <a:r>
              <a:rPr lang="en-IN" dirty="0" smtClean="0"/>
              <a:t>Examples:</a:t>
            </a:r>
            <a:endParaRPr lang="en-IN" dirty="0"/>
          </a:p>
        </p:txBody>
      </p:sp>
    </p:spTree>
    <p:extLst>
      <p:ext uri="{BB962C8B-B14F-4D97-AF65-F5344CB8AC3E}">
        <p14:creationId xmlns:p14="http://schemas.microsoft.com/office/powerpoint/2010/main" val="1943904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Structural Pattern </a:t>
            </a:r>
            <a:r>
              <a:rPr lang="en-US" sz="3200" b="1" dirty="0" smtClean="0"/>
              <a:t>Matching (Match)</a:t>
            </a:r>
            <a:endParaRPr lang="en-US" sz="3200" b="1"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55</a:t>
            </a:fld>
            <a:endParaRPr lang="en-US"/>
          </a:p>
        </p:txBody>
      </p:sp>
      <p:sp>
        <p:nvSpPr>
          <p:cNvPr id="5" name="Rectangle 4"/>
          <p:cNvSpPr/>
          <p:nvPr/>
        </p:nvSpPr>
        <p:spPr>
          <a:xfrm>
            <a:off x="214313" y="1751618"/>
            <a:ext cx="11672887" cy="1338828"/>
          </a:xfrm>
          <a:prstGeom prst="rect">
            <a:avLst/>
          </a:prstGeom>
        </p:spPr>
        <p:txBody>
          <a:bodyPr wrap="square">
            <a:spAutoFit/>
          </a:bodyPr>
          <a:lstStyle/>
          <a:p>
            <a:pPr algn="just">
              <a:lnSpc>
                <a:spcPct val="150000"/>
              </a:lnSpc>
            </a:pPr>
            <a:r>
              <a:rPr lang="en-US" b="1" dirty="0">
                <a:solidFill>
                  <a:schemeClr val="accent1">
                    <a:lumMod val="75000"/>
                  </a:schemeClr>
                </a:solidFill>
              </a:rPr>
              <a:t>Structural Pattern Matching, also known as pattern matching or match statement, is a feature introduced in Python 3.10. It allows developers to write more expressive and concise code, inspired by similar constructs in languages like </a:t>
            </a:r>
            <a:r>
              <a:rPr lang="en-US" b="1" dirty="0" smtClean="0">
                <a:solidFill>
                  <a:schemeClr val="accent1">
                    <a:lumMod val="75000"/>
                  </a:schemeClr>
                </a:solidFill>
              </a:rPr>
              <a:t>C, Rust</a:t>
            </a:r>
            <a:r>
              <a:rPr lang="en-US" b="1" dirty="0">
                <a:solidFill>
                  <a:schemeClr val="accent1">
                    <a:lumMod val="75000"/>
                  </a:schemeClr>
                </a:solidFill>
              </a:rPr>
              <a:t>, F#, and Haskell</a:t>
            </a:r>
            <a:r>
              <a:rPr lang="en-US" b="1" dirty="0" smtClean="0">
                <a:solidFill>
                  <a:schemeClr val="accent1">
                    <a:lumMod val="75000"/>
                  </a:schemeClr>
                </a:solidFill>
              </a:rPr>
              <a:t>. </a:t>
            </a:r>
            <a:endParaRPr lang="en-US" b="1" dirty="0">
              <a:solidFill>
                <a:schemeClr val="accent1">
                  <a:lumMod val="75000"/>
                </a:schemeClr>
              </a:solidFill>
            </a:endParaRPr>
          </a:p>
        </p:txBody>
      </p:sp>
      <p:sp>
        <p:nvSpPr>
          <p:cNvPr id="7" name="TextBox 6"/>
          <p:cNvSpPr txBox="1"/>
          <p:nvPr/>
        </p:nvSpPr>
        <p:spPr>
          <a:xfrm>
            <a:off x="7054800" y="3061586"/>
            <a:ext cx="2414319" cy="369332"/>
          </a:xfrm>
          <a:prstGeom prst="rect">
            <a:avLst/>
          </a:prstGeom>
          <a:noFill/>
        </p:spPr>
        <p:txBody>
          <a:bodyPr wrap="square" rtlCol="0">
            <a:spAutoFit/>
          </a:bodyPr>
          <a:lstStyle/>
          <a:p>
            <a:r>
              <a:rPr lang="en-IN" dirty="0" smtClean="0">
                <a:solidFill>
                  <a:srgbClr val="FF0000"/>
                </a:solidFill>
              </a:rPr>
              <a:t>Example</a:t>
            </a:r>
            <a:r>
              <a:rPr lang="en-IN" dirty="0" smtClean="0"/>
              <a:t>:</a:t>
            </a:r>
            <a:endParaRPr lang="en-IN" dirty="0"/>
          </a:p>
        </p:txBody>
      </p:sp>
      <p:sp>
        <p:nvSpPr>
          <p:cNvPr id="3" name="Rectangle 2"/>
          <p:cNvSpPr/>
          <p:nvPr/>
        </p:nvSpPr>
        <p:spPr>
          <a:xfrm>
            <a:off x="345440" y="3168107"/>
            <a:ext cx="7487920" cy="3693319"/>
          </a:xfrm>
          <a:prstGeom prst="rect">
            <a:avLst/>
          </a:prstGeom>
        </p:spPr>
        <p:txBody>
          <a:bodyPr wrap="square">
            <a:spAutoFit/>
          </a:bodyPr>
          <a:lstStyle/>
          <a:p>
            <a:r>
              <a:rPr lang="en-US" dirty="0"/>
              <a:t>match value:</a:t>
            </a:r>
          </a:p>
          <a:p>
            <a:r>
              <a:rPr lang="en-US" dirty="0"/>
              <a:t>    case pattern1:</a:t>
            </a:r>
          </a:p>
          <a:p>
            <a:r>
              <a:rPr lang="en-US" dirty="0"/>
              <a:t>        # code to execute if pattern1 matches</a:t>
            </a:r>
          </a:p>
          <a:p>
            <a:r>
              <a:rPr lang="en-US" dirty="0"/>
              <a:t>    case pattern2:</a:t>
            </a:r>
          </a:p>
          <a:p>
            <a:r>
              <a:rPr lang="en-US" dirty="0"/>
              <a:t>        # code to execute if pattern2 matches</a:t>
            </a:r>
          </a:p>
          <a:p>
            <a:r>
              <a:rPr lang="en-US" dirty="0"/>
              <a:t>    ...</a:t>
            </a:r>
          </a:p>
          <a:p>
            <a:r>
              <a:rPr lang="en-US" dirty="0"/>
              <a:t>    case _:</a:t>
            </a:r>
          </a:p>
          <a:p>
            <a:r>
              <a:rPr lang="en-US" dirty="0"/>
              <a:t>        # code to execute if none of the above patterns match</a:t>
            </a:r>
          </a:p>
          <a:p>
            <a:endParaRPr lang="en-US" dirty="0" smtClean="0"/>
          </a:p>
          <a:p>
            <a:pPr marL="285750" indent="-285750">
              <a:buFont typeface="Arial" panose="020B0604020202020204" pitchFamily="34" charset="0"/>
              <a:buChar char="•"/>
            </a:pPr>
            <a:r>
              <a:rPr lang="en-US" b="1" dirty="0" smtClean="0"/>
              <a:t>value</a:t>
            </a:r>
            <a:r>
              <a:rPr lang="en-US" b="1" dirty="0"/>
              <a:t>: The variable or expression to be matched.</a:t>
            </a:r>
          </a:p>
          <a:p>
            <a:pPr marL="285750" indent="-285750">
              <a:buFont typeface="Arial" panose="020B0604020202020204" pitchFamily="34" charset="0"/>
              <a:buChar char="•"/>
            </a:pPr>
            <a:r>
              <a:rPr lang="en-US" b="1" dirty="0"/>
              <a:t>case: Specifies a matching pattern.</a:t>
            </a:r>
          </a:p>
          <a:p>
            <a:pPr marL="285750" indent="-285750">
              <a:buFont typeface="Arial" panose="020B0604020202020204" pitchFamily="34" charset="0"/>
              <a:buChar char="•"/>
            </a:pPr>
            <a:r>
              <a:rPr lang="en-US" b="1" dirty="0"/>
              <a:t>_: A wildcard pattern that matches anything (catch-all for unmatched patterns).</a:t>
            </a:r>
          </a:p>
        </p:txBody>
      </p:sp>
      <p:sp>
        <p:nvSpPr>
          <p:cNvPr id="8" name="TextBox 7"/>
          <p:cNvSpPr txBox="1"/>
          <p:nvPr/>
        </p:nvSpPr>
        <p:spPr>
          <a:xfrm>
            <a:off x="2362761" y="2876920"/>
            <a:ext cx="2414319" cy="369332"/>
          </a:xfrm>
          <a:prstGeom prst="rect">
            <a:avLst/>
          </a:prstGeom>
          <a:noFill/>
        </p:spPr>
        <p:txBody>
          <a:bodyPr wrap="square" rtlCol="0">
            <a:spAutoFit/>
          </a:bodyPr>
          <a:lstStyle/>
          <a:p>
            <a:r>
              <a:rPr lang="en-IN" dirty="0" smtClean="0">
                <a:solidFill>
                  <a:srgbClr val="FF0000"/>
                </a:solidFill>
              </a:rPr>
              <a:t>Syntax:</a:t>
            </a:r>
            <a:endParaRPr lang="en-IN" dirty="0">
              <a:solidFill>
                <a:srgbClr val="FF0000"/>
              </a:solidFill>
            </a:endParaRPr>
          </a:p>
        </p:txBody>
      </p:sp>
      <p:sp>
        <p:nvSpPr>
          <p:cNvPr id="9" name="Rectangle 8"/>
          <p:cNvSpPr/>
          <p:nvPr/>
        </p:nvSpPr>
        <p:spPr>
          <a:xfrm>
            <a:off x="6934200" y="3537438"/>
            <a:ext cx="4170680" cy="1477328"/>
          </a:xfrm>
          <a:prstGeom prst="rect">
            <a:avLst/>
          </a:prstGeom>
        </p:spPr>
        <p:txBody>
          <a:bodyPr wrap="square">
            <a:spAutoFit/>
          </a:bodyPr>
          <a:lstStyle/>
          <a:p>
            <a:pPr algn="just"/>
            <a:r>
              <a:rPr lang="en-US" dirty="0">
                <a:solidFill>
                  <a:srgbClr val="000000"/>
                </a:solidFill>
                <a:latin typeface="inter-regular"/>
              </a:rPr>
              <a:t>match value:  </a:t>
            </a:r>
          </a:p>
          <a:p>
            <a:pPr algn="just"/>
            <a:r>
              <a:rPr lang="en-US" dirty="0">
                <a:solidFill>
                  <a:srgbClr val="000000"/>
                </a:solidFill>
                <a:latin typeface="inter-regular"/>
              </a:rPr>
              <a:t>    case </a:t>
            </a:r>
            <a:r>
              <a:rPr lang="en-US" dirty="0">
                <a:solidFill>
                  <a:srgbClr val="0000FF"/>
                </a:solidFill>
                <a:latin typeface="inter-regular"/>
              </a:rPr>
              <a:t>"hello"</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print</a:t>
            </a:r>
            <a:r>
              <a:rPr lang="en-US" dirty="0">
                <a:solidFill>
                  <a:srgbClr val="000000"/>
                </a:solidFill>
                <a:latin typeface="inter-regular"/>
              </a:rPr>
              <a:t>(</a:t>
            </a:r>
            <a:r>
              <a:rPr lang="en-US" dirty="0">
                <a:solidFill>
                  <a:srgbClr val="0000FF"/>
                </a:solidFill>
                <a:latin typeface="inter-regular"/>
              </a:rPr>
              <a:t>"The value is 'hello'"</a:t>
            </a:r>
            <a:r>
              <a:rPr lang="en-US" dirty="0">
                <a:solidFill>
                  <a:srgbClr val="000000"/>
                </a:solidFill>
                <a:latin typeface="inter-regular"/>
              </a:rPr>
              <a:t>)  </a:t>
            </a:r>
          </a:p>
          <a:p>
            <a:pPr algn="just"/>
            <a:r>
              <a:rPr lang="en-US" dirty="0">
                <a:solidFill>
                  <a:srgbClr val="000000"/>
                </a:solidFill>
                <a:latin typeface="inter-regular"/>
              </a:rPr>
              <a:t>    case 42:  </a:t>
            </a:r>
          </a:p>
          <a:p>
            <a:pPr algn="just"/>
            <a:r>
              <a:rPr lang="en-US" dirty="0">
                <a:solidFill>
                  <a:srgbClr val="000000"/>
                </a:solidFill>
                <a:latin typeface="inter-regular"/>
              </a:rPr>
              <a:t>        </a:t>
            </a:r>
            <a:r>
              <a:rPr lang="en-US" b="1" dirty="0">
                <a:solidFill>
                  <a:srgbClr val="006699"/>
                </a:solidFill>
                <a:latin typeface="inter-regular"/>
              </a:rPr>
              <a:t>print</a:t>
            </a:r>
            <a:r>
              <a:rPr lang="en-US" dirty="0">
                <a:solidFill>
                  <a:srgbClr val="000000"/>
                </a:solidFill>
                <a:latin typeface="inter-regular"/>
              </a:rPr>
              <a:t>(</a:t>
            </a:r>
            <a:r>
              <a:rPr lang="en-US" dirty="0">
                <a:solidFill>
                  <a:srgbClr val="0000FF"/>
                </a:solidFill>
                <a:latin typeface="inter-regular"/>
              </a:rPr>
              <a:t>"The value is 42"</a:t>
            </a:r>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230780943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Structural Pattern </a:t>
            </a:r>
            <a:r>
              <a:rPr lang="en-US" sz="3200" b="1" dirty="0" smtClean="0"/>
              <a:t>Matching (Match)</a:t>
            </a:r>
            <a:endParaRPr lang="en-US" sz="3200" b="1"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56</a:t>
            </a:fld>
            <a:endParaRPr lang="en-US"/>
          </a:p>
        </p:txBody>
      </p:sp>
      <p:sp>
        <p:nvSpPr>
          <p:cNvPr id="7" name="TextBox 6"/>
          <p:cNvSpPr txBox="1"/>
          <p:nvPr/>
        </p:nvSpPr>
        <p:spPr>
          <a:xfrm>
            <a:off x="279961" y="1689986"/>
            <a:ext cx="2414319" cy="369332"/>
          </a:xfrm>
          <a:prstGeom prst="rect">
            <a:avLst/>
          </a:prstGeom>
          <a:noFill/>
        </p:spPr>
        <p:txBody>
          <a:bodyPr wrap="square" rtlCol="0">
            <a:spAutoFit/>
          </a:bodyPr>
          <a:lstStyle/>
          <a:p>
            <a:r>
              <a:rPr lang="en-IN" dirty="0" smtClean="0"/>
              <a:t>Examples:</a:t>
            </a:r>
            <a:endParaRPr lang="en-IN" dirty="0"/>
          </a:p>
        </p:txBody>
      </p:sp>
      <p:sp>
        <p:nvSpPr>
          <p:cNvPr id="6" name="Rectangle 5"/>
          <p:cNvSpPr/>
          <p:nvPr/>
        </p:nvSpPr>
        <p:spPr>
          <a:xfrm>
            <a:off x="184760" y="2270237"/>
            <a:ext cx="4641240" cy="3539430"/>
          </a:xfrm>
          <a:prstGeom prst="rect">
            <a:avLst/>
          </a:prstGeom>
        </p:spPr>
        <p:txBody>
          <a:bodyPr wrap="square">
            <a:spAutoFit/>
          </a:bodyPr>
          <a:lstStyle/>
          <a:p>
            <a:pPr algn="just">
              <a:buFont typeface="Arial" panose="020B0604020202020204" pitchFamily="34" charset="0"/>
              <a:buChar char="•"/>
            </a:pPr>
            <a:r>
              <a:rPr lang="en-US" sz="1400" b="1" dirty="0">
                <a:solidFill>
                  <a:srgbClr val="000000"/>
                </a:solidFill>
                <a:latin typeface="inter-bold"/>
              </a:rPr>
              <a:t>Variable patterns:</a:t>
            </a:r>
            <a:r>
              <a:rPr lang="en-US" sz="1400" dirty="0">
                <a:solidFill>
                  <a:srgbClr val="000000"/>
                </a:solidFill>
                <a:latin typeface="inter-regular"/>
              </a:rPr>
              <a:t> These patterns match against a variable and bind the value to the variable</a:t>
            </a:r>
            <a:r>
              <a:rPr lang="en-US" sz="1400" dirty="0" smtClean="0">
                <a:solidFill>
                  <a:srgbClr val="000000"/>
                </a:solidFill>
                <a:latin typeface="inter-regular"/>
              </a:rPr>
              <a:t>.</a:t>
            </a:r>
          </a:p>
          <a:p>
            <a:pPr algn="just">
              <a:buFont typeface="Arial" panose="020B0604020202020204" pitchFamily="34" charset="0"/>
              <a:buChar char="•"/>
            </a:pPr>
            <a:endParaRPr lang="en-US" sz="1400" dirty="0">
              <a:solidFill>
                <a:srgbClr val="000000"/>
              </a:solidFill>
              <a:latin typeface="inter-regular"/>
            </a:endParaRPr>
          </a:p>
          <a:p>
            <a:pPr algn="just"/>
            <a:r>
              <a:rPr lang="en-US" sz="1400" dirty="0">
                <a:solidFill>
                  <a:srgbClr val="000000"/>
                </a:solidFill>
                <a:latin typeface="inter-regular"/>
              </a:rPr>
              <a:t>match value:  </a:t>
            </a:r>
          </a:p>
          <a:p>
            <a:pPr algn="just"/>
            <a:r>
              <a:rPr lang="en-US" sz="1400" dirty="0">
                <a:solidFill>
                  <a:srgbClr val="000000"/>
                </a:solidFill>
                <a:latin typeface="inter-regular"/>
              </a:rPr>
              <a:t>    case x: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smtClean="0">
                <a:solidFill>
                  <a:srgbClr val="000000"/>
                </a:solidFill>
                <a:latin typeface="inter-regular"/>
              </a:rPr>
              <a:t>(</a:t>
            </a:r>
            <a:r>
              <a:rPr lang="en-US" sz="1400" dirty="0" smtClean="0">
                <a:solidFill>
                  <a:srgbClr val="0000FF"/>
                </a:solidFill>
                <a:latin typeface="inter-regular"/>
              </a:rPr>
              <a:t>"</a:t>
            </a:r>
            <a:r>
              <a:rPr lang="en-US" sz="1400" dirty="0">
                <a:solidFill>
                  <a:srgbClr val="0000FF"/>
                </a:solidFill>
                <a:latin typeface="inter-regular"/>
              </a:rPr>
              <a:t>The value is </a:t>
            </a:r>
            <a:r>
              <a:rPr lang="en-US" sz="1400" dirty="0" smtClean="0">
                <a:solidFill>
                  <a:srgbClr val="0000FF"/>
                </a:solidFill>
                <a:latin typeface="inter-regular"/>
              </a:rPr>
              <a:t>“,x</a:t>
            </a:r>
            <a:r>
              <a:rPr lang="en-US" sz="1400" dirty="0" smtClean="0">
                <a:solidFill>
                  <a:srgbClr val="000000"/>
                </a:solidFill>
                <a:latin typeface="inter-regular"/>
              </a:rPr>
              <a:t>)</a:t>
            </a:r>
            <a:r>
              <a:rPr lang="en-US" sz="1400" dirty="0">
                <a:solidFill>
                  <a:srgbClr val="000000"/>
                </a:solidFill>
                <a:latin typeface="inter-regular"/>
              </a:rPr>
              <a:t>  </a:t>
            </a:r>
          </a:p>
          <a:p>
            <a:pPr algn="just">
              <a:buFont typeface="Arial" panose="020B0604020202020204" pitchFamily="34" charset="0"/>
              <a:buChar char="•"/>
            </a:pPr>
            <a:endParaRPr lang="en-US" sz="1400" b="1" dirty="0" smtClean="0">
              <a:solidFill>
                <a:srgbClr val="000000"/>
              </a:solidFill>
              <a:latin typeface="inter-bold"/>
            </a:endParaRPr>
          </a:p>
          <a:p>
            <a:pPr algn="just">
              <a:buFont typeface="Arial" panose="020B0604020202020204" pitchFamily="34" charset="0"/>
              <a:buChar char="•"/>
            </a:pPr>
            <a:endParaRPr lang="en-US" sz="1400" b="1" dirty="0">
              <a:solidFill>
                <a:srgbClr val="000000"/>
              </a:solidFill>
              <a:latin typeface="inter-bold"/>
            </a:endParaRPr>
          </a:p>
          <a:p>
            <a:pPr algn="just">
              <a:buFont typeface="Arial" panose="020B0604020202020204" pitchFamily="34" charset="0"/>
              <a:buChar char="•"/>
            </a:pPr>
            <a:r>
              <a:rPr lang="en-US" sz="1400" b="1" dirty="0" smtClean="0">
                <a:solidFill>
                  <a:srgbClr val="000000"/>
                </a:solidFill>
                <a:latin typeface="inter-bold"/>
              </a:rPr>
              <a:t>Type </a:t>
            </a:r>
            <a:r>
              <a:rPr lang="en-US" sz="1400" b="1" dirty="0">
                <a:solidFill>
                  <a:srgbClr val="000000"/>
                </a:solidFill>
                <a:latin typeface="inter-bold"/>
              </a:rPr>
              <a:t>patterns:</a:t>
            </a:r>
            <a:r>
              <a:rPr lang="en-US" sz="1400" dirty="0">
                <a:solidFill>
                  <a:srgbClr val="000000"/>
                </a:solidFill>
                <a:latin typeface="inter-regular"/>
              </a:rPr>
              <a:t> These patterns match against a specific type.</a:t>
            </a:r>
          </a:p>
          <a:p>
            <a:pPr algn="just"/>
            <a:endParaRPr lang="en-US" sz="1400" dirty="0" smtClean="0">
              <a:solidFill>
                <a:srgbClr val="000000"/>
              </a:solidFill>
              <a:latin typeface="inter-regular"/>
            </a:endParaRPr>
          </a:p>
          <a:p>
            <a:pPr algn="just"/>
            <a:r>
              <a:rPr lang="en-US" sz="1400" dirty="0" smtClean="0">
                <a:solidFill>
                  <a:srgbClr val="000000"/>
                </a:solidFill>
                <a:latin typeface="inter-regular"/>
              </a:rPr>
              <a:t>match</a:t>
            </a:r>
            <a:r>
              <a:rPr lang="en-US" sz="1400" dirty="0">
                <a:solidFill>
                  <a:srgbClr val="000000"/>
                </a:solidFill>
                <a:latin typeface="inter-regular"/>
              </a:rPr>
              <a:t> value:  </a:t>
            </a:r>
          </a:p>
          <a:p>
            <a:pPr algn="just"/>
            <a:r>
              <a:rPr lang="en-US" sz="1400" dirty="0">
                <a:solidFill>
                  <a:srgbClr val="000000"/>
                </a:solidFill>
                <a:latin typeface="inter-regular"/>
              </a:rPr>
              <a:t>    case </a:t>
            </a:r>
            <a:r>
              <a:rPr lang="en-US" sz="1400" dirty="0" err="1">
                <a:solidFill>
                  <a:srgbClr val="000000"/>
                </a:solidFill>
                <a:latin typeface="inter-regular"/>
              </a:rPr>
              <a:t>int</a:t>
            </a:r>
            <a:r>
              <a:rPr lang="en-US" sz="1400" dirty="0">
                <a:solidFill>
                  <a:srgbClr val="000000"/>
                </a:solidFill>
                <a:latin typeface="inter-regular"/>
              </a:rPr>
              <a:t>: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a:solidFill>
                  <a:srgbClr val="000000"/>
                </a:solidFill>
                <a:latin typeface="inter-regular"/>
              </a:rPr>
              <a:t>(</a:t>
            </a:r>
            <a:r>
              <a:rPr lang="en-US" sz="1400" dirty="0">
                <a:solidFill>
                  <a:srgbClr val="0000FF"/>
                </a:solidFill>
                <a:latin typeface="inter-regular"/>
              </a:rPr>
              <a:t>"The value is an integer"</a:t>
            </a:r>
            <a:r>
              <a:rPr lang="en-US" sz="1400" dirty="0">
                <a:solidFill>
                  <a:srgbClr val="000000"/>
                </a:solidFill>
                <a:latin typeface="inter-regular"/>
              </a:rPr>
              <a:t>)  </a:t>
            </a:r>
          </a:p>
          <a:p>
            <a:pPr algn="just"/>
            <a:r>
              <a:rPr lang="en-US" sz="1400" dirty="0">
                <a:solidFill>
                  <a:srgbClr val="000000"/>
                </a:solidFill>
                <a:latin typeface="inter-regular"/>
              </a:rPr>
              <a:t>    case </a:t>
            </a:r>
            <a:r>
              <a:rPr lang="en-US" sz="1400" dirty="0" err="1">
                <a:solidFill>
                  <a:srgbClr val="000000"/>
                </a:solidFill>
                <a:latin typeface="inter-regular"/>
              </a:rPr>
              <a:t>str</a:t>
            </a:r>
            <a:r>
              <a:rPr lang="en-US" sz="1400" dirty="0">
                <a:solidFill>
                  <a:srgbClr val="000000"/>
                </a:solidFill>
                <a:latin typeface="inter-regular"/>
              </a:rPr>
              <a:t>: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a:solidFill>
                  <a:srgbClr val="000000"/>
                </a:solidFill>
                <a:latin typeface="inter-regular"/>
              </a:rPr>
              <a:t>(</a:t>
            </a:r>
            <a:r>
              <a:rPr lang="en-US" sz="1400" dirty="0">
                <a:solidFill>
                  <a:srgbClr val="0000FF"/>
                </a:solidFill>
                <a:latin typeface="inter-regular"/>
              </a:rPr>
              <a:t>"The value is a string"</a:t>
            </a:r>
            <a:r>
              <a:rPr lang="en-US" sz="1400" dirty="0">
                <a:solidFill>
                  <a:srgbClr val="000000"/>
                </a:solidFill>
                <a:latin typeface="inter-regular"/>
              </a:rPr>
              <a:t>)  </a:t>
            </a:r>
          </a:p>
        </p:txBody>
      </p:sp>
      <p:sp>
        <p:nvSpPr>
          <p:cNvPr id="10" name="Rectangle 9"/>
          <p:cNvSpPr/>
          <p:nvPr/>
        </p:nvSpPr>
        <p:spPr>
          <a:xfrm>
            <a:off x="5105400" y="4255395"/>
            <a:ext cx="7010400" cy="2246769"/>
          </a:xfrm>
          <a:prstGeom prst="rect">
            <a:avLst/>
          </a:prstGeom>
        </p:spPr>
        <p:txBody>
          <a:bodyPr wrap="square">
            <a:spAutoFit/>
          </a:bodyPr>
          <a:lstStyle/>
          <a:p>
            <a:pPr algn="just">
              <a:buFont typeface="Arial" panose="020B0604020202020204" pitchFamily="34" charset="0"/>
              <a:buChar char="•"/>
            </a:pPr>
            <a:r>
              <a:rPr lang="en-US" sz="1400" b="1" dirty="0">
                <a:solidFill>
                  <a:srgbClr val="000000"/>
                </a:solidFill>
                <a:latin typeface="inter-bold"/>
              </a:rPr>
              <a:t>Sequence patterns:</a:t>
            </a:r>
            <a:r>
              <a:rPr lang="en-US" sz="1400" dirty="0">
                <a:solidFill>
                  <a:srgbClr val="000000"/>
                </a:solidFill>
                <a:latin typeface="inter-regular"/>
              </a:rPr>
              <a:t> These patterns match against a sequence data structure like a tuple, list, or string</a:t>
            </a:r>
            <a:r>
              <a:rPr lang="en-US" sz="1400" dirty="0" smtClean="0">
                <a:solidFill>
                  <a:srgbClr val="000000"/>
                </a:solidFill>
                <a:latin typeface="inter-regular"/>
              </a:rPr>
              <a:t>.</a:t>
            </a:r>
          </a:p>
          <a:p>
            <a:pPr algn="just"/>
            <a:endParaRPr lang="en-US" sz="1400" dirty="0">
              <a:solidFill>
                <a:srgbClr val="000000"/>
              </a:solidFill>
              <a:latin typeface="inter-regular"/>
            </a:endParaRPr>
          </a:p>
          <a:p>
            <a:pPr algn="just"/>
            <a:r>
              <a:rPr lang="en-US" sz="1400" dirty="0">
                <a:solidFill>
                  <a:srgbClr val="000000"/>
                </a:solidFill>
                <a:latin typeface="inter-regular"/>
              </a:rPr>
              <a:t>match value:  </a:t>
            </a:r>
          </a:p>
          <a:p>
            <a:pPr algn="just"/>
            <a:r>
              <a:rPr lang="en-US" sz="1400" dirty="0">
                <a:solidFill>
                  <a:srgbClr val="000000"/>
                </a:solidFill>
                <a:latin typeface="inter-regular"/>
              </a:rPr>
              <a:t>    case []: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a:solidFill>
                  <a:srgbClr val="000000"/>
                </a:solidFill>
                <a:latin typeface="inter-regular"/>
              </a:rPr>
              <a:t>(</a:t>
            </a:r>
            <a:r>
              <a:rPr lang="en-US" sz="1400" dirty="0">
                <a:solidFill>
                  <a:srgbClr val="0000FF"/>
                </a:solidFill>
                <a:latin typeface="inter-regular"/>
              </a:rPr>
              <a:t>"The list is empty"</a:t>
            </a:r>
            <a:r>
              <a:rPr lang="en-US" sz="1400" dirty="0">
                <a:solidFill>
                  <a:srgbClr val="000000"/>
                </a:solidFill>
                <a:latin typeface="inter-regular"/>
              </a:rPr>
              <a:t>)  </a:t>
            </a:r>
          </a:p>
          <a:p>
            <a:pPr algn="just"/>
            <a:r>
              <a:rPr lang="en-US" sz="1400" dirty="0">
                <a:solidFill>
                  <a:srgbClr val="000000"/>
                </a:solidFill>
                <a:latin typeface="inter-regular"/>
              </a:rPr>
              <a:t>    case [x, y]: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a:solidFill>
                  <a:srgbClr val="000000"/>
                </a:solidFill>
                <a:latin typeface="inter-regular"/>
              </a:rPr>
              <a:t>(</a:t>
            </a:r>
            <a:r>
              <a:rPr lang="en-US" sz="1400" dirty="0" err="1">
                <a:solidFill>
                  <a:srgbClr val="000000"/>
                </a:solidFill>
                <a:latin typeface="inter-regular"/>
              </a:rPr>
              <a:t>f</a:t>
            </a:r>
            <a:r>
              <a:rPr lang="en-US" sz="1400" dirty="0" err="1">
                <a:solidFill>
                  <a:srgbClr val="0000FF"/>
                </a:solidFill>
                <a:latin typeface="inter-regular"/>
              </a:rPr>
              <a:t>"The</a:t>
            </a:r>
            <a:r>
              <a:rPr lang="en-US" sz="1400" dirty="0">
                <a:solidFill>
                  <a:srgbClr val="0000FF"/>
                </a:solidFill>
                <a:latin typeface="inter-regular"/>
              </a:rPr>
              <a:t> first two elements of the list are {x} and {y}"</a:t>
            </a:r>
            <a:r>
              <a:rPr lang="en-US" sz="1400" dirty="0">
                <a:solidFill>
                  <a:srgbClr val="000000"/>
                </a:solidFill>
                <a:latin typeface="inter-regular"/>
              </a:rPr>
              <a:t>)  </a:t>
            </a:r>
          </a:p>
          <a:p>
            <a:pPr algn="just"/>
            <a:r>
              <a:rPr lang="en-US" sz="1400" dirty="0">
                <a:solidFill>
                  <a:srgbClr val="000000"/>
                </a:solidFill>
                <a:latin typeface="inter-regular"/>
              </a:rPr>
              <a:t>    case [x, *rest]:  </a:t>
            </a:r>
          </a:p>
          <a:p>
            <a:pPr algn="just"/>
            <a:r>
              <a:rPr lang="en-US" sz="1400" dirty="0">
                <a:solidFill>
                  <a:srgbClr val="000000"/>
                </a:solidFill>
                <a:latin typeface="inter-regular"/>
              </a:rPr>
              <a:t>        </a:t>
            </a:r>
            <a:r>
              <a:rPr lang="en-US" sz="1400" b="1" dirty="0">
                <a:solidFill>
                  <a:srgbClr val="006699"/>
                </a:solidFill>
                <a:latin typeface="inter-regular"/>
              </a:rPr>
              <a:t>print</a:t>
            </a:r>
            <a:r>
              <a:rPr lang="en-US" sz="1400" dirty="0">
                <a:solidFill>
                  <a:srgbClr val="000000"/>
                </a:solidFill>
                <a:latin typeface="inter-regular"/>
              </a:rPr>
              <a:t>(</a:t>
            </a:r>
            <a:r>
              <a:rPr lang="en-US" sz="1400" dirty="0" err="1">
                <a:solidFill>
                  <a:srgbClr val="000000"/>
                </a:solidFill>
                <a:latin typeface="inter-regular"/>
              </a:rPr>
              <a:t>f"The</a:t>
            </a:r>
            <a:r>
              <a:rPr lang="en-US" sz="1400" dirty="0">
                <a:solidFill>
                  <a:srgbClr val="000000"/>
                </a:solidFill>
                <a:latin typeface="inter-regular"/>
              </a:rPr>
              <a:t> first element of the list </a:t>
            </a:r>
            <a:r>
              <a:rPr lang="en-US" sz="1400" dirty="0" smtClean="0">
                <a:solidFill>
                  <a:srgbClr val="333333"/>
                </a:solidFill>
                <a:latin typeface="inter-regular"/>
              </a:rPr>
              <a:t>is </a:t>
            </a:r>
            <a:r>
              <a:rPr lang="en-US" sz="1400" dirty="0">
                <a:solidFill>
                  <a:srgbClr val="333333"/>
                </a:solidFill>
                <a:latin typeface="inter-regular"/>
              </a:rPr>
              <a:t>{x} and the rest of the elements are {rest}")</a:t>
            </a:r>
          </a:p>
        </p:txBody>
      </p:sp>
      <p:sp>
        <p:nvSpPr>
          <p:cNvPr id="11" name="Rectangle 10"/>
          <p:cNvSpPr/>
          <p:nvPr/>
        </p:nvSpPr>
        <p:spPr>
          <a:xfrm>
            <a:off x="5425440" y="1689986"/>
            <a:ext cx="6711620" cy="1815882"/>
          </a:xfrm>
          <a:prstGeom prst="rect">
            <a:avLst/>
          </a:prstGeom>
        </p:spPr>
        <p:txBody>
          <a:bodyPr wrap="square">
            <a:spAutoFit/>
          </a:bodyPr>
          <a:lstStyle/>
          <a:p>
            <a:pPr algn="just">
              <a:buFont typeface="Arial" panose="020B0604020202020204" pitchFamily="34" charset="0"/>
              <a:buChar char="•"/>
            </a:pPr>
            <a:r>
              <a:rPr lang="en-US" sz="1400" b="1" dirty="0">
                <a:solidFill>
                  <a:srgbClr val="000000"/>
                </a:solidFill>
                <a:latin typeface="inter-bold"/>
              </a:rPr>
              <a:t>Mapping patterns:</a:t>
            </a:r>
            <a:r>
              <a:rPr lang="en-US" sz="1400" dirty="0">
                <a:solidFill>
                  <a:srgbClr val="000000"/>
                </a:solidFill>
                <a:latin typeface="inter-regular"/>
              </a:rPr>
              <a:t> These patterns match against a mapping data structure like a dictionary.</a:t>
            </a:r>
          </a:p>
          <a:p>
            <a:pPr algn="just"/>
            <a:endParaRPr lang="en-US" sz="1400" dirty="0" smtClean="0">
              <a:solidFill>
                <a:srgbClr val="000000"/>
              </a:solidFill>
              <a:latin typeface="inter-regular"/>
            </a:endParaRPr>
          </a:p>
          <a:p>
            <a:pPr algn="just"/>
            <a:r>
              <a:rPr lang="en-US" sz="1400" dirty="0" smtClean="0">
                <a:solidFill>
                  <a:srgbClr val="000000"/>
                </a:solidFill>
                <a:latin typeface="inter-regular"/>
              </a:rPr>
              <a:t>match</a:t>
            </a:r>
            <a:r>
              <a:rPr lang="en-US" sz="1400" dirty="0">
                <a:solidFill>
                  <a:srgbClr val="000000"/>
                </a:solidFill>
                <a:latin typeface="inter-regular"/>
              </a:rPr>
              <a:t> value:  </a:t>
            </a:r>
          </a:p>
          <a:p>
            <a:pPr algn="just"/>
            <a:r>
              <a:rPr lang="en-US" sz="1400" dirty="0" smtClean="0">
                <a:solidFill>
                  <a:srgbClr val="000000"/>
                </a:solidFill>
                <a:latin typeface="inter-regular"/>
              </a:rPr>
              <a:t>	case</a:t>
            </a:r>
            <a:r>
              <a:rPr lang="en-US" sz="1400" dirty="0">
                <a:solidFill>
                  <a:srgbClr val="000000"/>
                </a:solidFill>
                <a:latin typeface="inter-regular"/>
              </a:rPr>
              <a:t> {}:  </a:t>
            </a:r>
          </a:p>
          <a:p>
            <a:pPr algn="just"/>
            <a:r>
              <a:rPr lang="en-US" sz="1400" b="1" dirty="0" smtClean="0">
                <a:solidFill>
                  <a:srgbClr val="006699"/>
                </a:solidFill>
                <a:latin typeface="inter-regular"/>
              </a:rPr>
              <a:t>		print</a:t>
            </a:r>
            <a:r>
              <a:rPr lang="en-US" sz="1400" dirty="0">
                <a:solidFill>
                  <a:srgbClr val="000000"/>
                </a:solidFill>
                <a:latin typeface="inter-regular"/>
              </a:rPr>
              <a:t>(</a:t>
            </a:r>
            <a:r>
              <a:rPr lang="en-US" sz="1400" dirty="0">
                <a:solidFill>
                  <a:srgbClr val="0000FF"/>
                </a:solidFill>
                <a:latin typeface="inter-regular"/>
              </a:rPr>
              <a:t>"The dictionary is empty"</a:t>
            </a:r>
            <a:r>
              <a:rPr lang="en-US" sz="1400" dirty="0">
                <a:solidFill>
                  <a:srgbClr val="000000"/>
                </a:solidFill>
                <a:latin typeface="inter-regular"/>
              </a:rPr>
              <a:t>)  </a:t>
            </a:r>
          </a:p>
          <a:p>
            <a:pPr algn="just"/>
            <a:r>
              <a:rPr lang="en-US" sz="1400" dirty="0" smtClean="0">
                <a:solidFill>
                  <a:srgbClr val="000000"/>
                </a:solidFill>
                <a:latin typeface="inter-regular"/>
              </a:rPr>
              <a:t>	case</a:t>
            </a:r>
            <a:r>
              <a:rPr lang="en-US" sz="1400" dirty="0">
                <a:solidFill>
                  <a:srgbClr val="000000"/>
                </a:solidFill>
                <a:latin typeface="inter-regular"/>
              </a:rPr>
              <a:t> {</a:t>
            </a:r>
            <a:r>
              <a:rPr lang="en-US" sz="1400" dirty="0">
                <a:solidFill>
                  <a:srgbClr val="0000FF"/>
                </a:solidFill>
                <a:latin typeface="inter-regular"/>
              </a:rPr>
              <a:t>"name"</a:t>
            </a:r>
            <a:r>
              <a:rPr lang="en-US" sz="1400" dirty="0">
                <a:solidFill>
                  <a:srgbClr val="000000"/>
                </a:solidFill>
                <a:latin typeface="inter-regular"/>
              </a:rPr>
              <a:t>: name, </a:t>
            </a:r>
            <a:r>
              <a:rPr lang="en-US" sz="1400" dirty="0">
                <a:solidFill>
                  <a:srgbClr val="0000FF"/>
                </a:solidFill>
                <a:latin typeface="inter-regular"/>
              </a:rPr>
              <a:t>"age"</a:t>
            </a:r>
            <a:r>
              <a:rPr lang="en-US" sz="1400" dirty="0">
                <a:solidFill>
                  <a:srgbClr val="000000"/>
                </a:solidFill>
                <a:latin typeface="inter-regular"/>
              </a:rPr>
              <a:t>: age}:  </a:t>
            </a:r>
          </a:p>
          <a:p>
            <a:pPr algn="just"/>
            <a:r>
              <a:rPr lang="en-US" sz="1400" b="1" dirty="0" smtClean="0">
                <a:solidFill>
                  <a:srgbClr val="006699"/>
                </a:solidFill>
                <a:latin typeface="inter-regular"/>
              </a:rPr>
              <a:t>		print</a:t>
            </a:r>
            <a:r>
              <a:rPr lang="en-US" sz="1400" dirty="0" smtClean="0">
                <a:solidFill>
                  <a:srgbClr val="000000"/>
                </a:solidFill>
                <a:latin typeface="inter-regular"/>
              </a:rPr>
              <a:t>(</a:t>
            </a:r>
            <a:r>
              <a:rPr lang="en-US" sz="1400" dirty="0" err="1" smtClean="0">
                <a:solidFill>
                  <a:srgbClr val="000000"/>
                </a:solidFill>
                <a:latin typeface="inter-regular"/>
              </a:rPr>
              <a:t>f</a:t>
            </a:r>
            <a:r>
              <a:rPr lang="en-US" sz="1400" dirty="0" err="1" smtClean="0">
                <a:solidFill>
                  <a:srgbClr val="0000FF"/>
                </a:solidFill>
                <a:latin typeface="inter-regular"/>
              </a:rPr>
              <a:t>"The</a:t>
            </a:r>
            <a:r>
              <a:rPr lang="en-US" sz="1400" dirty="0">
                <a:solidFill>
                  <a:srgbClr val="0000FF"/>
                </a:solidFill>
                <a:latin typeface="inter-regular"/>
              </a:rPr>
              <a:t> person's name is {name} and age is {age}"</a:t>
            </a:r>
            <a:r>
              <a:rPr lang="en-US" sz="1400" dirty="0">
                <a:solidFill>
                  <a:srgbClr val="000000"/>
                </a:solidFill>
                <a:latin typeface="inter-regular"/>
              </a:rPr>
              <a:t>)  </a:t>
            </a:r>
            <a:endParaRPr lang="en-US" sz="1400" b="0" i="0" dirty="0">
              <a:solidFill>
                <a:srgbClr val="000000"/>
              </a:solidFill>
              <a:effectLst/>
              <a:latin typeface="inter-regular"/>
            </a:endParaRPr>
          </a:p>
        </p:txBody>
      </p:sp>
    </p:spTree>
    <p:extLst>
      <p:ext uri="{BB962C8B-B14F-4D97-AF65-F5344CB8AC3E}">
        <p14:creationId xmlns:p14="http://schemas.microsoft.com/office/powerpoint/2010/main" val="180685869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0684"/>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Structural Pattern </a:t>
            </a:r>
            <a:r>
              <a:rPr lang="en-US" sz="3200" b="1" dirty="0" smtClean="0"/>
              <a:t>Matching (Match)</a:t>
            </a:r>
            <a:endParaRPr lang="en-US" sz="3200" b="1" dirty="0"/>
          </a:p>
        </p:txBody>
      </p:sp>
      <p:sp>
        <p:nvSpPr>
          <p:cNvPr id="4" name="Slide Number Placeholder 3"/>
          <p:cNvSpPr>
            <a:spLocks noGrp="1"/>
          </p:cNvSpPr>
          <p:nvPr>
            <p:ph type="sldNum" sz="quarter" idx="12"/>
          </p:nvPr>
        </p:nvSpPr>
        <p:spPr/>
        <p:txBody>
          <a:bodyPr/>
          <a:lstStyle/>
          <a:p>
            <a:fld id="{04EAA311-F8B8-413B-ACCD-5A57951484CD}" type="slidenum">
              <a:rPr lang="en-US" smtClean="0"/>
              <a:pPr/>
              <a:t>57</a:t>
            </a:fld>
            <a:endParaRPr lang="en-US"/>
          </a:p>
        </p:txBody>
      </p:sp>
      <p:sp>
        <p:nvSpPr>
          <p:cNvPr id="7" name="TextBox 6"/>
          <p:cNvSpPr txBox="1"/>
          <p:nvPr/>
        </p:nvSpPr>
        <p:spPr>
          <a:xfrm>
            <a:off x="279961" y="1689986"/>
            <a:ext cx="2414319" cy="369332"/>
          </a:xfrm>
          <a:prstGeom prst="rect">
            <a:avLst/>
          </a:prstGeom>
          <a:noFill/>
        </p:spPr>
        <p:txBody>
          <a:bodyPr wrap="square" rtlCol="0">
            <a:spAutoFit/>
          </a:bodyPr>
          <a:lstStyle/>
          <a:p>
            <a:r>
              <a:rPr lang="en-IN" dirty="0" smtClean="0"/>
              <a:t>Examples:</a:t>
            </a:r>
            <a:endParaRPr lang="en-IN" dirty="0"/>
          </a:p>
        </p:txBody>
      </p:sp>
      <p:sp>
        <p:nvSpPr>
          <p:cNvPr id="3" name="Rectangle 2"/>
          <p:cNvSpPr/>
          <p:nvPr/>
        </p:nvSpPr>
        <p:spPr>
          <a:xfrm>
            <a:off x="1046480" y="2136339"/>
            <a:ext cx="8097520" cy="2862322"/>
          </a:xfrm>
          <a:prstGeom prst="rect">
            <a:avLst/>
          </a:prstGeom>
        </p:spPr>
        <p:txBody>
          <a:bodyPr wrap="square">
            <a:spAutoFit/>
          </a:bodyPr>
          <a:lstStyle/>
          <a:p>
            <a:pPr algn="just">
              <a:buFont typeface="Arial" panose="020B0604020202020204" pitchFamily="34" charset="0"/>
              <a:buChar char="•"/>
            </a:pPr>
            <a:r>
              <a:rPr lang="en-US" b="1" dirty="0">
                <a:solidFill>
                  <a:srgbClr val="000000"/>
                </a:solidFill>
                <a:latin typeface="inter-bold"/>
              </a:rPr>
              <a:t>Combining patterns:</a:t>
            </a:r>
            <a:r>
              <a:rPr lang="en-US" dirty="0">
                <a:solidFill>
                  <a:srgbClr val="000000"/>
                </a:solidFill>
                <a:latin typeface="inter-regular"/>
              </a:rPr>
              <a:t> We can also combine patterns using logical operators like `|` (or), `&amp;` (and), and `not.`</a:t>
            </a:r>
          </a:p>
          <a:p>
            <a:pPr algn="just"/>
            <a:endParaRPr lang="en-US" dirty="0" smtClean="0">
              <a:solidFill>
                <a:srgbClr val="000000"/>
              </a:solidFill>
              <a:latin typeface="inter-regular"/>
            </a:endParaRPr>
          </a:p>
          <a:p>
            <a:pPr algn="just"/>
            <a:r>
              <a:rPr lang="en-US" dirty="0" smtClean="0">
                <a:solidFill>
                  <a:srgbClr val="000000"/>
                </a:solidFill>
                <a:latin typeface="inter-regular"/>
              </a:rPr>
              <a:t>match</a:t>
            </a:r>
            <a:r>
              <a:rPr lang="en-US" dirty="0">
                <a:solidFill>
                  <a:srgbClr val="000000"/>
                </a:solidFill>
                <a:latin typeface="inter-regular"/>
              </a:rPr>
              <a:t> value:  </a:t>
            </a:r>
          </a:p>
          <a:p>
            <a:pPr algn="just"/>
            <a:r>
              <a:rPr lang="en-US" dirty="0" smtClean="0">
                <a:solidFill>
                  <a:srgbClr val="000000"/>
                </a:solidFill>
                <a:latin typeface="inter-regular"/>
              </a:rPr>
              <a:t>	case</a:t>
            </a:r>
            <a:r>
              <a:rPr lang="en-US" dirty="0">
                <a:solidFill>
                  <a:srgbClr val="000000"/>
                </a:solidFill>
                <a:latin typeface="inter-regular"/>
              </a:rPr>
              <a:t> </a:t>
            </a:r>
            <a:r>
              <a:rPr lang="en-US" dirty="0" err="1">
                <a:solidFill>
                  <a:srgbClr val="000000"/>
                </a:solidFill>
                <a:latin typeface="inter-regular"/>
              </a:rPr>
              <a:t>int</a:t>
            </a:r>
            <a:r>
              <a:rPr lang="en-US" dirty="0">
                <a:solidFill>
                  <a:srgbClr val="000000"/>
                </a:solidFill>
                <a:latin typeface="inter-regular"/>
              </a:rPr>
              <a:t> | float:  </a:t>
            </a:r>
          </a:p>
          <a:p>
            <a:pPr algn="just"/>
            <a:r>
              <a:rPr lang="en-US" b="1" dirty="0" smtClean="0">
                <a:solidFill>
                  <a:srgbClr val="006699"/>
                </a:solidFill>
                <a:latin typeface="inter-regular"/>
              </a:rPr>
              <a:t>		print</a:t>
            </a:r>
            <a:r>
              <a:rPr lang="en-US" dirty="0">
                <a:solidFill>
                  <a:srgbClr val="000000"/>
                </a:solidFill>
                <a:latin typeface="inter-regular"/>
              </a:rPr>
              <a:t>(</a:t>
            </a:r>
            <a:r>
              <a:rPr lang="en-US" dirty="0">
                <a:solidFill>
                  <a:srgbClr val="0000FF"/>
                </a:solidFill>
                <a:latin typeface="inter-regular"/>
              </a:rPr>
              <a:t>"The value is a number"</a:t>
            </a:r>
            <a:r>
              <a:rPr lang="en-US" dirty="0">
                <a:solidFill>
                  <a:srgbClr val="000000"/>
                </a:solidFill>
                <a:latin typeface="inter-regular"/>
              </a:rPr>
              <a:t>)  </a:t>
            </a:r>
          </a:p>
          <a:p>
            <a:pPr algn="just"/>
            <a:r>
              <a:rPr lang="en-US" dirty="0" smtClean="0">
                <a:solidFill>
                  <a:srgbClr val="000000"/>
                </a:solidFill>
                <a:latin typeface="inter-regular"/>
              </a:rPr>
              <a:t>	case</a:t>
            </a:r>
            <a:r>
              <a:rPr lang="en-US" dirty="0">
                <a:solidFill>
                  <a:srgbClr val="000000"/>
                </a:solidFill>
                <a:latin typeface="inter-regular"/>
              </a:rPr>
              <a:t> [x, y] &amp; </a:t>
            </a:r>
            <a:r>
              <a:rPr lang="en-US" dirty="0" err="1">
                <a:solidFill>
                  <a:srgbClr val="000000"/>
                </a:solidFill>
                <a:latin typeface="inter-regular"/>
              </a:rPr>
              <a:t>isinstance</a:t>
            </a:r>
            <a:r>
              <a:rPr lang="en-US" dirty="0">
                <a:solidFill>
                  <a:srgbClr val="000000"/>
                </a:solidFill>
                <a:latin typeface="inter-regular"/>
              </a:rPr>
              <a:t>(x, </a:t>
            </a:r>
            <a:r>
              <a:rPr lang="en-US" dirty="0" err="1">
                <a:solidFill>
                  <a:srgbClr val="000000"/>
                </a:solidFill>
                <a:latin typeface="inter-regular"/>
              </a:rPr>
              <a:t>str</a:t>
            </a:r>
            <a:r>
              <a:rPr lang="en-US" dirty="0">
                <a:solidFill>
                  <a:srgbClr val="000000"/>
                </a:solidFill>
                <a:latin typeface="inter-regular"/>
              </a:rPr>
              <a:t>):  </a:t>
            </a:r>
          </a:p>
          <a:p>
            <a:pPr algn="just"/>
            <a:r>
              <a:rPr lang="en-US" b="1" dirty="0" smtClean="0">
                <a:solidFill>
                  <a:srgbClr val="006699"/>
                </a:solidFill>
                <a:latin typeface="inter-regular"/>
              </a:rPr>
              <a:t>		print</a:t>
            </a:r>
            <a:r>
              <a:rPr lang="en-US" dirty="0">
                <a:solidFill>
                  <a:srgbClr val="000000"/>
                </a:solidFill>
                <a:latin typeface="inter-regular"/>
              </a:rPr>
              <a:t>(</a:t>
            </a:r>
            <a:r>
              <a:rPr lang="en-US" dirty="0">
                <a:solidFill>
                  <a:srgbClr val="0000FF"/>
                </a:solidFill>
                <a:latin typeface="inter-regular"/>
              </a:rPr>
              <a:t>"The first element is a string"</a:t>
            </a:r>
            <a:r>
              <a:rPr lang="en-US" dirty="0">
                <a:solidFill>
                  <a:srgbClr val="000000"/>
                </a:solidFill>
                <a:latin typeface="inter-regular"/>
              </a:rPr>
              <a:t>)  </a:t>
            </a:r>
          </a:p>
          <a:p>
            <a:pPr algn="just"/>
            <a:r>
              <a:rPr lang="en-US" dirty="0" smtClean="0">
                <a:solidFill>
                  <a:srgbClr val="000000"/>
                </a:solidFill>
                <a:latin typeface="inter-regular"/>
              </a:rPr>
              <a:t>	case</a:t>
            </a:r>
            <a:r>
              <a:rPr lang="en-US" dirty="0">
                <a:solidFill>
                  <a:srgbClr val="000000"/>
                </a:solidFill>
                <a:latin typeface="inter-regular"/>
              </a:rPr>
              <a:t> </a:t>
            </a:r>
            <a:r>
              <a:rPr lang="en-US" b="1" dirty="0">
                <a:solidFill>
                  <a:srgbClr val="006699"/>
                </a:solidFill>
                <a:latin typeface="inter-regular"/>
              </a:rPr>
              <a:t>not</a:t>
            </a:r>
            <a:r>
              <a:rPr lang="en-US" dirty="0">
                <a:solidFill>
                  <a:srgbClr val="000000"/>
                </a:solidFill>
                <a:latin typeface="inter-regular"/>
              </a:rPr>
              <a:t> []:  </a:t>
            </a:r>
          </a:p>
          <a:p>
            <a:pPr algn="just"/>
            <a:r>
              <a:rPr lang="en-US" b="1" dirty="0" smtClean="0">
                <a:solidFill>
                  <a:srgbClr val="006699"/>
                </a:solidFill>
                <a:latin typeface="inter-regular"/>
              </a:rPr>
              <a:t>		print</a:t>
            </a:r>
            <a:r>
              <a:rPr lang="en-US" dirty="0">
                <a:solidFill>
                  <a:srgbClr val="000000"/>
                </a:solidFill>
                <a:latin typeface="inter-regular"/>
              </a:rPr>
              <a:t>(</a:t>
            </a:r>
            <a:r>
              <a:rPr lang="en-US" dirty="0">
                <a:solidFill>
                  <a:srgbClr val="0000FF"/>
                </a:solidFill>
                <a:latin typeface="inter-regular"/>
              </a:rPr>
              <a:t>"The value is not an empty list"</a:t>
            </a:r>
            <a:r>
              <a:rPr lang="en-US" dirty="0">
                <a:solidFill>
                  <a:srgbClr val="000000"/>
                </a:solidFill>
                <a:latin typeface="inter-regular"/>
              </a:rPr>
              <a:t>)  </a:t>
            </a:r>
          </a:p>
        </p:txBody>
      </p:sp>
    </p:spTree>
    <p:extLst>
      <p:ext uri="{BB962C8B-B14F-4D97-AF65-F5344CB8AC3E}">
        <p14:creationId xmlns:p14="http://schemas.microsoft.com/office/powerpoint/2010/main" val="1189101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TotalTime>
  <Words>5728</Words>
  <Application>Microsoft Office PowerPoint</Application>
  <PresentationFormat>Widescreen</PresentationFormat>
  <Paragraphs>413</Paragraphs>
  <Slides>57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inter-bold</vt:lpstr>
      <vt:lpstr>inter-regular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Sukeshi Parnami</dc:creator>
  <cp:lastModifiedBy>Deepak Kumar Sharma</cp:lastModifiedBy>
  <cp:revision>39</cp:revision>
  <dcterms:created xsi:type="dcterms:W3CDTF">2023-06-27T05:32:28Z</dcterms:created>
  <dcterms:modified xsi:type="dcterms:W3CDTF">2024-01-24T18:40:33Z</dcterms:modified>
</cp:coreProperties>
</file>