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0"/>
  </p:notesMasterIdLst>
  <p:sldIdLst>
    <p:sldId id="260" r:id="rId2"/>
    <p:sldId id="309" r:id="rId3"/>
    <p:sldId id="310" r:id="rId4"/>
    <p:sldId id="311" r:id="rId5"/>
    <p:sldId id="312" r:id="rId6"/>
    <p:sldId id="313" r:id="rId7"/>
    <p:sldId id="314" r:id="rId8"/>
    <p:sldId id="315" r:id="rId9"/>
    <p:sldId id="316" r:id="rId10"/>
    <p:sldId id="317" r:id="rId11"/>
    <p:sldId id="318" r:id="rId12"/>
    <p:sldId id="319" r:id="rId13"/>
    <p:sldId id="320" r:id="rId14"/>
    <p:sldId id="321" r:id="rId15"/>
    <p:sldId id="322" r:id="rId16"/>
    <p:sldId id="323" r:id="rId17"/>
    <p:sldId id="261" r:id="rId18"/>
    <p:sldId id="262" r:id="rId19"/>
    <p:sldId id="263" r:id="rId20"/>
    <p:sldId id="264" r:id="rId21"/>
    <p:sldId id="265" r:id="rId22"/>
    <p:sldId id="266" r:id="rId23"/>
    <p:sldId id="267"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24" r:id="rId62"/>
    <p:sldId id="325" r:id="rId63"/>
    <p:sldId id="326" r:id="rId64"/>
    <p:sldId id="327" r:id="rId65"/>
    <p:sldId id="328" r:id="rId66"/>
    <p:sldId id="329" r:id="rId67"/>
    <p:sldId id="330" r:id="rId68"/>
    <p:sldId id="331" r:id="rId69"/>
    <p:sldId id="332" r:id="rId70"/>
    <p:sldId id="333" r:id="rId71"/>
    <p:sldId id="334" r:id="rId72"/>
    <p:sldId id="335" r:id="rId73"/>
    <p:sldId id="336" r:id="rId74"/>
    <p:sldId id="337" r:id="rId75"/>
    <p:sldId id="338" r:id="rId76"/>
    <p:sldId id="339" r:id="rId77"/>
    <p:sldId id="340" r:id="rId78"/>
    <p:sldId id="341" r:id="rId7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7"/>
    <p:restoredTop sz="94658"/>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141514-213F-4477-86D4-9C40F0CBCC95}" type="datetimeFigureOut">
              <a:rPr lang="en-US" smtClean="0"/>
              <a:t>3/10/2025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8945BD-F766-46C2-A564-4657E5C7C53E}" type="slidenum">
              <a:rPr lang="en-US" smtClean="0"/>
              <a:t>‹#›</a:t>
            </a:fld>
            <a:endParaRPr lang="en-US"/>
          </a:p>
        </p:txBody>
      </p:sp>
    </p:spTree>
    <p:extLst>
      <p:ext uri="{BB962C8B-B14F-4D97-AF65-F5344CB8AC3E}">
        <p14:creationId xmlns:p14="http://schemas.microsoft.com/office/powerpoint/2010/main" val="3192943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1D64E-478A-1C7A-E30B-2928419E36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FA49085-9578-DC52-6A22-B041AE6D40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6F8943E-D792-CEA4-78B9-88DCDDB094E3}"/>
              </a:ext>
            </a:extLst>
          </p:cNvPr>
          <p:cNvSpPr>
            <a:spLocks noGrp="1"/>
          </p:cNvSpPr>
          <p:nvPr>
            <p:ph type="dt" sz="half" idx="10"/>
          </p:nvPr>
        </p:nvSpPr>
        <p:spPr/>
        <p:txBody>
          <a:bodyPr/>
          <a:lstStyle/>
          <a:p>
            <a:fld id="{3A4A121F-FC19-43E4-A78A-D1531C4C96BF}" type="datetime1">
              <a:rPr lang="en-IN" smtClean="0"/>
              <a:t>10-03-2025</a:t>
            </a:fld>
            <a:endParaRPr lang="en-IN"/>
          </a:p>
        </p:txBody>
      </p:sp>
      <p:sp>
        <p:nvSpPr>
          <p:cNvPr id="5" name="Footer Placeholder 4">
            <a:extLst>
              <a:ext uri="{FF2B5EF4-FFF2-40B4-BE49-F238E27FC236}">
                <a16:creationId xmlns:a16="http://schemas.microsoft.com/office/drawing/2014/main" id="{E5610C63-00AD-ED85-E3CC-AF52459CEC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C6B301-9B48-3827-40FB-135BAA3EFAF7}"/>
              </a:ext>
            </a:extLst>
          </p:cNvPr>
          <p:cNvSpPr>
            <a:spLocks noGrp="1"/>
          </p:cNvSpPr>
          <p:nvPr>
            <p:ph type="sldNum" sz="quarter" idx="12"/>
          </p:nvPr>
        </p:nvSpPr>
        <p:spPr/>
        <p:txBody>
          <a:bodyPr/>
          <a:lstStyle/>
          <a:p>
            <a:fld id="{1B2A20A6-2C11-4CB1-9193-A0D80FC8463A}" type="slidenum">
              <a:rPr lang="en-IN" smtClean="0"/>
              <a:t>‹#›</a:t>
            </a:fld>
            <a:endParaRPr lang="en-IN"/>
          </a:p>
        </p:txBody>
      </p:sp>
    </p:spTree>
    <p:extLst>
      <p:ext uri="{BB962C8B-B14F-4D97-AF65-F5344CB8AC3E}">
        <p14:creationId xmlns:p14="http://schemas.microsoft.com/office/powerpoint/2010/main" val="14921904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D3F19-B29D-AEBA-1E67-63B526DB24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83A8A09-5661-E84C-EA5A-BA7A0790D4D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2CD4C5-4F23-150D-0244-46A2469D79E8}"/>
              </a:ext>
            </a:extLst>
          </p:cNvPr>
          <p:cNvSpPr>
            <a:spLocks noGrp="1"/>
          </p:cNvSpPr>
          <p:nvPr>
            <p:ph type="dt" sz="half" idx="10"/>
          </p:nvPr>
        </p:nvSpPr>
        <p:spPr/>
        <p:txBody>
          <a:bodyPr/>
          <a:lstStyle/>
          <a:p>
            <a:fld id="{029E10DC-D5FC-4BFB-8C2D-860E2052C470}" type="datetime1">
              <a:rPr lang="en-IN" smtClean="0"/>
              <a:t>10-03-2025</a:t>
            </a:fld>
            <a:endParaRPr lang="en-IN"/>
          </a:p>
        </p:txBody>
      </p:sp>
      <p:sp>
        <p:nvSpPr>
          <p:cNvPr id="5" name="Footer Placeholder 4">
            <a:extLst>
              <a:ext uri="{FF2B5EF4-FFF2-40B4-BE49-F238E27FC236}">
                <a16:creationId xmlns:a16="http://schemas.microsoft.com/office/drawing/2014/main" id="{385B48FF-FC69-C154-54AE-A7BC2D5E737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DD33FAA-014B-8F86-DF44-FBFEE780AA00}"/>
              </a:ext>
            </a:extLst>
          </p:cNvPr>
          <p:cNvSpPr>
            <a:spLocks noGrp="1"/>
          </p:cNvSpPr>
          <p:nvPr>
            <p:ph type="sldNum" sz="quarter" idx="12"/>
          </p:nvPr>
        </p:nvSpPr>
        <p:spPr/>
        <p:txBody>
          <a:bodyPr/>
          <a:lstStyle/>
          <a:p>
            <a:fld id="{1B2A20A6-2C11-4CB1-9193-A0D80FC8463A}" type="slidenum">
              <a:rPr lang="en-IN" smtClean="0"/>
              <a:t>‹#›</a:t>
            </a:fld>
            <a:endParaRPr lang="en-IN"/>
          </a:p>
        </p:txBody>
      </p:sp>
    </p:spTree>
    <p:extLst>
      <p:ext uri="{BB962C8B-B14F-4D97-AF65-F5344CB8AC3E}">
        <p14:creationId xmlns:p14="http://schemas.microsoft.com/office/powerpoint/2010/main" val="7139613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F5D23-87D4-D2E6-B822-4059C1337B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24B8A1B-3924-ABF0-4F27-2F19FF5DE2F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1920101-8C12-368F-BCFD-D298AE953AA5}"/>
              </a:ext>
            </a:extLst>
          </p:cNvPr>
          <p:cNvSpPr>
            <a:spLocks noGrp="1"/>
          </p:cNvSpPr>
          <p:nvPr>
            <p:ph type="dt" sz="half" idx="10"/>
          </p:nvPr>
        </p:nvSpPr>
        <p:spPr/>
        <p:txBody>
          <a:bodyPr/>
          <a:lstStyle/>
          <a:p>
            <a:fld id="{C794ECE4-9E16-4852-99A9-478688DE98EB}" type="datetime1">
              <a:rPr lang="en-IN" smtClean="0"/>
              <a:t>10-03-2025</a:t>
            </a:fld>
            <a:endParaRPr lang="en-IN"/>
          </a:p>
        </p:txBody>
      </p:sp>
      <p:sp>
        <p:nvSpPr>
          <p:cNvPr id="5" name="Footer Placeholder 4">
            <a:extLst>
              <a:ext uri="{FF2B5EF4-FFF2-40B4-BE49-F238E27FC236}">
                <a16:creationId xmlns:a16="http://schemas.microsoft.com/office/drawing/2014/main" id="{74CAA9EC-F0BF-9282-71FB-0F1C0553D9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464145-27E3-A673-EF49-6B65D2FFD9E8}"/>
              </a:ext>
            </a:extLst>
          </p:cNvPr>
          <p:cNvSpPr>
            <a:spLocks noGrp="1"/>
          </p:cNvSpPr>
          <p:nvPr>
            <p:ph type="sldNum" sz="quarter" idx="12"/>
          </p:nvPr>
        </p:nvSpPr>
        <p:spPr/>
        <p:txBody>
          <a:bodyPr/>
          <a:lstStyle/>
          <a:p>
            <a:fld id="{1B2A20A6-2C11-4CB1-9193-A0D80FC8463A}" type="slidenum">
              <a:rPr lang="en-IN" smtClean="0"/>
              <a:t>‹#›</a:t>
            </a:fld>
            <a:endParaRPr lang="en-IN"/>
          </a:p>
        </p:txBody>
      </p:sp>
    </p:spTree>
    <p:extLst>
      <p:ext uri="{BB962C8B-B14F-4D97-AF65-F5344CB8AC3E}">
        <p14:creationId xmlns:p14="http://schemas.microsoft.com/office/powerpoint/2010/main" val="9878289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F7B97-55A1-573E-DE88-196F2F0E0CF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3938F98-6744-B58D-9226-B5436AC9AAF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191AC41-88D4-9364-9F45-55F6EF05EB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4C75089-67E1-B4A7-55DD-CCB9180F58A8}"/>
              </a:ext>
            </a:extLst>
          </p:cNvPr>
          <p:cNvSpPr>
            <a:spLocks noGrp="1"/>
          </p:cNvSpPr>
          <p:nvPr>
            <p:ph type="dt" sz="half" idx="10"/>
          </p:nvPr>
        </p:nvSpPr>
        <p:spPr/>
        <p:txBody>
          <a:bodyPr/>
          <a:lstStyle/>
          <a:p>
            <a:fld id="{E8D30471-51CD-4904-B284-5FC4021028FE}" type="datetime1">
              <a:rPr lang="en-IN" smtClean="0"/>
              <a:t>10-03-2025</a:t>
            </a:fld>
            <a:endParaRPr lang="en-IN"/>
          </a:p>
        </p:txBody>
      </p:sp>
      <p:sp>
        <p:nvSpPr>
          <p:cNvPr id="6" name="Footer Placeholder 5">
            <a:extLst>
              <a:ext uri="{FF2B5EF4-FFF2-40B4-BE49-F238E27FC236}">
                <a16:creationId xmlns:a16="http://schemas.microsoft.com/office/drawing/2014/main" id="{D8879873-233E-5E7B-6E92-9D12231EC4B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D8CCA6F-BAD1-6C94-A30B-01959B08FBE8}"/>
              </a:ext>
            </a:extLst>
          </p:cNvPr>
          <p:cNvSpPr>
            <a:spLocks noGrp="1"/>
          </p:cNvSpPr>
          <p:nvPr>
            <p:ph type="sldNum" sz="quarter" idx="12"/>
          </p:nvPr>
        </p:nvSpPr>
        <p:spPr/>
        <p:txBody>
          <a:bodyPr/>
          <a:lstStyle/>
          <a:p>
            <a:fld id="{1B2A20A6-2C11-4CB1-9193-A0D80FC8463A}" type="slidenum">
              <a:rPr lang="en-IN" smtClean="0"/>
              <a:t>‹#›</a:t>
            </a:fld>
            <a:endParaRPr lang="en-IN"/>
          </a:p>
        </p:txBody>
      </p:sp>
    </p:spTree>
    <p:extLst>
      <p:ext uri="{BB962C8B-B14F-4D97-AF65-F5344CB8AC3E}">
        <p14:creationId xmlns:p14="http://schemas.microsoft.com/office/powerpoint/2010/main" val="24337581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C6B48-1BBD-2956-8F34-4B0ADA59972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D1B1C43-87E8-08EF-5D72-BB06D1176B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02DE98D-4E61-300A-2C4D-B91DAEB3BBD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25D277E-05C0-DBB0-3C88-A01C07166D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AE8685-13DE-B05A-B935-F22B2CA0D1E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61CF8E0-D36E-17C5-0797-196719A23D2E}"/>
              </a:ext>
            </a:extLst>
          </p:cNvPr>
          <p:cNvSpPr>
            <a:spLocks noGrp="1"/>
          </p:cNvSpPr>
          <p:nvPr>
            <p:ph type="dt" sz="half" idx="10"/>
          </p:nvPr>
        </p:nvSpPr>
        <p:spPr/>
        <p:txBody>
          <a:bodyPr/>
          <a:lstStyle/>
          <a:p>
            <a:fld id="{04A77444-06BF-461B-8E74-32F54C548B9A}" type="datetime1">
              <a:rPr lang="en-IN" smtClean="0"/>
              <a:t>10-03-2025</a:t>
            </a:fld>
            <a:endParaRPr lang="en-IN"/>
          </a:p>
        </p:txBody>
      </p:sp>
      <p:sp>
        <p:nvSpPr>
          <p:cNvPr id="8" name="Footer Placeholder 7">
            <a:extLst>
              <a:ext uri="{FF2B5EF4-FFF2-40B4-BE49-F238E27FC236}">
                <a16:creationId xmlns:a16="http://schemas.microsoft.com/office/drawing/2014/main" id="{3383E82F-7963-91F0-238F-8851C172436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AEADFA8-E7F8-D8AF-9F55-4069BE295D33}"/>
              </a:ext>
            </a:extLst>
          </p:cNvPr>
          <p:cNvSpPr>
            <a:spLocks noGrp="1"/>
          </p:cNvSpPr>
          <p:nvPr>
            <p:ph type="sldNum" sz="quarter" idx="12"/>
          </p:nvPr>
        </p:nvSpPr>
        <p:spPr/>
        <p:txBody>
          <a:bodyPr/>
          <a:lstStyle/>
          <a:p>
            <a:fld id="{1B2A20A6-2C11-4CB1-9193-A0D80FC8463A}" type="slidenum">
              <a:rPr lang="en-IN" smtClean="0"/>
              <a:t>‹#›</a:t>
            </a:fld>
            <a:endParaRPr lang="en-IN"/>
          </a:p>
        </p:txBody>
      </p:sp>
    </p:spTree>
    <p:extLst>
      <p:ext uri="{BB962C8B-B14F-4D97-AF65-F5344CB8AC3E}">
        <p14:creationId xmlns:p14="http://schemas.microsoft.com/office/powerpoint/2010/main" val="3597482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A4A05-D1FF-26B0-BE1C-8C91E1FA261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9F067BD-C455-001A-4FD1-66B7DC9F3F26}"/>
              </a:ext>
            </a:extLst>
          </p:cNvPr>
          <p:cNvSpPr>
            <a:spLocks noGrp="1"/>
          </p:cNvSpPr>
          <p:nvPr>
            <p:ph type="dt" sz="half" idx="10"/>
          </p:nvPr>
        </p:nvSpPr>
        <p:spPr/>
        <p:txBody>
          <a:bodyPr/>
          <a:lstStyle/>
          <a:p>
            <a:fld id="{113B3D3A-2EE7-4FC5-916A-2F100535810B}" type="datetime1">
              <a:rPr lang="en-IN" smtClean="0"/>
              <a:t>10-03-2025</a:t>
            </a:fld>
            <a:endParaRPr lang="en-IN"/>
          </a:p>
        </p:txBody>
      </p:sp>
      <p:sp>
        <p:nvSpPr>
          <p:cNvPr id="4" name="Footer Placeholder 3">
            <a:extLst>
              <a:ext uri="{FF2B5EF4-FFF2-40B4-BE49-F238E27FC236}">
                <a16:creationId xmlns:a16="http://schemas.microsoft.com/office/drawing/2014/main" id="{C65E7B67-0D01-E1C8-B892-1677F627AEC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CDDECB4-4488-7682-2118-69D12F5B5145}"/>
              </a:ext>
            </a:extLst>
          </p:cNvPr>
          <p:cNvSpPr>
            <a:spLocks noGrp="1"/>
          </p:cNvSpPr>
          <p:nvPr>
            <p:ph type="sldNum" sz="quarter" idx="12"/>
          </p:nvPr>
        </p:nvSpPr>
        <p:spPr/>
        <p:txBody>
          <a:bodyPr/>
          <a:lstStyle/>
          <a:p>
            <a:fld id="{1B2A20A6-2C11-4CB1-9193-A0D80FC8463A}" type="slidenum">
              <a:rPr lang="en-IN" smtClean="0"/>
              <a:t>‹#›</a:t>
            </a:fld>
            <a:endParaRPr lang="en-IN"/>
          </a:p>
        </p:txBody>
      </p:sp>
    </p:spTree>
    <p:extLst>
      <p:ext uri="{BB962C8B-B14F-4D97-AF65-F5344CB8AC3E}">
        <p14:creationId xmlns:p14="http://schemas.microsoft.com/office/powerpoint/2010/main" val="24473007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471566-498C-19C4-723D-9D6B4251CC3C}"/>
              </a:ext>
            </a:extLst>
          </p:cNvPr>
          <p:cNvSpPr>
            <a:spLocks noGrp="1"/>
          </p:cNvSpPr>
          <p:nvPr>
            <p:ph type="dt" sz="half" idx="10"/>
          </p:nvPr>
        </p:nvSpPr>
        <p:spPr/>
        <p:txBody>
          <a:bodyPr/>
          <a:lstStyle/>
          <a:p>
            <a:fld id="{CCE6C596-2334-4BF2-936E-9D859C4BE4A3}" type="datetime1">
              <a:rPr lang="en-IN" smtClean="0"/>
              <a:t>10-03-2025</a:t>
            </a:fld>
            <a:endParaRPr lang="en-IN"/>
          </a:p>
        </p:txBody>
      </p:sp>
      <p:sp>
        <p:nvSpPr>
          <p:cNvPr id="3" name="Footer Placeholder 2">
            <a:extLst>
              <a:ext uri="{FF2B5EF4-FFF2-40B4-BE49-F238E27FC236}">
                <a16:creationId xmlns:a16="http://schemas.microsoft.com/office/drawing/2014/main" id="{7E8B0847-313D-0CBE-86DB-9263A1B25B2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0F60DC6-9602-3B57-D1A3-18CC0B9BEEBB}"/>
              </a:ext>
            </a:extLst>
          </p:cNvPr>
          <p:cNvSpPr>
            <a:spLocks noGrp="1"/>
          </p:cNvSpPr>
          <p:nvPr>
            <p:ph type="sldNum" sz="quarter" idx="12"/>
          </p:nvPr>
        </p:nvSpPr>
        <p:spPr/>
        <p:txBody>
          <a:bodyPr/>
          <a:lstStyle/>
          <a:p>
            <a:fld id="{1B2A20A6-2C11-4CB1-9193-A0D80FC8463A}" type="slidenum">
              <a:rPr lang="en-IN" smtClean="0"/>
              <a:t>‹#›</a:t>
            </a:fld>
            <a:endParaRPr lang="en-IN"/>
          </a:p>
        </p:txBody>
      </p:sp>
    </p:spTree>
    <p:extLst>
      <p:ext uri="{BB962C8B-B14F-4D97-AF65-F5344CB8AC3E}">
        <p14:creationId xmlns:p14="http://schemas.microsoft.com/office/powerpoint/2010/main" val="35334355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4FD0B-56AD-25ED-246E-D1A29E88FB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DB33214-9ED8-B45F-48C6-3A06C4B056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5E0913D-2257-27AA-4DCF-02B23CABC3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1E4EDF-E637-6236-85EF-D96196F080C4}"/>
              </a:ext>
            </a:extLst>
          </p:cNvPr>
          <p:cNvSpPr>
            <a:spLocks noGrp="1"/>
          </p:cNvSpPr>
          <p:nvPr>
            <p:ph type="dt" sz="half" idx="10"/>
          </p:nvPr>
        </p:nvSpPr>
        <p:spPr/>
        <p:txBody>
          <a:bodyPr/>
          <a:lstStyle/>
          <a:p>
            <a:fld id="{88010E70-F61A-480B-A5A0-7927002862BD}" type="datetime1">
              <a:rPr lang="en-IN" smtClean="0"/>
              <a:t>10-03-2025</a:t>
            </a:fld>
            <a:endParaRPr lang="en-IN"/>
          </a:p>
        </p:txBody>
      </p:sp>
      <p:sp>
        <p:nvSpPr>
          <p:cNvPr id="6" name="Footer Placeholder 5">
            <a:extLst>
              <a:ext uri="{FF2B5EF4-FFF2-40B4-BE49-F238E27FC236}">
                <a16:creationId xmlns:a16="http://schemas.microsoft.com/office/drawing/2014/main" id="{654548BC-22C9-CE57-F9C8-AAE20BA1114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AC328A1-D786-B5D2-2B77-833A42E3B484}"/>
              </a:ext>
            </a:extLst>
          </p:cNvPr>
          <p:cNvSpPr>
            <a:spLocks noGrp="1"/>
          </p:cNvSpPr>
          <p:nvPr>
            <p:ph type="sldNum" sz="quarter" idx="12"/>
          </p:nvPr>
        </p:nvSpPr>
        <p:spPr/>
        <p:txBody>
          <a:bodyPr/>
          <a:lstStyle/>
          <a:p>
            <a:fld id="{1B2A20A6-2C11-4CB1-9193-A0D80FC8463A}" type="slidenum">
              <a:rPr lang="en-IN" smtClean="0"/>
              <a:t>‹#›</a:t>
            </a:fld>
            <a:endParaRPr lang="en-IN"/>
          </a:p>
        </p:txBody>
      </p:sp>
    </p:spTree>
    <p:extLst>
      <p:ext uri="{BB962C8B-B14F-4D97-AF65-F5344CB8AC3E}">
        <p14:creationId xmlns:p14="http://schemas.microsoft.com/office/powerpoint/2010/main" val="1885925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6AD8D-207B-7044-B614-D565AACA40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8724A54-D399-3DD3-ECFF-5656D3FA371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E34BE89-765C-1EBB-248E-0C58155FFA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219E5E-BF83-F6B5-680C-7FCCB4DA2DB3}"/>
              </a:ext>
            </a:extLst>
          </p:cNvPr>
          <p:cNvSpPr>
            <a:spLocks noGrp="1"/>
          </p:cNvSpPr>
          <p:nvPr>
            <p:ph type="dt" sz="half" idx="10"/>
          </p:nvPr>
        </p:nvSpPr>
        <p:spPr/>
        <p:txBody>
          <a:bodyPr/>
          <a:lstStyle/>
          <a:p>
            <a:fld id="{7B257B98-C46D-4B85-AC23-6A7D29E62D87}" type="datetime1">
              <a:rPr lang="en-IN" smtClean="0"/>
              <a:t>10-03-2025</a:t>
            </a:fld>
            <a:endParaRPr lang="en-IN"/>
          </a:p>
        </p:txBody>
      </p:sp>
      <p:sp>
        <p:nvSpPr>
          <p:cNvPr id="6" name="Footer Placeholder 5">
            <a:extLst>
              <a:ext uri="{FF2B5EF4-FFF2-40B4-BE49-F238E27FC236}">
                <a16:creationId xmlns:a16="http://schemas.microsoft.com/office/drawing/2014/main" id="{F7C74F30-2B6A-AEB4-16EC-BC00EEF762C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78A0FDD-6F6A-1009-D67F-AA37D1679E63}"/>
              </a:ext>
            </a:extLst>
          </p:cNvPr>
          <p:cNvSpPr>
            <a:spLocks noGrp="1"/>
          </p:cNvSpPr>
          <p:nvPr>
            <p:ph type="sldNum" sz="quarter" idx="12"/>
          </p:nvPr>
        </p:nvSpPr>
        <p:spPr/>
        <p:txBody>
          <a:bodyPr/>
          <a:lstStyle/>
          <a:p>
            <a:fld id="{1B2A20A6-2C11-4CB1-9193-A0D80FC8463A}" type="slidenum">
              <a:rPr lang="en-IN" smtClean="0"/>
              <a:t>‹#›</a:t>
            </a:fld>
            <a:endParaRPr lang="en-IN"/>
          </a:p>
        </p:txBody>
      </p:sp>
    </p:spTree>
    <p:extLst>
      <p:ext uri="{BB962C8B-B14F-4D97-AF65-F5344CB8AC3E}">
        <p14:creationId xmlns:p14="http://schemas.microsoft.com/office/powerpoint/2010/main" val="13081379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5ED4A-B517-8786-80C5-66A5D60E3AD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FD582A0-8C90-D236-344C-A748B17103D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3E268AA-C00C-8080-CFC2-C133EEB97432}"/>
              </a:ext>
            </a:extLst>
          </p:cNvPr>
          <p:cNvSpPr>
            <a:spLocks noGrp="1"/>
          </p:cNvSpPr>
          <p:nvPr>
            <p:ph type="dt" sz="half" idx="10"/>
          </p:nvPr>
        </p:nvSpPr>
        <p:spPr/>
        <p:txBody>
          <a:bodyPr/>
          <a:lstStyle/>
          <a:p>
            <a:fld id="{474459D0-BCFD-42F7-9F47-413DBB93BDAC}" type="datetime1">
              <a:rPr lang="en-IN" smtClean="0"/>
              <a:t>10-03-2025</a:t>
            </a:fld>
            <a:endParaRPr lang="en-IN"/>
          </a:p>
        </p:txBody>
      </p:sp>
      <p:sp>
        <p:nvSpPr>
          <p:cNvPr id="5" name="Footer Placeholder 4">
            <a:extLst>
              <a:ext uri="{FF2B5EF4-FFF2-40B4-BE49-F238E27FC236}">
                <a16:creationId xmlns:a16="http://schemas.microsoft.com/office/drawing/2014/main" id="{532F4E1B-00AD-AFD3-8CEC-C77422E7EB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7DD3F4-68F1-B077-EE39-F361EB35E7D2}"/>
              </a:ext>
            </a:extLst>
          </p:cNvPr>
          <p:cNvSpPr>
            <a:spLocks noGrp="1"/>
          </p:cNvSpPr>
          <p:nvPr>
            <p:ph type="sldNum" sz="quarter" idx="12"/>
          </p:nvPr>
        </p:nvSpPr>
        <p:spPr/>
        <p:txBody>
          <a:bodyPr/>
          <a:lstStyle/>
          <a:p>
            <a:fld id="{1B2A20A6-2C11-4CB1-9193-A0D80FC8463A}" type="slidenum">
              <a:rPr lang="en-IN" smtClean="0"/>
              <a:t>‹#›</a:t>
            </a:fld>
            <a:endParaRPr lang="en-IN"/>
          </a:p>
        </p:txBody>
      </p:sp>
    </p:spTree>
    <p:extLst>
      <p:ext uri="{BB962C8B-B14F-4D97-AF65-F5344CB8AC3E}">
        <p14:creationId xmlns:p14="http://schemas.microsoft.com/office/powerpoint/2010/main" val="8084577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8B932FD-435B-D467-5585-DF9F12E8C6C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CEE6659-9E0E-BDC1-C915-D84CC0929D5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9B2E90C-31C7-EA19-55C5-1B99079ECB8B}"/>
              </a:ext>
            </a:extLst>
          </p:cNvPr>
          <p:cNvSpPr>
            <a:spLocks noGrp="1"/>
          </p:cNvSpPr>
          <p:nvPr>
            <p:ph type="dt" sz="half" idx="10"/>
          </p:nvPr>
        </p:nvSpPr>
        <p:spPr/>
        <p:txBody>
          <a:bodyPr/>
          <a:lstStyle/>
          <a:p>
            <a:fld id="{9060934B-4BDC-4CB4-BDB9-BFF6CAD7B2A8}" type="datetime1">
              <a:rPr lang="en-IN" smtClean="0"/>
              <a:t>10-03-2025</a:t>
            </a:fld>
            <a:endParaRPr lang="en-IN"/>
          </a:p>
        </p:txBody>
      </p:sp>
      <p:sp>
        <p:nvSpPr>
          <p:cNvPr id="5" name="Footer Placeholder 4">
            <a:extLst>
              <a:ext uri="{FF2B5EF4-FFF2-40B4-BE49-F238E27FC236}">
                <a16:creationId xmlns:a16="http://schemas.microsoft.com/office/drawing/2014/main" id="{E8A15EEB-A01A-F13E-60F1-C05B5D6005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46E890-36DE-584F-0818-6AC88D26C9F5}"/>
              </a:ext>
            </a:extLst>
          </p:cNvPr>
          <p:cNvSpPr>
            <a:spLocks noGrp="1"/>
          </p:cNvSpPr>
          <p:nvPr>
            <p:ph type="sldNum" sz="quarter" idx="12"/>
          </p:nvPr>
        </p:nvSpPr>
        <p:spPr/>
        <p:txBody>
          <a:bodyPr/>
          <a:lstStyle/>
          <a:p>
            <a:fld id="{1B2A20A6-2C11-4CB1-9193-A0D80FC8463A}" type="slidenum">
              <a:rPr lang="en-IN" smtClean="0"/>
              <a:t>‹#›</a:t>
            </a:fld>
            <a:endParaRPr lang="en-IN"/>
          </a:p>
        </p:txBody>
      </p:sp>
    </p:spTree>
    <p:extLst>
      <p:ext uri="{BB962C8B-B14F-4D97-AF65-F5344CB8AC3E}">
        <p14:creationId xmlns:p14="http://schemas.microsoft.com/office/powerpoint/2010/main" val="1813640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E2F0FB9-85D7-314A-7868-990DB91E69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7C0D864-B93B-152B-017C-DFE292FA3E5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DE4A768-9F60-DCE0-1C96-34298048662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2E777A-856C-4B0D-A1FB-A20668525992}" type="datetime1">
              <a:rPr lang="en-IN" smtClean="0"/>
              <a:t>10-03-2025</a:t>
            </a:fld>
            <a:endParaRPr lang="en-IN"/>
          </a:p>
        </p:txBody>
      </p:sp>
      <p:sp>
        <p:nvSpPr>
          <p:cNvPr id="5" name="Footer Placeholder 4">
            <a:extLst>
              <a:ext uri="{FF2B5EF4-FFF2-40B4-BE49-F238E27FC236}">
                <a16:creationId xmlns:a16="http://schemas.microsoft.com/office/drawing/2014/main" id="{BC34445C-DE3E-EB82-E099-43AC477889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5E453CB-5C7C-0046-5155-6ACB34DE968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2A20A6-2C11-4CB1-9193-A0D80FC8463A}" type="slidenum">
              <a:rPr lang="en-IN" smtClean="0"/>
              <a:t>‹#›</a:t>
            </a:fld>
            <a:endParaRPr lang="en-IN"/>
          </a:p>
        </p:txBody>
      </p:sp>
    </p:spTree>
    <p:extLst>
      <p:ext uri="{BB962C8B-B14F-4D97-AF65-F5344CB8AC3E}">
        <p14:creationId xmlns:p14="http://schemas.microsoft.com/office/powerpoint/2010/main" val="32474257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7.xml"/><Relationship Id="rId4" Type="http://schemas.openxmlformats.org/officeDocument/2006/relationships/image" Target="../media/image4.emf"/></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e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e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emf"/><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emf"/><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image" Target="../media/image43.emf"/><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45.emf"/><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image" Target="../media/image47.emf"/><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38.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image" Target="../media/image50.emf"/><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image" Target="../media/image52.emf"/><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54.emf"/><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58.emf"/><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59.emf"/><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image" Target="../media/image60.emf"/><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62.emf"/><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63.emf"/><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64.emf"/><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65.emf"/><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67.emf"/><Relationship Id="rId2" Type="http://schemas.openxmlformats.org/officeDocument/2006/relationships/image" Target="../media/image66.emf"/><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72.emf"/><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79.emf"/><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83.emf"/><Relationship Id="rId2" Type="http://schemas.openxmlformats.org/officeDocument/2006/relationships/image" Target="../media/image82.emf"/><Relationship Id="rId1" Type="http://schemas.openxmlformats.org/officeDocument/2006/relationships/slideLayout" Target="../slideLayouts/slideLayout7.xml"/><Relationship Id="rId5" Type="http://schemas.openxmlformats.org/officeDocument/2006/relationships/image" Target="../media/image85.png"/><Relationship Id="rId4" Type="http://schemas.openxmlformats.org/officeDocument/2006/relationships/image" Target="../media/image84.emf"/></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88.emf"/><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89.emf"/><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90.emf"/><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96.emf"/><Relationship Id="rId2" Type="http://schemas.openxmlformats.org/officeDocument/2006/relationships/image" Target="../media/image95.emf"/><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98.emf"/><Relationship Id="rId2" Type="http://schemas.openxmlformats.org/officeDocument/2006/relationships/image" Target="../media/image97.emf"/><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7C20834-D049-93C3-2686-EDB6F06EA89D}"/>
              </a:ext>
            </a:extLst>
          </p:cNvPr>
          <p:cNvSpPr txBox="1">
            <a:spLocks/>
          </p:cNvSpPr>
          <p:nvPr/>
        </p:nvSpPr>
        <p:spPr>
          <a:xfrm>
            <a:off x="1595119" y="493302"/>
            <a:ext cx="9144000" cy="238760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t>Python Programming</a:t>
            </a:r>
          </a:p>
          <a:p>
            <a:pPr algn="ctr"/>
            <a:endParaRPr lang="en-US" b="1" dirty="0"/>
          </a:p>
          <a:p>
            <a:pPr algn="ctr"/>
            <a:r>
              <a:rPr lang="en-US" b="1" dirty="0"/>
              <a:t>Unit 2: Collections &amp; Functions</a:t>
            </a:r>
          </a:p>
        </p:txBody>
      </p:sp>
      <p:sp>
        <p:nvSpPr>
          <p:cNvPr id="3" name="Slide Number Placeholder 2"/>
          <p:cNvSpPr>
            <a:spLocks noGrp="1"/>
          </p:cNvSpPr>
          <p:nvPr>
            <p:ph type="sldNum" sz="quarter" idx="12"/>
          </p:nvPr>
        </p:nvSpPr>
        <p:spPr/>
        <p:txBody>
          <a:bodyPr/>
          <a:lstStyle/>
          <a:p>
            <a:fld id="{1B2A20A6-2C11-4CB1-9193-A0D80FC8463A}" type="slidenum">
              <a:rPr lang="en-IN" smtClean="0"/>
              <a:t>1</a:t>
            </a:fld>
            <a:endParaRPr lang="en-IN"/>
          </a:p>
        </p:txBody>
      </p:sp>
    </p:spTree>
    <p:extLst>
      <p:ext uri="{BB962C8B-B14F-4D97-AF65-F5344CB8AC3E}">
        <p14:creationId xmlns:p14="http://schemas.microsoft.com/office/powerpoint/2010/main" val="37218171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Strings</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2</a:t>
            </a:fld>
            <a:endParaRPr lang="en-US"/>
          </a:p>
        </p:txBody>
      </p:sp>
      <p:sp>
        <p:nvSpPr>
          <p:cNvPr id="8" name="Rectangle 7"/>
          <p:cNvSpPr/>
          <p:nvPr/>
        </p:nvSpPr>
        <p:spPr>
          <a:xfrm>
            <a:off x="218363" y="1708820"/>
            <a:ext cx="11732984" cy="4247317"/>
          </a:xfrm>
          <a:prstGeom prst="rect">
            <a:avLst/>
          </a:prstGeom>
        </p:spPr>
        <p:txBody>
          <a:bodyPr wrap="square">
            <a:spAutoFit/>
          </a:bodyPr>
          <a:lstStyle/>
          <a:p>
            <a:pPr algn="just">
              <a:lnSpc>
                <a:spcPct val="150000"/>
              </a:lnSpc>
            </a:pPr>
            <a:r>
              <a:rPr lang="en-US" b="1" dirty="0">
                <a:solidFill>
                  <a:schemeClr val="accent1">
                    <a:lumMod val="75000"/>
                  </a:schemeClr>
                </a:solidFill>
              </a:rPr>
              <a:t>Python treats strings as contiguous series of characters delimited by single, double or even triple quotes. Python has a built-in string class named "</a:t>
            </a:r>
            <a:r>
              <a:rPr lang="en-US" b="1" dirty="0" err="1">
                <a:solidFill>
                  <a:schemeClr val="accent1">
                    <a:lumMod val="75000"/>
                  </a:schemeClr>
                </a:solidFill>
              </a:rPr>
              <a:t>str</a:t>
            </a:r>
            <a:r>
              <a:rPr lang="en-US" b="1" dirty="0">
                <a:solidFill>
                  <a:schemeClr val="accent1">
                    <a:lumMod val="75000"/>
                  </a:schemeClr>
                </a:solidFill>
              </a:rPr>
              <a:t>" that has many useful features. We can simultaneously declare and define a string by creating a variable of string type. This can be done in several ways which are as follows: </a:t>
            </a:r>
          </a:p>
          <a:p>
            <a:pPr algn="just">
              <a:lnSpc>
                <a:spcPct val="150000"/>
              </a:lnSpc>
            </a:pPr>
            <a:r>
              <a:rPr lang="en-US" b="1" dirty="0">
                <a:solidFill>
                  <a:srgbClr val="C00000"/>
                </a:solidFill>
              </a:rPr>
              <a:t>name = "India" graduate = 'N' country = name nationality = </a:t>
            </a:r>
            <a:r>
              <a:rPr lang="en-US" b="1" dirty="0" err="1">
                <a:solidFill>
                  <a:srgbClr val="C00000"/>
                </a:solidFill>
              </a:rPr>
              <a:t>str</a:t>
            </a:r>
            <a:r>
              <a:rPr lang="en-US" b="1" dirty="0">
                <a:solidFill>
                  <a:srgbClr val="C00000"/>
                </a:solidFill>
              </a:rPr>
              <a:t>("Indian") </a:t>
            </a:r>
          </a:p>
          <a:p>
            <a:pPr algn="just">
              <a:lnSpc>
                <a:spcPct val="150000"/>
              </a:lnSpc>
            </a:pPr>
            <a:endParaRPr lang="en-US" b="1" dirty="0"/>
          </a:p>
          <a:p>
            <a:pPr algn="just">
              <a:lnSpc>
                <a:spcPct val="150000"/>
              </a:lnSpc>
            </a:pPr>
            <a:r>
              <a:rPr lang="en-US" b="1" dirty="0"/>
              <a:t> </a:t>
            </a:r>
            <a:r>
              <a:rPr lang="en-US" b="1" dirty="0">
                <a:solidFill>
                  <a:srgbClr val="C00000"/>
                </a:solidFill>
              </a:rPr>
              <a:t>Indexing: </a:t>
            </a:r>
            <a:r>
              <a:rPr lang="en-US" b="1" dirty="0">
                <a:solidFill>
                  <a:schemeClr val="accent1">
                    <a:lumMod val="75000"/>
                  </a:schemeClr>
                </a:solidFill>
              </a:rPr>
              <a:t>Individual characters in a string are accessed using the subscript ([ ]) operator. The expression in brackets is called an index. The index specifies a member of an ordered set and in this case it specifies the character we want to access from the given set of characters in the string. </a:t>
            </a:r>
          </a:p>
          <a:p>
            <a:pPr algn="just">
              <a:lnSpc>
                <a:spcPct val="150000"/>
              </a:lnSpc>
            </a:pPr>
            <a:r>
              <a:rPr lang="en-US" b="1" dirty="0">
                <a:solidFill>
                  <a:schemeClr val="accent1">
                    <a:lumMod val="75000"/>
                  </a:schemeClr>
                </a:solidFill>
              </a:rPr>
              <a:t>The index of the first character is 0 and that of the last character is n-1 where n is the number of characters in the string. If you try to exceed the bounds (below 0 or above n-1), then an error is raised. </a:t>
            </a:r>
          </a:p>
        </p:txBody>
      </p:sp>
    </p:spTree>
    <p:extLst>
      <p:ext uri="{BB962C8B-B14F-4D97-AF65-F5344CB8AC3E}">
        <p14:creationId xmlns:p14="http://schemas.microsoft.com/office/powerpoint/2010/main" val="5456658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Strings</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3</a:t>
            </a:fld>
            <a:endParaRPr lang="en-US"/>
          </a:p>
        </p:txBody>
      </p:sp>
      <p:sp>
        <p:nvSpPr>
          <p:cNvPr id="8" name="Rectangle 7"/>
          <p:cNvSpPr/>
          <p:nvPr/>
        </p:nvSpPr>
        <p:spPr>
          <a:xfrm>
            <a:off x="171450" y="1568311"/>
            <a:ext cx="11439360" cy="1354217"/>
          </a:xfrm>
          <a:prstGeom prst="rect">
            <a:avLst/>
          </a:prstGeom>
        </p:spPr>
        <p:txBody>
          <a:bodyPr wrap="square">
            <a:spAutoFit/>
          </a:bodyPr>
          <a:lstStyle/>
          <a:p>
            <a:pPr algn="just">
              <a:lnSpc>
                <a:spcPct val="150000"/>
              </a:lnSpc>
            </a:pPr>
            <a:r>
              <a:rPr lang="en-US" b="1" dirty="0">
                <a:solidFill>
                  <a:schemeClr val="accent1">
                    <a:lumMod val="75000"/>
                  </a:schemeClr>
                </a:solidFill>
              </a:rPr>
              <a:t> </a:t>
            </a:r>
            <a:r>
              <a:rPr lang="en-US" b="1" dirty="0">
                <a:solidFill>
                  <a:srgbClr val="C00000"/>
                </a:solidFill>
              </a:rPr>
              <a:t>Traversing a String: </a:t>
            </a:r>
            <a:r>
              <a:rPr lang="en-US" b="1" dirty="0">
                <a:solidFill>
                  <a:schemeClr val="accent1">
                    <a:lumMod val="75000"/>
                  </a:schemeClr>
                </a:solidFill>
              </a:rPr>
              <a:t>A string can be traversed by accessing character(s) from one index to another. For example, the following program uses indexing to traverse a string from first character to the last. </a:t>
            </a:r>
          </a:p>
          <a:p>
            <a:endParaRPr lang="en-US" sz="2800" dirty="0">
              <a:latin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1771502" y="2606608"/>
            <a:ext cx="4727182" cy="3218276"/>
          </a:xfrm>
          <a:prstGeom prst="rect">
            <a:avLst/>
          </a:prstGeom>
        </p:spPr>
      </p:pic>
      <p:sp>
        <p:nvSpPr>
          <p:cNvPr id="9" name="TextBox 8"/>
          <p:cNvSpPr txBox="1"/>
          <p:nvPr/>
        </p:nvSpPr>
        <p:spPr>
          <a:xfrm>
            <a:off x="179399" y="2606608"/>
            <a:ext cx="1207159" cy="369332"/>
          </a:xfrm>
          <a:prstGeom prst="rect">
            <a:avLst/>
          </a:prstGeom>
          <a:noFill/>
        </p:spPr>
        <p:txBody>
          <a:bodyPr wrap="square" rtlCol="0">
            <a:spAutoFit/>
          </a:bodyPr>
          <a:lstStyle/>
          <a:p>
            <a:r>
              <a:rPr lang="en-IN" dirty="0"/>
              <a:t>Example:</a:t>
            </a:r>
          </a:p>
        </p:txBody>
      </p:sp>
    </p:spTree>
    <p:extLst>
      <p:ext uri="{BB962C8B-B14F-4D97-AF65-F5344CB8AC3E}">
        <p14:creationId xmlns:p14="http://schemas.microsoft.com/office/powerpoint/2010/main" val="91145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Concatenating, Appending and Multiplying Strings </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4</a:t>
            </a:fld>
            <a:endParaRPr lang="en-US"/>
          </a:p>
        </p:txBody>
      </p:sp>
      <p:pic>
        <p:nvPicPr>
          <p:cNvPr id="5" name="Picture 4"/>
          <p:cNvPicPr>
            <a:picLocks noChangeAspect="1"/>
          </p:cNvPicPr>
          <p:nvPr/>
        </p:nvPicPr>
        <p:blipFill>
          <a:blip r:embed="rId2"/>
          <a:stretch>
            <a:fillRect/>
          </a:stretch>
        </p:blipFill>
        <p:spPr>
          <a:xfrm>
            <a:off x="456809" y="2166307"/>
            <a:ext cx="5100638" cy="1929465"/>
          </a:xfrm>
          <a:prstGeom prst="rect">
            <a:avLst/>
          </a:prstGeom>
        </p:spPr>
      </p:pic>
      <p:pic>
        <p:nvPicPr>
          <p:cNvPr id="6" name="Picture 5"/>
          <p:cNvPicPr>
            <a:picLocks noChangeAspect="1"/>
          </p:cNvPicPr>
          <p:nvPr/>
        </p:nvPicPr>
        <p:blipFill>
          <a:blip r:embed="rId3"/>
          <a:stretch>
            <a:fillRect/>
          </a:stretch>
        </p:blipFill>
        <p:spPr>
          <a:xfrm>
            <a:off x="2726866" y="4173768"/>
            <a:ext cx="4624988" cy="2408913"/>
          </a:xfrm>
          <a:prstGeom prst="rect">
            <a:avLst/>
          </a:prstGeom>
        </p:spPr>
      </p:pic>
      <p:pic>
        <p:nvPicPr>
          <p:cNvPr id="7" name="Picture 6"/>
          <p:cNvPicPr>
            <a:picLocks noChangeAspect="1"/>
          </p:cNvPicPr>
          <p:nvPr/>
        </p:nvPicPr>
        <p:blipFill>
          <a:blip r:embed="rId4"/>
          <a:stretch>
            <a:fillRect/>
          </a:stretch>
        </p:blipFill>
        <p:spPr>
          <a:xfrm>
            <a:off x="5747637" y="2290615"/>
            <a:ext cx="2495611" cy="1805157"/>
          </a:xfrm>
          <a:prstGeom prst="rect">
            <a:avLst/>
          </a:prstGeom>
        </p:spPr>
      </p:pic>
      <p:sp>
        <p:nvSpPr>
          <p:cNvPr id="9" name="TextBox 8"/>
          <p:cNvSpPr txBox="1"/>
          <p:nvPr/>
        </p:nvSpPr>
        <p:spPr>
          <a:xfrm>
            <a:off x="456809" y="1718979"/>
            <a:ext cx="1520741" cy="369332"/>
          </a:xfrm>
          <a:prstGeom prst="rect">
            <a:avLst/>
          </a:prstGeom>
          <a:noFill/>
        </p:spPr>
        <p:txBody>
          <a:bodyPr wrap="square" rtlCol="0">
            <a:spAutoFit/>
          </a:bodyPr>
          <a:lstStyle/>
          <a:p>
            <a:r>
              <a:rPr lang="en-IN" dirty="0"/>
              <a:t>Examples:</a:t>
            </a:r>
          </a:p>
        </p:txBody>
      </p:sp>
    </p:spTree>
    <p:extLst>
      <p:ext uri="{BB962C8B-B14F-4D97-AF65-F5344CB8AC3E}">
        <p14:creationId xmlns:p14="http://schemas.microsoft.com/office/powerpoint/2010/main" val="36484713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Strings are Immutable </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5</a:t>
            </a:fld>
            <a:endParaRPr lang="en-US"/>
          </a:p>
        </p:txBody>
      </p:sp>
      <p:sp>
        <p:nvSpPr>
          <p:cNvPr id="5" name="Rectangle 4"/>
          <p:cNvSpPr/>
          <p:nvPr/>
        </p:nvSpPr>
        <p:spPr>
          <a:xfrm>
            <a:off x="141805" y="1497852"/>
            <a:ext cx="11852274" cy="923330"/>
          </a:xfrm>
          <a:prstGeom prst="rect">
            <a:avLst/>
          </a:prstGeom>
        </p:spPr>
        <p:txBody>
          <a:bodyPr wrap="square">
            <a:spAutoFit/>
          </a:bodyPr>
          <a:lstStyle/>
          <a:p>
            <a:pPr algn="just">
              <a:lnSpc>
                <a:spcPct val="150000"/>
              </a:lnSpc>
            </a:pPr>
            <a:r>
              <a:rPr lang="en-US" b="1" dirty="0">
                <a:solidFill>
                  <a:schemeClr val="accent1">
                    <a:lumMod val="75000"/>
                  </a:schemeClr>
                </a:solidFill>
                <a:cs typeface="Simplified Arabic" panose="02020603050405020304" pitchFamily="18" charset="-78"/>
              </a:rPr>
              <a:t>Python strings are immutable which means that once created they cannot be changed. Whenever you try to modify an existing string variable, a new string is created.</a:t>
            </a:r>
          </a:p>
        </p:txBody>
      </p:sp>
      <p:sp>
        <p:nvSpPr>
          <p:cNvPr id="9" name="TextBox 8"/>
          <p:cNvSpPr txBox="1"/>
          <p:nvPr/>
        </p:nvSpPr>
        <p:spPr>
          <a:xfrm>
            <a:off x="141805" y="2368530"/>
            <a:ext cx="1211982" cy="369332"/>
          </a:xfrm>
          <a:prstGeom prst="rect">
            <a:avLst/>
          </a:prstGeom>
          <a:noFill/>
        </p:spPr>
        <p:txBody>
          <a:bodyPr wrap="square" rtlCol="0">
            <a:spAutoFit/>
          </a:bodyPr>
          <a:lstStyle/>
          <a:p>
            <a:r>
              <a:rPr lang="en-IN" dirty="0"/>
              <a:t>Example:</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89" y="2522306"/>
            <a:ext cx="4483201" cy="12034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91" y="3716976"/>
            <a:ext cx="4483200" cy="29694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651215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String Formatting Operator </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6</a:t>
            </a:fld>
            <a:endParaRPr lang="en-US"/>
          </a:p>
        </p:txBody>
      </p:sp>
      <p:sp>
        <p:nvSpPr>
          <p:cNvPr id="5" name="Rectangle 4"/>
          <p:cNvSpPr/>
          <p:nvPr/>
        </p:nvSpPr>
        <p:spPr>
          <a:xfrm>
            <a:off x="142876" y="1550504"/>
            <a:ext cx="11827452" cy="2169825"/>
          </a:xfrm>
          <a:prstGeom prst="rect">
            <a:avLst/>
          </a:prstGeom>
        </p:spPr>
        <p:txBody>
          <a:bodyPr wrap="square">
            <a:spAutoFit/>
          </a:bodyPr>
          <a:lstStyle/>
          <a:p>
            <a:pPr algn="just">
              <a:lnSpc>
                <a:spcPct val="150000"/>
              </a:lnSpc>
            </a:pPr>
            <a:r>
              <a:rPr lang="en-US" b="1" dirty="0">
                <a:solidFill>
                  <a:schemeClr val="accent1">
                    <a:lumMod val="75000"/>
                  </a:schemeClr>
                </a:solidFill>
              </a:rPr>
              <a:t>The % operator takes a format string on the left (that has %d, %s, etc) and the corresponding values in a tuple (will be discussed in subsequent chapter) on the right. The format operator, % allow users to construct strings, replacing parts of the strings with the data stored in variables. The syntax for the string formatting operation is: </a:t>
            </a:r>
          </a:p>
          <a:p>
            <a:pPr algn="just">
              <a:lnSpc>
                <a:spcPct val="150000"/>
              </a:lnSpc>
            </a:pPr>
            <a:r>
              <a:rPr lang="en-US" b="1" dirty="0">
                <a:solidFill>
                  <a:srgbClr val="C00000"/>
                </a:solidFill>
              </a:rPr>
              <a:t>"&lt;Format&gt;" % (&lt;Values&gt;) </a:t>
            </a:r>
          </a:p>
        </p:txBody>
      </p:sp>
      <p:pic>
        <p:nvPicPr>
          <p:cNvPr id="6" name="Picture 5"/>
          <p:cNvPicPr>
            <a:picLocks noChangeAspect="1"/>
          </p:cNvPicPr>
          <p:nvPr/>
        </p:nvPicPr>
        <p:blipFill>
          <a:blip r:embed="rId2"/>
          <a:stretch>
            <a:fillRect/>
          </a:stretch>
        </p:blipFill>
        <p:spPr>
          <a:xfrm>
            <a:off x="1298654" y="3742527"/>
            <a:ext cx="6198958" cy="2578735"/>
          </a:xfrm>
          <a:prstGeom prst="rect">
            <a:avLst/>
          </a:prstGeom>
        </p:spPr>
      </p:pic>
      <p:sp>
        <p:nvSpPr>
          <p:cNvPr id="8" name="TextBox 7"/>
          <p:cNvSpPr txBox="1"/>
          <p:nvPr/>
        </p:nvSpPr>
        <p:spPr>
          <a:xfrm>
            <a:off x="142875" y="3714475"/>
            <a:ext cx="1342611" cy="369332"/>
          </a:xfrm>
          <a:prstGeom prst="rect">
            <a:avLst/>
          </a:prstGeom>
          <a:noFill/>
        </p:spPr>
        <p:txBody>
          <a:bodyPr wrap="square" rtlCol="0">
            <a:spAutoFit/>
          </a:bodyPr>
          <a:lstStyle/>
          <a:p>
            <a:r>
              <a:rPr lang="en-IN" dirty="0"/>
              <a:t>Example:</a:t>
            </a:r>
          </a:p>
        </p:txBody>
      </p:sp>
    </p:spTree>
    <p:extLst>
      <p:ext uri="{BB962C8B-B14F-4D97-AF65-F5344CB8AC3E}">
        <p14:creationId xmlns:p14="http://schemas.microsoft.com/office/powerpoint/2010/main" val="3678608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Built-in String Methods and Functions </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7</a:t>
            </a:fld>
            <a:endParaRPr lang="en-US"/>
          </a:p>
        </p:txBody>
      </p:sp>
      <p:pic>
        <p:nvPicPr>
          <p:cNvPr id="20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661" y="4193332"/>
            <a:ext cx="9211603" cy="21837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9096" y="1791428"/>
            <a:ext cx="9294732" cy="24019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212073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Built-in String Methods and Functions </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8</a:t>
            </a:fld>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766" y="1696741"/>
            <a:ext cx="8801100" cy="45921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673105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Built-in String Methods and Functions </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9</a:t>
            </a:fld>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3075" y="1651379"/>
            <a:ext cx="7400925" cy="47767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604351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Slice Operation</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10</a:t>
            </a:fld>
            <a:endParaRPr lang="en-US"/>
          </a:p>
        </p:txBody>
      </p:sp>
      <p:sp>
        <p:nvSpPr>
          <p:cNvPr id="5" name="Rectangle 4"/>
          <p:cNvSpPr/>
          <p:nvPr/>
        </p:nvSpPr>
        <p:spPr>
          <a:xfrm>
            <a:off x="110532" y="1526402"/>
            <a:ext cx="11725275" cy="923330"/>
          </a:xfrm>
          <a:prstGeom prst="rect">
            <a:avLst/>
          </a:prstGeom>
        </p:spPr>
        <p:txBody>
          <a:bodyPr wrap="square">
            <a:spAutoFit/>
          </a:bodyPr>
          <a:lstStyle/>
          <a:p>
            <a:pPr algn="just">
              <a:lnSpc>
                <a:spcPct val="150000"/>
              </a:lnSpc>
            </a:pPr>
            <a:r>
              <a:rPr lang="en-US" b="1" dirty="0">
                <a:solidFill>
                  <a:schemeClr val="accent1">
                    <a:lumMod val="75000"/>
                  </a:schemeClr>
                </a:solidFill>
              </a:rPr>
              <a:t>A substring of a string is called a </a:t>
            </a:r>
            <a:r>
              <a:rPr lang="en-US" b="1" i="1" dirty="0">
                <a:solidFill>
                  <a:srgbClr val="C00000"/>
                </a:solidFill>
              </a:rPr>
              <a:t>slice</a:t>
            </a:r>
            <a:r>
              <a:rPr lang="en-US" b="1" dirty="0">
                <a:solidFill>
                  <a:schemeClr val="accent1">
                    <a:lumMod val="75000"/>
                  </a:schemeClr>
                </a:solidFill>
              </a:rPr>
              <a:t>. The slice operation is used to refer to sub-parts of sequences and strings. You can take subset of string from original string by using [ ] operator also known as </a:t>
            </a:r>
            <a:r>
              <a:rPr lang="en-US" b="1" i="1" dirty="0">
                <a:solidFill>
                  <a:schemeClr val="accent1">
                    <a:lumMod val="75000"/>
                  </a:schemeClr>
                </a:solidFill>
              </a:rPr>
              <a:t>slicing operator</a:t>
            </a:r>
            <a:r>
              <a:rPr lang="en-US" b="1" dirty="0">
                <a:solidFill>
                  <a:schemeClr val="accent1">
                    <a:lumMod val="75000"/>
                  </a:schemeClr>
                </a:solidFill>
              </a:rPr>
              <a:t>. </a:t>
            </a:r>
          </a:p>
        </p:txBody>
      </p:sp>
      <p:pic>
        <p:nvPicPr>
          <p:cNvPr id="6" name="Picture 5"/>
          <p:cNvPicPr>
            <a:picLocks noChangeAspect="1"/>
          </p:cNvPicPr>
          <p:nvPr/>
        </p:nvPicPr>
        <p:blipFill>
          <a:blip r:embed="rId2"/>
          <a:stretch>
            <a:fillRect/>
          </a:stretch>
        </p:blipFill>
        <p:spPr>
          <a:xfrm>
            <a:off x="1308195" y="2597817"/>
            <a:ext cx="7112474" cy="946118"/>
          </a:xfrm>
          <a:prstGeom prst="rect">
            <a:avLst/>
          </a:prstGeom>
        </p:spPr>
      </p:pic>
      <p:sp>
        <p:nvSpPr>
          <p:cNvPr id="9" name="TextBox 8"/>
          <p:cNvSpPr txBox="1"/>
          <p:nvPr/>
        </p:nvSpPr>
        <p:spPr>
          <a:xfrm>
            <a:off x="238081" y="3773813"/>
            <a:ext cx="2414319" cy="369332"/>
          </a:xfrm>
          <a:prstGeom prst="rect">
            <a:avLst/>
          </a:prstGeom>
          <a:noFill/>
        </p:spPr>
        <p:txBody>
          <a:bodyPr wrap="square" rtlCol="0">
            <a:spAutoFit/>
          </a:bodyPr>
          <a:lstStyle/>
          <a:p>
            <a:r>
              <a:rPr lang="en-IN" dirty="0"/>
              <a:t>Examples:</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5241" y="3817317"/>
            <a:ext cx="7466747" cy="2639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898935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Specifying Stride while Slicing Strings</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11</a:t>
            </a:fld>
            <a:endParaRPr lang="en-US"/>
          </a:p>
        </p:txBody>
      </p:sp>
      <p:sp>
        <p:nvSpPr>
          <p:cNvPr id="6" name="Rectangle 5"/>
          <p:cNvSpPr/>
          <p:nvPr/>
        </p:nvSpPr>
        <p:spPr>
          <a:xfrm>
            <a:off x="107009" y="1516674"/>
            <a:ext cx="11844338" cy="1754326"/>
          </a:xfrm>
          <a:prstGeom prst="rect">
            <a:avLst/>
          </a:prstGeom>
        </p:spPr>
        <p:txBody>
          <a:bodyPr wrap="square">
            <a:spAutoFit/>
          </a:bodyPr>
          <a:lstStyle/>
          <a:p>
            <a:pPr algn="just">
              <a:lnSpc>
                <a:spcPct val="150000"/>
              </a:lnSpc>
            </a:pPr>
            <a:r>
              <a:rPr lang="en-US" b="1" dirty="0">
                <a:solidFill>
                  <a:schemeClr val="accent1">
                    <a:lumMod val="75000"/>
                  </a:schemeClr>
                </a:solidFill>
              </a:rPr>
              <a:t>In the slice operation, you can specify a third argument as the </a:t>
            </a:r>
            <a:r>
              <a:rPr lang="en-US" b="1" i="1" dirty="0">
                <a:solidFill>
                  <a:srgbClr val="C00000"/>
                </a:solidFill>
              </a:rPr>
              <a:t>stride</a:t>
            </a:r>
            <a:r>
              <a:rPr lang="en-US" b="1" dirty="0">
                <a:solidFill>
                  <a:schemeClr val="accent1">
                    <a:lumMod val="75000"/>
                  </a:schemeClr>
                </a:solidFill>
              </a:rPr>
              <a:t>, which refers to the number of characters to move forward after the first character is retrieved from the string. By default the value of stride is 1, so in all the above examples where he had not specified the stride, it used the value of 1 which means that every character between two index numbers is retrieved. </a:t>
            </a:r>
          </a:p>
        </p:txBody>
      </p:sp>
      <p:pic>
        <p:nvPicPr>
          <p:cNvPr id="7" name="Picture 6"/>
          <p:cNvPicPr>
            <a:picLocks noChangeAspect="1"/>
          </p:cNvPicPr>
          <p:nvPr/>
        </p:nvPicPr>
        <p:blipFill>
          <a:blip r:embed="rId2"/>
          <a:stretch>
            <a:fillRect/>
          </a:stretch>
        </p:blipFill>
        <p:spPr>
          <a:xfrm>
            <a:off x="1506040" y="3433494"/>
            <a:ext cx="6914629" cy="2502575"/>
          </a:xfrm>
          <a:prstGeom prst="rect">
            <a:avLst/>
          </a:prstGeom>
        </p:spPr>
      </p:pic>
      <p:sp>
        <p:nvSpPr>
          <p:cNvPr id="9" name="TextBox 8"/>
          <p:cNvSpPr txBox="1"/>
          <p:nvPr/>
        </p:nvSpPr>
        <p:spPr>
          <a:xfrm>
            <a:off x="173831" y="3453562"/>
            <a:ext cx="2414319" cy="369332"/>
          </a:xfrm>
          <a:prstGeom prst="rect">
            <a:avLst/>
          </a:prstGeom>
          <a:noFill/>
        </p:spPr>
        <p:txBody>
          <a:bodyPr wrap="square" rtlCol="0">
            <a:spAutoFit/>
          </a:bodyPr>
          <a:lstStyle/>
          <a:p>
            <a:r>
              <a:rPr lang="en-IN" dirty="0"/>
              <a:t>Examples:</a:t>
            </a:r>
          </a:p>
        </p:txBody>
      </p:sp>
    </p:spTree>
    <p:extLst>
      <p:ext uri="{BB962C8B-B14F-4D97-AF65-F5344CB8AC3E}">
        <p14:creationId xmlns:p14="http://schemas.microsoft.com/office/powerpoint/2010/main" val="30090251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err="1"/>
              <a:t>ord</a:t>
            </a:r>
            <a:r>
              <a:rPr lang="en-US" sz="3200" b="1" dirty="0"/>
              <a:t>() and </a:t>
            </a:r>
            <a:r>
              <a:rPr lang="en-US" sz="3200" b="1" dirty="0" err="1"/>
              <a:t>chr</a:t>
            </a:r>
            <a:r>
              <a:rPr lang="en-US" sz="3200" b="1" dirty="0"/>
              <a:t>() Functions </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12</a:t>
            </a:fld>
            <a:endParaRPr lang="en-US"/>
          </a:p>
        </p:txBody>
      </p:sp>
      <p:sp>
        <p:nvSpPr>
          <p:cNvPr id="5" name="Rectangle 4"/>
          <p:cNvSpPr/>
          <p:nvPr/>
        </p:nvSpPr>
        <p:spPr>
          <a:xfrm>
            <a:off x="178130" y="1577429"/>
            <a:ext cx="11580482" cy="923330"/>
          </a:xfrm>
          <a:prstGeom prst="rect">
            <a:avLst/>
          </a:prstGeom>
        </p:spPr>
        <p:txBody>
          <a:bodyPr wrap="square">
            <a:spAutoFit/>
          </a:bodyPr>
          <a:lstStyle/>
          <a:p>
            <a:pPr algn="just">
              <a:lnSpc>
                <a:spcPct val="150000"/>
              </a:lnSpc>
            </a:pPr>
            <a:r>
              <a:rPr lang="en-US" b="1" dirty="0" err="1">
                <a:solidFill>
                  <a:srgbClr val="C00000"/>
                </a:solidFill>
              </a:rPr>
              <a:t>ord</a:t>
            </a:r>
            <a:r>
              <a:rPr lang="en-US" b="1" dirty="0">
                <a:solidFill>
                  <a:srgbClr val="C00000"/>
                </a:solidFill>
              </a:rPr>
              <a:t>() </a:t>
            </a:r>
            <a:r>
              <a:rPr lang="en-US" b="1" dirty="0">
                <a:solidFill>
                  <a:schemeClr val="accent1">
                    <a:lumMod val="75000"/>
                  </a:schemeClr>
                </a:solidFill>
              </a:rPr>
              <a:t>function returns the ASCII code of the character and </a:t>
            </a:r>
            <a:r>
              <a:rPr lang="en-US" b="1" dirty="0" err="1">
                <a:solidFill>
                  <a:srgbClr val="C00000"/>
                </a:solidFill>
              </a:rPr>
              <a:t>chr</a:t>
            </a:r>
            <a:r>
              <a:rPr lang="en-US" b="1" dirty="0">
                <a:solidFill>
                  <a:srgbClr val="C00000"/>
                </a:solidFill>
              </a:rPr>
              <a:t>() </a:t>
            </a:r>
            <a:r>
              <a:rPr lang="en-US" b="1" dirty="0">
                <a:solidFill>
                  <a:schemeClr val="accent1">
                    <a:lumMod val="75000"/>
                  </a:schemeClr>
                </a:solidFill>
              </a:rPr>
              <a:t>function returns character represented by a ASCII number</a:t>
            </a:r>
            <a:r>
              <a:rPr lang="en-US" dirty="0"/>
              <a:t>. </a:t>
            </a:r>
          </a:p>
        </p:txBody>
      </p:sp>
      <p:sp>
        <p:nvSpPr>
          <p:cNvPr id="7" name="Rectangle 6"/>
          <p:cNvSpPr/>
          <p:nvPr/>
        </p:nvSpPr>
        <p:spPr>
          <a:xfrm>
            <a:off x="178130" y="2880376"/>
            <a:ext cx="11823370" cy="1338828"/>
          </a:xfrm>
          <a:prstGeom prst="rect">
            <a:avLst/>
          </a:prstGeom>
        </p:spPr>
        <p:txBody>
          <a:bodyPr wrap="square">
            <a:spAutoFit/>
          </a:bodyPr>
          <a:lstStyle/>
          <a:p>
            <a:pPr algn="just">
              <a:lnSpc>
                <a:spcPct val="150000"/>
              </a:lnSpc>
            </a:pPr>
            <a:r>
              <a:rPr lang="en-US" b="1" dirty="0">
                <a:solidFill>
                  <a:srgbClr val="C00000"/>
                </a:solidFill>
              </a:rPr>
              <a:t>in and not in Operators </a:t>
            </a:r>
          </a:p>
          <a:p>
            <a:pPr algn="just">
              <a:lnSpc>
                <a:spcPct val="150000"/>
              </a:lnSpc>
            </a:pPr>
            <a:r>
              <a:rPr lang="en-US" b="1" dirty="0">
                <a:solidFill>
                  <a:schemeClr val="accent1">
                    <a:lumMod val="75000"/>
                  </a:schemeClr>
                </a:solidFill>
              </a:rPr>
              <a:t>in and not in operators can be used with strings to determine whether a string is present in another string. Therefore, the in and not in operator are also known as membership operators. </a:t>
            </a:r>
          </a:p>
        </p:txBody>
      </p:sp>
      <p:pic>
        <p:nvPicPr>
          <p:cNvPr id="8" name="Picture 7"/>
          <p:cNvPicPr>
            <a:picLocks noChangeAspect="1"/>
          </p:cNvPicPr>
          <p:nvPr/>
        </p:nvPicPr>
        <p:blipFill>
          <a:blip r:embed="rId2"/>
          <a:stretch>
            <a:fillRect/>
          </a:stretch>
        </p:blipFill>
        <p:spPr>
          <a:xfrm>
            <a:off x="3268706" y="2173060"/>
            <a:ext cx="8241475" cy="923330"/>
          </a:xfrm>
          <a:prstGeom prst="rect">
            <a:avLst/>
          </a:prstGeom>
        </p:spPr>
      </p:pic>
      <p:sp>
        <p:nvSpPr>
          <p:cNvPr id="11" name="TextBox 10"/>
          <p:cNvSpPr txBox="1"/>
          <p:nvPr/>
        </p:nvSpPr>
        <p:spPr>
          <a:xfrm>
            <a:off x="178130" y="4261091"/>
            <a:ext cx="2414319" cy="369332"/>
          </a:xfrm>
          <a:prstGeom prst="rect">
            <a:avLst/>
          </a:prstGeom>
          <a:noFill/>
        </p:spPr>
        <p:txBody>
          <a:bodyPr wrap="square" rtlCol="0">
            <a:spAutoFit/>
          </a:bodyPr>
          <a:lstStyle/>
          <a:p>
            <a:r>
              <a:rPr lang="en-IN" dirty="0"/>
              <a:t>Examples:</a:t>
            </a:r>
          </a:p>
        </p:txBody>
      </p:sp>
      <p:sp>
        <p:nvSpPr>
          <p:cNvPr id="12" name="TextBox 11"/>
          <p:cNvSpPr txBox="1"/>
          <p:nvPr/>
        </p:nvSpPr>
        <p:spPr>
          <a:xfrm>
            <a:off x="2064328" y="2096897"/>
            <a:ext cx="1695698" cy="369332"/>
          </a:xfrm>
          <a:prstGeom prst="rect">
            <a:avLst/>
          </a:prstGeom>
          <a:noFill/>
        </p:spPr>
        <p:txBody>
          <a:bodyPr wrap="square" rtlCol="0">
            <a:spAutoFit/>
          </a:bodyPr>
          <a:lstStyle/>
          <a:p>
            <a:r>
              <a:rPr lang="en-IN" dirty="0"/>
              <a:t>Examples:</a:t>
            </a: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5289" y="4307362"/>
            <a:ext cx="8389452" cy="19257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761749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Comparing Strings</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13</a:t>
            </a:fld>
            <a:endParaRPr lang="en-US"/>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74" y="1767164"/>
            <a:ext cx="9348787" cy="4337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229095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Iterating String </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14</a:t>
            </a:fld>
            <a:endParaRPr lang="en-US"/>
          </a:p>
        </p:txBody>
      </p:sp>
      <p:sp>
        <p:nvSpPr>
          <p:cNvPr id="5" name="Rectangle 4"/>
          <p:cNvSpPr/>
          <p:nvPr/>
        </p:nvSpPr>
        <p:spPr>
          <a:xfrm>
            <a:off x="238291" y="1793391"/>
            <a:ext cx="11506033" cy="369332"/>
          </a:xfrm>
          <a:prstGeom prst="rect">
            <a:avLst/>
          </a:prstGeom>
        </p:spPr>
        <p:txBody>
          <a:bodyPr wrap="square">
            <a:spAutoFit/>
          </a:bodyPr>
          <a:lstStyle/>
          <a:p>
            <a:pPr algn="just"/>
            <a:r>
              <a:rPr lang="en-US" b="1" dirty="0">
                <a:solidFill>
                  <a:schemeClr val="accent1">
                    <a:lumMod val="75000"/>
                  </a:schemeClr>
                </a:solidFill>
              </a:rPr>
              <a:t>String is a sequence type (sequence of characters). You can iterate through the string using for loop. </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2920" y="2625348"/>
            <a:ext cx="3475512" cy="20060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1563" y="2644661"/>
            <a:ext cx="3571875" cy="20060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TextBox 8"/>
          <p:cNvSpPr txBox="1"/>
          <p:nvPr/>
        </p:nvSpPr>
        <p:spPr>
          <a:xfrm>
            <a:off x="213056" y="2459995"/>
            <a:ext cx="2414319" cy="369332"/>
          </a:xfrm>
          <a:prstGeom prst="rect">
            <a:avLst/>
          </a:prstGeom>
          <a:noFill/>
        </p:spPr>
        <p:txBody>
          <a:bodyPr wrap="square" rtlCol="0">
            <a:spAutoFit/>
          </a:bodyPr>
          <a:lstStyle/>
          <a:p>
            <a:r>
              <a:rPr lang="en-IN" dirty="0"/>
              <a:t>Examples:</a:t>
            </a:r>
          </a:p>
        </p:txBody>
      </p:sp>
    </p:spTree>
    <p:extLst>
      <p:ext uri="{BB962C8B-B14F-4D97-AF65-F5344CB8AC3E}">
        <p14:creationId xmlns:p14="http://schemas.microsoft.com/office/powerpoint/2010/main" val="35726928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The String Module</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15</a:t>
            </a:fld>
            <a:endParaRPr lang="en-US"/>
          </a:p>
        </p:txBody>
      </p:sp>
      <p:sp>
        <p:nvSpPr>
          <p:cNvPr id="6" name="Rectangle 5"/>
          <p:cNvSpPr/>
          <p:nvPr/>
        </p:nvSpPr>
        <p:spPr>
          <a:xfrm>
            <a:off x="205949" y="1487827"/>
            <a:ext cx="11745398" cy="923330"/>
          </a:xfrm>
          <a:prstGeom prst="rect">
            <a:avLst/>
          </a:prstGeom>
        </p:spPr>
        <p:txBody>
          <a:bodyPr wrap="square">
            <a:spAutoFit/>
          </a:bodyPr>
          <a:lstStyle/>
          <a:p>
            <a:pPr algn="just">
              <a:lnSpc>
                <a:spcPct val="150000"/>
              </a:lnSpc>
            </a:pPr>
            <a:r>
              <a:rPr lang="en-US" b="1" dirty="0">
                <a:solidFill>
                  <a:schemeClr val="accent1">
                    <a:lumMod val="75000"/>
                  </a:schemeClr>
                </a:solidFill>
              </a:rPr>
              <a:t>The string module consist of a number of useful constants, classes and functions (some of which are deprecated). These functions are used to manipulate strings.</a:t>
            </a:r>
          </a:p>
        </p:txBody>
      </p:sp>
      <p:sp>
        <p:nvSpPr>
          <p:cNvPr id="9" name="TextBox 8"/>
          <p:cNvSpPr txBox="1"/>
          <p:nvPr/>
        </p:nvSpPr>
        <p:spPr>
          <a:xfrm>
            <a:off x="213055" y="2411901"/>
            <a:ext cx="2414319" cy="369332"/>
          </a:xfrm>
          <a:prstGeom prst="rect">
            <a:avLst/>
          </a:prstGeom>
          <a:noFill/>
        </p:spPr>
        <p:txBody>
          <a:bodyPr wrap="square" rtlCol="0">
            <a:spAutoFit/>
          </a:bodyPr>
          <a:lstStyle/>
          <a:p>
            <a:r>
              <a:rPr lang="en-IN" dirty="0"/>
              <a:t>Examples:</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0835" y="2500953"/>
            <a:ext cx="8376928" cy="38203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497040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Working with Constants in String Module </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16</a:t>
            </a:fld>
            <a:endParaRPr lang="en-US"/>
          </a:p>
        </p:txBody>
      </p:sp>
      <p:sp>
        <p:nvSpPr>
          <p:cNvPr id="5" name="Rectangle 4"/>
          <p:cNvSpPr/>
          <p:nvPr/>
        </p:nvSpPr>
        <p:spPr>
          <a:xfrm>
            <a:off x="188119" y="1598745"/>
            <a:ext cx="11763228" cy="1338828"/>
          </a:xfrm>
          <a:prstGeom prst="rect">
            <a:avLst/>
          </a:prstGeom>
        </p:spPr>
        <p:txBody>
          <a:bodyPr wrap="square">
            <a:spAutoFit/>
          </a:bodyPr>
          <a:lstStyle/>
          <a:p>
            <a:pPr algn="just">
              <a:lnSpc>
                <a:spcPct val="150000"/>
              </a:lnSpc>
            </a:pPr>
            <a:r>
              <a:rPr lang="en-US" b="1" dirty="0">
                <a:solidFill>
                  <a:schemeClr val="accent1">
                    <a:lumMod val="75000"/>
                  </a:schemeClr>
                </a:solidFill>
              </a:rPr>
              <a:t>You can use the constants defined in the string module along with the find function to classify characters. For example, if find(lowercase, </a:t>
            </a:r>
            <a:r>
              <a:rPr lang="en-US" b="1" dirty="0" err="1">
                <a:solidFill>
                  <a:schemeClr val="accent1">
                    <a:lumMod val="75000"/>
                  </a:schemeClr>
                </a:solidFill>
              </a:rPr>
              <a:t>ch</a:t>
            </a:r>
            <a:r>
              <a:rPr lang="en-US" b="1" dirty="0">
                <a:solidFill>
                  <a:schemeClr val="accent1">
                    <a:lumMod val="75000"/>
                  </a:schemeClr>
                </a:solidFill>
              </a:rPr>
              <a:t>) returns a value except -1, then it means that </a:t>
            </a:r>
            <a:r>
              <a:rPr lang="en-US" b="1" dirty="0" err="1">
                <a:solidFill>
                  <a:schemeClr val="accent1">
                    <a:lumMod val="75000"/>
                  </a:schemeClr>
                </a:solidFill>
              </a:rPr>
              <a:t>ch</a:t>
            </a:r>
            <a:r>
              <a:rPr lang="en-US" b="1" dirty="0">
                <a:solidFill>
                  <a:schemeClr val="accent1">
                    <a:lumMod val="75000"/>
                  </a:schemeClr>
                </a:solidFill>
              </a:rPr>
              <a:t> must be a lowercase character. An alternate way to do the same job is to use the in operator or even the comparison operation. </a:t>
            </a:r>
          </a:p>
        </p:txBody>
      </p:sp>
      <p:pic>
        <p:nvPicPr>
          <p:cNvPr id="7" name="Picture 6"/>
          <p:cNvPicPr>
            <a:picLocks noChangeAspect="1"/>
          </p:cNvPicPr>
          <p:nvPr/>
        </p:nvPicPr>
        <p:blipFill>
          <a:blip r:embed="rId2"/>
          <a:stretch>
            <a:fillRect/>
          </a:stretch>
        </p:blipFill>
        <p:spPr>
          <a:xfrm>
            <a:off x="1610864" y="3060860"/>
            <a:ext cx="7710557" cy="1873334"/>
          </a:xfrm>
          <a:prstGeom prst="rect">
            <a:avLst/>
          </a:prstGeom>
        </p:spPr>
      </p:pic>
      <p:sp>
        <p:nvSpPr>
          <p:cNvPr id="9" name="TextBox 8"/>
          <p:cNvSpPr txBox="1"/>
          <p:nvPr/>
        </p:nvSpPr>
        <p:spPr>
          <a:xfrm>
            <a:off x="188119" y="3060859"/>
            <a:ext cx="2414319" cy="369332"/>
          </a:xfrm>
          <a:prstGeom prst="rect">
            <a:avLst/>
          </a:prstGeom>
          <a:noFill/>
        </p:spPr>
        <p:txBody>
          <a:bodyPr wrap="square" rtlCol="0">
            <a:spAutoFit/>
          </a:bodyPr>
          <a:lstStyle/>
          <a:p>
            <a:r>
              <a:rPr lang="en-IN" dirty="0"/>
              <a:t>Examples:</a:t>
            </a:r>
          </a:p>
        </p:txBody>
      </p:sp>
    </p:spTree>
    <p:extLst>
      <p:ext uri="{BB962C8B-B14F-4D97-AF65-F5344CB8AC3E}">
        <p14:creationId xmlns:p14="http://schemas.microsoft.com/office/powerpoint/2010/main" val="39543253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Lists</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17</a:t>
            </a:fld>
            <a:endParaRPr lang="en-US"/>
          </a:p>
        </p:txBody>
      </p:sp>
      <p:sp>
        <p:nvSpPr>
          <p:cNvPr id="6" name="Rectangle 5"/>
          <p:cNvSpPr/>
          <p:nvPr/>
        </p:nvSpPr>
        <p:spPr>
          <a:xfrm>
            <a:off x="166522" y="1714411"/>
            <a:ext cx="11129963" cy="1754326"/>
          </a:xfrm>
          <a:prstGeom prst="rect">
            <a:avLst/>
          </a:prstGeom>
        </p:spPr>
        <p:txBody>
          <a:bodyPr wrap="square">
            <a:spAutoFit/>
          </a:bodyPr>
          <a:lstStyle/>
          <a:p>
            <a:pPr algn="just">
              <a:lnSpc>
                <a:spcPct val="150000"/>
              </a:lnSpc>
            </a:pPr>
            <a:r>
              <a:rPr lang="en-US" b="1" i="1" dirty="0">
                <a:solidFill>
                  <a:srgbClr val="C00000"/>
                </a:solidFill>
              </a:rPr>
              <a:t>List</a:t>
            </a:r>
            <a:r>
              <a:rPr lang="en-US" b="1" i="1" dirty="0">
                <a:solidFill>
                  <a:schemeClr val="accent1">
                    <a:lumMod val="75000"/>
                  </a:schemeClr>
                </a:solidFill>
              </a:rPr>
              <a:t> </a:t>
            </a:r>
            <a:r>
              <a:rPr lang="en-US" b="1" dirty="0">
                <a:solidFill>
                  <a:schemeClr val="accent1">
                    <a:lumMod val="75000"/>
                  </a:schemeClr>
                </a:solidFill>
              </a:rPr>
              <a:t>is a versatile data type available in Python. It is a sequence in which elements are written as a list of</a:t>
            </a:r>
          </a:p>
          <a:p>
            <a:pPr algn="just">
              <a:lnSpc>
                <a:spcPct val="150000"/>
              </a:lnSpc>
            </a:pPr>
            <a:r>
              <a:rPr lang="en-US" b="1" dirty="0">
                <a:solidFill>
                  <a:schemeClr val="accent1">
                    <a:lumMod val="75000"/>
                  </a:schemeClr>
                </a:solidFill>
              </a:rPr>
              <a:t>comma-separated values (items) between square brackets. The key feature of a list is that it can have elements that belong to different data types. The syntax of defining a list can be given as,</a:t>
            </a:r>
          </a:p>
          <a:p>
            <a:pPr algn="just">
              <a:lnSpc>
                <a:spcPct val="150000"/>
              </a:lnSpc>
            </a:pPr>
            <a:r>
              <a:rPr lang="en-US" b="1" dirty="0" err="1">
                <a:solidFill>
                  <a:srgbClr val="C00000"/>
                </a:solidFill>
              </a:rPr>
              <a:t>List_variable</a:t>
            </a:r>
            <a:r>
              <a:rPr lang="en-US" b="1" dirty="0">
                <a:solidFill>
                  <a:srgbClr val="C00000"/>
                </a:solidFill>
              </a:rPr>
              <a:t> = [val1, val2,...]</a:t>
            </a:r>
          </a:p>
        </p:txBody>
      </p:sp>
      <p:pic>
        <p:nvPicPr>
          <p:cNvPr id="5" name="Picture 4"/>
          <p:cNvPicPr>
            <a:picLocks noChangeAspect="1"/>
          </p:cNvPicPr>
          <p:nvPr/>
        </p:nvPicPr>
        <p:blipFill>
          <a:blip r:embed="rId2"/>
          <a:stretch>
            <a:fillRect/>
          </a:stretch>
        </p:blipFill>
        <p:spPr>
          <a:xfrm>
            <a:off x="1307539" y="3658093"/>
            <a:ext cx="9250761" cy="1773716"/>
          </a:xfrm>
          <a:prstGeom prst="rect">
            <a:avLst/>
          </a:prstGeom>
        </p:spPr>
      </p:pic>
      <p:sp>
        <p:nvSpPr>
          <p:cNvPr id="8" name="TextBox 9"/>
          <p:cNvSpPr txBox="1"/>
          <p:nvPr/>
        </p:nvSpPr>
        <p:spPr>
          <a:xfrm>
            <a:off x="166522" y="3541030"/>
            <a:ext cx="1141017"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Examples:</a:t>
            </a:r>
          </a:p>
        </p:txBody>
      </p:sp>
    </p:spTree>
    <p:extLst>
      <p:ext uri="{BB962C8B-B14F-4D97-AF65-F5344CB8AC3E}">
        <p14:creationId xmlns:p14="http://schemas.microsoft.com/office/powerpoint/2010/main" val="931653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Access Values in Lists</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18</a:t>
            </a:fld>
            <a:endParaRPr lang="en-US"/>
          </a:p>
        </p:txBody>
      </p:sp>
      <p:sp>
        <p:nvSpPr>
          <p:cNvPr id="6" name="Rectangle 5"/>
          <p:cNvSpPr/>
          <p:nvPr/>
        </p:nvSpPr>
        <p:spPr>
          <a:xfrm>
            <a:off x="154379" y="1800136"/>
            <a:ext cx="11704246" cy="1338828"/>
          </a:xfrm>
          <a:prstGeom prst="rect">
            <a:avLst/>
          </a:prstGeom>
        </p:spPr>
        <p:txBody>
          <a:bodyPr wrap="square">
            <a:spAutoFit/>
          </a:bodyPr>
          <a:lstStyle/>
          <a:p>
            <a:pPr algn="just">
              <a:lnSpc>
                <a:spcPct val="150000"/>
              </a:lnSpc>
            </a:pPr>
            <a:r>
              <a:rPr lang="en-US" b="1" dirty="0">
                <a:solidFill>
                  <a:schemeClr val="accent1">
                    <a:lumMod val="75000"/>
                  </a:schemeClr>
                </a:solidFill>
              </a:rPr>
              <a:t>Similar to strings, lists can also be sliced and concatenated. To access values in lists, square brackets are used to slice along with the index or indices to get value stored at that index. The syntax for the </a:t>
            </a:r>
            <a:r>
              <a:rPr lang="en-US" b="1" i="1" dirty="0">
                <a:solidFill>
                  <a:srgbClr val="C00000"/>
                </a:solidFill>
              </a:rPr>
              <a:t>slice operation </a:t>
            </a:r>
            <a:r>
              <a:rPr lang="en-US" b="1" dirty="0">
                <a:solidFill>
                  <a:schemeClr val="accent1">
                    <a:lumMod val="75000"/>
                  </a:schemeClr>
                </a:solidFill>
              </a:rPr>
              <a:t>is given as, </a:t>
            </a:r>
            <a:r>
              <a:rPr lang="en-US" b="1" dirty="0" err="1">
                <a:solidFill>
                  <a:srgbClr val="C00000"/>
                </a:solidFill>
              </a:rPr>
              <a:t>seq</a:t>
            </a:r>
            <a:r>
              <a:rPr lang="en-US" b="1" dirty="0">
                <a:solidFill>
                  <a:srgbClr val="C00000"/>
                </a:solidFill>
              </a:rPr>
              <a:t> = List[</a:t>
            </a:r>
            <a:r>
              <a:rPr lang="en-US" b="1" dirty="0" err="1">
                <a:solidFill>
                  <a:srgbClr val="C00000"/>
                </a:solidFill>
              </a:rPr>
              <a:t>start:stop:step</a:t>
            </a:r>
            <a:r>
              <a:rPr lang="en-US" b="1" dirty="0">
                <a:solidFill>
                  <a:srgbClr val="C00000"/>
                </a:solidFill>
              </a:rPr>
              <a:t>]</a:t>
            </a:r>
          </a:p>
        </p:txBody>
      </p:sp>
      <p:pic>
        <p:nvPicPr>
          <p:cNvPr id="5" name="Picture 4"/>
          <p:cNvPicPr>
            <a:picLocks noChangeAspect="1"/>
          </p:cNvPicPr>
          <p:nvPr/>
        </p:nvPicPr>
        <p:blipFill>
          <a:blip r:embed="rId2"/>
          <a:stretch>
            <a:fillRect/>
          </a:stretch>
        </p:blipFill>
        <p:spPr>
          <a:xfrm>
            <a:off x="2003296" y="3138964"/>
            <a:ext cx="6314201" cy="3489552"/>
          </a:xfrm>
          <a:prstGeom prst="rect">
            <a:avLst/>
          </a:prstGeom>
        </p:spPr>
      </p:pic>
      <p:sp>
        <p:nvSpPr>
          <p:cNvPr id="8" name="TextBox 9"/>
          <p:cNvSpPr txBox="1"/>
          <p:nvPr/>
        </p:nvSpPr>
        <p:spPr>
          <a:xfrm>
            <a:off x="257175" y="3138964"/>
            <a:ext cx="1141017"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Example:</a:t>
            </a:r>
          </a:p>
        </p:txBody>
      </p:sp>
    </p:spTree>
    <p:extLst>
      <p:ext uri="{BB962C8B-B14F-4D97-AF65-F5344CB8AC3E}">
        <p14:creationId xmlns:p14="http://schemas.microsoft.com/office/powerpoint/2010/main" val="2769114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Updating Values in Lists</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19</a:t>
            </a:fld>
            <a:endParaRPr lang="en-US"/>
          </a:p>
        </p:txBody>
      </p:sp>
      <p:sp>
        <p:nvSpPr>
          <p:cNvPr id="5" name="Rectangle 4"/>
          <p:cNvSpPr/>
          <p:nvPr/>
        </p:nvSpPr>
        <p:spPr>
          <a:xfrm>
            <a:off x="95003" y="1694587"/>
            <a:ext cx="11849347" cy="1338828"/>
          </a:xfrm>
          <a:prstGeom prst="rect">
            <a:avLst/>
          </a:prstGeom>
        </p:spPr>
        <p:txBody>
          <a:bodyPr wrap="square">
            <a:spAutoFit/>
          </a:bodyPr>
          <a:lstStyle/>
          <a:p>
            <a:pPr algn="just">
              <a:lnSpc>
                <a:spcPct val="150000"/>
              </a:lnSpc>
            </a:pPr>
            <a:r>
              <a:rPr lang="en-US" b="1" dirty="0">
                <a:solidFill>
                  <a:schemeClr val="accent1">
                    <a:lumMod val="75000"/>
                  </a:schemeClr>
                </a:solidFill>
              </a:rPr>
              <a:t>Once created, one or more elements of a list can be easily updated by giving the slice on the left-hand side of the assignment operator. You can also append new values in the list and remove existing value(s) from the list using the </a:t>
            </a:r>
            <a:r>
              <a:rPr lang="en-US" b="1" i="1" dirty="0">
                <a:solidFill>
                  <a:srgbClr val="C00000"/>
                </a:solidFill>
              </a:rPr>
              <a:t>append() method </a:t>
            </a:r>
            <a:r>
              <a:rPr lang="en-US" b="1" dirty="0">
                <a:solidFill>
                  <a:schemeClr val="accent1">
                    <a:lumMod val="75000"/>
                  </a:schemeClr>
                </a:solidFill>
              </a:rPr>
              <a:t>and </a:t>
            </a:r>
            <a:r>
              <a:rPr lang="en-US" b="1" i="1" dirty="0">
                <a:solidFill>
                  <a:srgbClr val="C00000"/>
                </a:solidFill>
              </a:rPr>
              <a:t>del statement </a:t>
            </a:r>
            <a:r>
              <a:rPr lang="en-US" b="1" dirty="0">
                <a:solidFill>
                  <a:schemeClr val="accent1">
                    <a:lumMod val="75000"/>
                  </a:schemeClr>
                </a:solidFill>
              </a:rPr>
              <a:t>respectively.</a:t>
            </a:r>
          </a:p>
        </p:txBody>
      </p:sp>
      <p:pic>
        <p:nvPicPr>
          <p:cNvPr id="6" name="Picture 5"/>
          <p:cNvPicPr>
            <a:picLocks noChangeAspect="1"/>
          </p:cNvPicPr>
          <p:nvPr/>
        </p:nvPicPr>
        <p:blipFill>
          <a:blip r:embed="rId2"/>
          <a:stretch>
            <a:fillRect/>
          </a:stretch>
        </p:blipFill>
        <p:spPr>
          <a:xfrm>
            <a:off x="1308585" y="3128703"/>
            <a:ext cx="10060605" cy="3192559"/>
          </a:xfrm>
          <a:prstGeom prst="rect">
            <a:avLst/>
          </a:prstGeom>
        </p:spPr>
      </p:pic>
      <p:sp>
        <p:nvSpPr>
          <p:cNvPr id="8" name="TextBox 9"/>
          <p:cNvSpPr txBox="1"/>
          <p:nvPr/>
        </p:nvSpPr>
        <p:spPr>
          <a:xfrm>
            <a:off x="95003" y="3017361"/>
            <a:ext cx="1141017"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Example:</a:t>
            </a:r>
          </a:p>
        </p:txBody>
      </p:sp>
    </p:spTree>
    <p:extLst>
      <p:ext uri="{BB962C8B-B14F-4D97-AF65-F5344CB8AC3E}">
        <p14:creationId xmlns:p14="http://schemas.microsoft.com/office/powerpoint/2010/main" val="4472552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Nested Lists</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20</a:t>
            </a:fld>
            <a:endParaRPr lang="en-US"/>
          </a:p>
        </p:txBody>
      </p:sp>
      <p:sp>
        <p:nvSpPr>
          <p:cNvPr id="6" name="Rectangle 5"/>
          <p:cNvSpPr/>
          <p:nvPr/>
        </p:nvSpPr>
        <p:spPr>
          <a:xfrm>
            <a:off x="128588" y="1653110"/>
            <a:ext cx="11644312" cy="923330"/>
          </a:xfrm>
          <a:prstGeom prst="rect">
            <a:avLst/>
          </a:prstGeom>
        </p:spPr>
        <p:txBody>
          <a:bodyPr wrap="square">
            <a:spAutoFit/>
          </a:bodyPr>
          <a:lstStyle/>
          <a:p>
            <a:pPr>
              <a:lnSpc>
                <a:spcPct val="150000"/>
              </a:lnSpc>
            </a:pPr>
            <a:r>
              <a:rPr lang="en-US" b="1" i="1" dirty="0">
                <a:solidFill>
                  <a:srgbClr val="C00000"/>
                </a:solidFill>
              </a:rPr>
              <a:t>Nested list </a:t>
            </a:r>
            <a:r>
              <a:rPr lang="en-US" b="1" dirty="0">
                <a:solidFill>
                  <a:schemeClr val="accent1">
                    <a:lumMod val="75000"/>
                  </a:schemeClr>
                </a:solidFill>
              </a:rPr>
              <a:t>means a list within another list. We have already said that a list has elements of different data types which can include even a list. </a:t>
            </a:r>
          </a:p>
        </p:txBody>
      </p:sp>
      <p:pic>
        <p:nvPicPr>
          <p:cNvPr id="5" name="Picture 4"/>
          <p:cNvPicPr>
            <a:picLocks noChangeAspect="1"/>
          </p:cNvPicPr>
          <p:nvPr/>
        </p:nvPicPr>
        <p:blipFill>
          <a:blip r:embed="rId2"/>
          <a:stretch>
            <a:fillRect/>
          </a:stretch>
        </p:blipFill>
        <p:spPr>
          <a:xfrm>
            <a:off x="1575551" y="2679046"/>
            <a:ext cx="5030302" cy="3671204"/>
          </a:xfrm>
          <a:prstGeom prst="rect">
            <a:avLst/>
          </a:prstGeom>
        </p:spPr>
      </p:pic>
      <p:sp>
        <p:nvSpPr>
          <p:cNvPr id="8" name="TextBox 9"/>
          <p:cNvSpPr txBox="1"/>
          <p:nvPr/>
        </p:nvSpPr>
        <p:spPr>
          <a:xfrm>
            <a:off x="128588" y="2679046"/>
            <a:ext cx="1141017"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Example:</a:t>
            </a:r>
          </a:p>
        </p:txBody>
      </p:sp>
    </p:spTree>
    <p:extLst>
      <p:ext uri="{BB962C8B-B14F-4D97-AF65-F5344CB8AC3E}">
        <p14:creationId xmlns:p14="http://schemas.microsoft.com/office/powerpoint/2010/main" val="36085048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Cloning Lists</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21</a:t>
            </a:fld>
            <a:endParaRPr lang="en-US"/>
          </a:p>
        </p:txBody>
      </p:sp>
      <p:sp>
        <p:nvSpPr>
          <p:cNvPr id="5" name="Rectangle 4"/>
          <p:cNvSpPr/>
          <p:nvPr/>
        </p:nvSpPr>
        <p:spPr>
          <a:xfrm>
            <a:off x="83127" y="1578193"/>
            <a:ext cx="11680682" cy="923330"/>
          </a:xfrm>
          <a:prstGeom prst="rect">
            <a:avLst/>
          </a:prstGeom>
        </p:spPr>
        <p:txBody>
          <a:bodyPr wrap="square">
            <a:spAutoFit/>
          </a:bodyPr>
          <a:lstStyle/>
          <a:p>
            <a:pPr algn="just">
              <a:lnSpc>
                <a:spcPct val="150000"/>
              </a:lnSpc>
            </a:pPr>
            <a:r>
              <a:rPr lang="en-US" b="1" dirty="0">
                <a:solidFill>
                  <a:schemeClr val="accent1">
                    <a:lumMod val="75000"/>
                  </a:schemeClr>
                </a:solidFill>
              </a:rPr>
              <a:t>If you want to modify a list and also keep a copy of the original list, then you should create a separate copy of the list (not just the reference). This process is called </a:t>
            </a:r>
            <a:r>
              <a:rPr lang="en-US" b="1" i="1" dirty="0">
                <a:solidFill>
                  <a:srgbClr val="C00000"/>
                </a:solidFill>
              </a:rPr>
              <a:t>cloning</a:t>
            </a:r>
            <a:r>
              <a:rPr lang="en-US" b="1" dirty="0">
                <a:solidFill>
                  <a:srgbClr val="C00000"/>
                </a:solidFill>
              </a:rPr>
              <a:t>. </a:t>
            </a:r>
            <a:r>
              <a:rPr lang="en-US" b="1" dirty="0">
                <a:solidFill>
                  <a:schemeClr val="accent1">
                    <a:lumMod val="75000"/>
                  </a:schemeClr>
                </a:solidFill>
              </a:rPr>
              <a:t>The slice operation is used to clone a list.</a:t>
            </a:r>
          </a:p>
        </p:txBody>
      </p:sp>
      <p:pic>
        <p:nvPicPr>
          <p:cNvPr id="6" name="Picture 5"/>
          <p:cNvPicPr>
            <a:picLocks noChangeAspect="1"/>
          </p:cNvPicPr>
          <p:nvPr/>
        </p:nvPicPr>
        <p:blipFill>
          <a:blip r:embed="rId2"/>
          <a:stretch>
            <a:fillRect/>
          </a:stretch>
        </p:blipFill>
        <p:spPr>
          <a:xfrm>
            <a:off x="1361210" y="2831516"/>
            <a:ext cx="7672481" cy="3252000"/>
          </a:xfrm>
          <a:prstGeom prst="rect">
            <a:avLst/>
          </a:prstGeom>
        </p:spPr>
      </p:pic>
      <p:sp>
        <p:nvSpPr>
          <p:cNvPr id="8" name="TextBox 9"/>
          <p:cNvSpPr txBox="1"/>
          <p:nvPr/>
        </p:nvSpPr>
        <p:spPr>
          <a:xfrm>
            <a:off x="83127" y="2652675"/>
            <a:ext cx="1141017"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Example:</a:t>
            </a:r>
          </a:p>
        </p:txBody>
      </p:sp>
    </p:spTree>
    <p:extLst>
      <p:ext uri="{BB962C8B-B14F-4D97-AF65-F5344CB8AC3E}">
        <p14:creationId xmlns:p14="http://schemas.microsoft.com/office/powerpoint/2010/main" val="15986682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Basic List Operations</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22</a:t>
            </a:fld>
            <a:endParaRPr lang="en-US"/>
          </a:p>
        </p:txBody>
      </p:sp>
      <p:pic>
        <p:nvPicPr>
          <p:cNvPr id="5" name="Picture 4"/>
          <p:cNvPicPr>
            <a:picLocks noChangeAspect="1"/>
          </p:cNvPicPr>
          <p:nvPr/>
        </p:nvPicPr>
        <p:blipFill>
          <a:blip r:embed="rId2"/>
          <a:stretch>
            <a:fillRect/>
          </a:stretch>
        </p:blipFill>
        <p:spPr>
          <a:xfrm>
            <a:off x="989481" y="1710047"/>
            <a:ext cx="10087552" cy="2565070"/>
          </a:xfrm>
          <a:prstGeom prst="rect">
            <a:avLst/>
          </a:prstGeom>
        </p:spPr>
      </p:pic>
      <p:pic>
        <p:nvPicPr>
          <p:cNvPr id="8" name="Picture 7"/>
          <p:cNvPicPr>
            <a:picLocks noChangeAspect="1"/>
          </p:cNvPicPr>
          <p:nvPr/>
        </p:nvPicPr>
        <p:blipFill>
          <a:blip r:embed="rId3"/>
          <a:stretch>
            <a:fillRect/>
          </a:stretch>
        </p:blipFill>
        <p:spPr>
          <a:xfrm>
            <a:off x="981958" y="4275117"/>
            <a:ext cx="10095074" cy="2046145"/>
          </a:xfrm>
          <a:prstGeom prst="rect">
            <a:avLst/>
          </a:prstGeom>
        </p:spPr>
      </p:pic>
    </p:spTree>
    <p:extLst>
      <p:ext uri="{BB962C8B-B14F-4D97-AF65-F5344CB8AC3E}">
        <p14:creationId xmlns:p14="http://schemas.microsoft.com/office/powerpoint/2010/main" val="30309310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List Methods</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23</a:t>
            </a:fld>
            <a:endParaRPr lang="en-US"/>
          </a:p>
        </p:txBody>
      </p:sp>
      <p:pic>
        <p:nvPicPr>
          <p:cNvPr id="5" name="Picture 4"/>
          <p:cNvPicPr>
            <a:picLocks noChangeAspect="1"/>
          </p:cNvPicPr>
          <p:nvPr/>
        </p:nvPicPr>
        <p:blipFill>
          <a:blip r:embed="rId2"/>
          <a:stretch>
            <a:fillRect/>
          </a:stretch>
        </p:blipFill>
        <p:spPr>
          <a:xfrm>
            <a:off x="1118069" y="1757548"/>
            <a:ext cx="10213038" cy="4563714"/>
          </a:xfrm>
          <a:prstGeom prst="rect">
            <a:avLst/>
          </a:prstGeom>
        </p:spPr>
      </p:pic>
    </p:spTree>
    <p:extLst>
      <p:ext uri="{BB962C8B-B14F-4D97-AF65-F5344CB8AC3E}">
        <p14:creationId xmlns:p14="http://schemas.microsoft.com/office/powerpoint/2010/main" val="14742266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List Comprehensions</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24</a:t>
            </a:fld>
            <a:endParaRPr lang="en-US"/>
          </a:p>
        </p:txBody>
      </p:sp>
      <p:sp>
        <p:nvSpPr>
          <p:cNvPr id="5" name="Rectangle 4"/>
          <p:cNvSpPr/>
          <p:nvPr/>
        </p:nvSpPr>
        <p:spPr>
          <a:xfrm>
            <a:off x="190005" y="1663904"/>
            <a:ext cx="11754345" cy="3000821"/>
          </a:xfrm>
          <a:prstGeom prst="rect">
            <a:avLst/>
          </a:prstGeom>
        </p:spPr>
        <p:txBody>
          <a:bodyPr wrap="square">
            <a:spAutoFit/>
          </a:bodyPr>
          <a:lstStyle/>
          <a:p>
            <a:pPr algn="just">
              <a:lnSpc>
                <a:spcPct val="150000"/>
              </a:lnSpc>
            </a:pPr>
            <a:r>
              <a:rPr lang="en-US" b="1" dirty="0">
                <a:solidFill>
                  <a:schemeClr val="accent1">
                    <a:lumMod val="75000"/>
                  </a:schemeClr>
                </a:solidFill>
              </a:rPr>
              <a:t>Python also supports computed lists called </a:t>
            </a:r>
            <a:r>
              <a:rPr lang="en-US" b="1" i="1" dirty="0">
                <a:solidFill>
                  <a:srgbClr val="C00000"/>
                </a:solidFill>
              </a:rPr>
              <a:t>list comprehensions </a:t>
            </a:r>
            <a:r>
              <a:rPr lang="en-US" b="1" dirty="0">
                <a:solidFill>
                  <a:schemeClr val="accent1">
                    <a:lumMod val="75000"/>
                  </a:schemeClr>
                </a:solidFill>
              </a:rPr>
              <a:t>having the following syntax.</a:t>
            </a:r>
          </a:p>
          <a:p>
            <a:pPr algn="just">
              <a:lnSpc>
                <a:spcPct val="150000"/>
              </a:lnSpc>
            </a:pPr>
            <a:r>
              <a:rPr lang="en-US" b="1" dirty="0">
                <a:solidFill>
                  <a:srgbClr val="C00000"/>
                </a:solidFill>
              </a:rPr>
              <a:t>List = [expression for variable in sequence]</a:t>
            </a:r>
          </a:p>
          <a:p>
            <a:pPr algn="just">
              <a:lnSpc>
                <a:spcPct val="150000"/>
              </a:lnSpc>
            </a:pPr>
            <a:r>
              <a:rPr lang="en-US" b="1" dirty="0">
                <a:solidFill>
                  <a:schemeClr val="accent1">
                    <a:lumMod val="75000"/>
                  </a:schemeClr>
                </a:solidFill>
              </a:rPr>
              <a:t>Where, the expression is evaluated once, for every item in the sequence.</a:t>
            </a:r>
          </a:p>
          <a:p>
            <a:pPr algn="just">
              <a:lnSpc>
                <a:spcPct val="150000"/>
              </a:lnSpc>
            </a:pPr>
            <a:r>
              <a:rPr lang="en-US" b="1" dirty="0">
                <a:solidFill>
                  <a:schemeClr val="accent1">
                    <a:lumMod val="75000"/>
                  </a:schemeClr>
                </a:solidFill>
              </a:rPr>
              <a:t>List comprehensions help programmers to create lists in a concise way. This is mainly beneficial to make new lists where each element is the obtained by applying some operations to each member of another sequence or </a:t>
            </a:r>
            <a:r>
              <a:rPr lang="en-US" b="1" dirty="0" err="1">
                <a:solidFill>
                  <a:schemeClr val="accent1">
                    <a:lumMod val="75000"/>
                  </a:schemeClr>
                </a:solidFill>
              </a:rPr>
              <a:t>iterable</a:t>
            </a:r>
            <a:r>
              <a:rPr lang="en-US" b="1" dirty="0">
                <a:solidFill>
                  <a:schemeClr val="accent1">
                    <a:lumMod val="75000"/>
                  </a:schemeClr>
                </a:solidFill>
              </a:rPr>
              <a:t>. List comprehension is also used to create a subsequence of those elements that satisfy a certain condition</a:t>
            </a:r>
            <a:r>
              <a:rPr lang="en-US" dirty="0">
                <a:latin typeface="TimesNewRomanPSMT"/>
              </a:rPr>
              <a:t>.</a:t>
            </a:r>
            <a:endParaRPr lang="en-US" dirty="0"/>
          </a:p>
        </p:txBody>
      </p:sp>
      <p:pic>
        <p:nvPicPr>
          <p:cNvPr id="6" name="Picture 5"/>
          <p:cNvPicPr>
            <a:picLocks noChangeAspect="1"/>
          </p:cNvPicPr>
          <p:nvPr/>
        </p:nvPicPr>
        <p:blipFill>
          <a:blip r:embed="rId2"/>
          <a:stretch>
            <a:fillRect/>
          </a:stretch>
        </p:blipFill>
        <p:spPr>
          <a:xfrm>
            <a:off x="2636322" y="4293480"/>
            <a:ext cx="9308028" cy="2027782"/>
          </a:xfrm>
          <a:prstGeom prst="rect">
            <a:avLst/>
          </a:prstGeom>
        </p:spPr>
      </p:pic>
      <p:sp>
        <p:nvSpPr>
          <p:cNvPr id="8" name="TextBox 9"/>
          <p:cNvSpPr txBox="1"/>
          <p:nvPr/>
        </p:nvSpPr>
        <p:spPr>
          <a:xfrm>
            <a:off x="190005" y="4571964"/>
            <a:ext cx="1141017"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Example:</a:t>
            </a:r>
          </a:p>
        </p:txBody>
      </p:sp>
    </p:spTree>
    <p:extLst>
      <p:ext uri="{BB962C8B-B14F-4D97-AF65-F5344CB8AC3E}">
        <p14:creationId xmlns:p14="http://schemas.microsoft.com/office/powerpoint/2010/main" val="2588482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Looping in Lists</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25</a:t>
            </a:fld>
            <a:endParaRPr lang="en-US"/>
          </a:p>
        </p:txBody>
      </p:sp>
      <p:sp>
        <p:nvSpPr>
          <p:cNvPr id="6" name="Rectangle 5"/>
          <p:cNvSpPr/>
          <p:nvPr/>
        </p:nvSpPr>
        <p:spPr>
          <a:xfrm>
            <a:off x="118754" y="1625337"/>
            <a:ext cx="11870840" cy="2169825"/>
          </a:xfrm>
          <a:prstGeom prst="rect">
            <a:avLst/>
          </a:prstGeom>
        </p:spPr>
        <p:txBody>
          <a:bodyPr wrap="square">
            <a:spAutoFit/>
          </a:bodyPr>
          <a:lstStyle/>
          <a:p>
            <a:pPr algn="just">
              <a:lnSpc>
                <a:spcPct val="150000"/>
              </a:lnSpc>
            </a:pPr>
            <a:r>
              <a:rPr lang="en-US" b="1" dirty="0">
                <a:solidFill>
                  <a:schemeClr val="accent1">
                    <a:lumMod val="75000"/>
                  </a:schemeClr>
                </a:solidFill>
              </a:rPr>
              <a:t>Python's for and in constructs are extremely useful especially when working with lists. The</a:t>
            </a:r>
            <a:r>
              <a:rPr lang="en-US" b="1" dirty="0">
                <a:solidFill>
                  <a:srgbClr val="C00000"/>
                </a:solidFill>
              </a:rPr>
              <a:t> for </a:t>
            </a:r>
            <a:r>
              <a:rPr lang="en-US" b="1" dirty="0" err="1">
                <a:solidFill>
                  <a:srgbClr val="C00000"/>
                </a:solidFill>
              </a:rPr>
              <a:t>var</a:t>
            </a:r>
            <a:r>
              <a:rPr lang="en-US" b="1" dirty="0">
                <a:solidFill>
                  <a:srgbClr val="C00000"/>
                </a:solidFill>
              </a:rPr>
              <a:t> in list </a:t>
            </a:r>
            <a:r>
              <a:rPr lang="en-US" b="1" dirty="0">
                <a:solidFill>
                  <a:schemeClr val="accent1">
                    <a:lumMod val="75000"/>
                  </a:schemeClr>
                </a:solidFill>
              </a:rPr>
              <a:t>statement is an easy way to access each element in a list (or any other sequence). For example, in the</a:t>
            </a:r>
          </a:p>
          <a:p>
            <a:pPr algn="just">
              <a:lnSpc>
                <a:spcPct val="150000"/>
              </a:lnSpc>
            </a:pPr>
            <a:r>
              <a:rPr lang="en-US" b="1" dirty="0">
                <a:solidFill>
                  <a:schemeClr val="accent1">
                    <a:lumMod val="75000"/>
                  </a:schemeClr>
                </a:solidFill>
              </a:rPr>
              <a:t>following code, the for loop is used to access each item in the list.</a:t>
            </a:r>
          </a:p>
          <a:p>
            <a:pPr algn="just">
              <a:lnSpc>
                <a:spcPct val="150000"/>
              </a:lnSpc>
            </a:pPr>
            <a:r>
              <a:rPr lang="en-US" b="1" dirty="0">
                <a:solidFill>
                  <a:srgbClr val="C00000"/>
                </a:solidFill>
              </a:rPr>
              <a:t>for </a:t>
            </a:r>
            <a:r>
              <a:rPr lang="en-US" b="1" dirty="0" err="1">
                <a:solidFill>
                  <a:srgbClr val="C00000"/>
                </a:solidFill>
              </a:rPr>
              <a:t>i</a:t>
            </a:r>
            <a:r>
              <a:rPr lang="en-US" b="1" dirty="0">
                <a:solidFill>
                  <a:srgbClr val="C00000"/>
                </a:solidFill>
              </a:rPr>
              <a:t> in list:</a:t>
            </a:r>
          </a:p>
          <a:p>
            <a:pPr algn="just">
              <a:lnSpc>
                <a:spcPct val="150000"/>
              </a:lnSpc>
            </a:pPr>
            <a:r>
              <a:rPr lang="en-US" b="1" dirty="0">
                <a:solidFill>
                  <a:srgbClr val="C00000"/>
                </a:solidFill>
              </a:rPr>
              <a:t>	print(</a:t>
            </a:r>
            <a:r>
              <a:rPr lang="en-US" b="1" dirty="0" err="1">
                <a:solidFill>
                  <a:srgbClr val="C00000"/>
                </a:solidFill>
              </a:rPr>
              <a:t>i</a:t>
            </a:r>
            <a:r>
              <a:rPr lang="en-US" b="1" dirty="0">
                <a:solidFill>
                  <a:srgbClr val="C00000"/>
                </a:solidFill>
              </a:rPr>
              <a:t>)</a:t>
            </a:r>
          </a:p>
        </p:txBody>
      </p:sp>
      <p:pic>
        <p:nvPicPr>
          <p:cNvPr id="5" name="Picture 4"/>
          <p:cNvPicPr>
            <a:picLocks noChangeAspect="1"/>
          </p:cNvPicPr>
          <p:nvPr/>
        </p:nvPicPr>
        <p:blipFill>
          <a:blip r:embed="rId2"/>
          <a:stretch>
            <a:fillRect/>
          </a:stretch>
        </p:blipFill>
        <p:spPr>
          <a:xfrm>
            <a:off x="3912832" y="3351011"/>
            <a:ext cx="5690847" cy="3049278"/>
          </a:xfrm>
          <a:prstGeom prst="rect">
            <a:avLst/>
          </a:prstGeom>
        </p:spPr>
      </p:pic>
      <p:sp>
        <p:nvSpPr>
          <p:cNvPr id="8" name="TextBox 9"/>
          <p:cNvSpPr txBox="1"/>
          <p:nvPr/>
        </p:nvSpPr>
        <p:spPr>
          <a:xfrm>
            <a:off x="3912832" y="2906846"/>
            <a:ext cx="1141017"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Example:</a:t>
            </a:r>
          </a:p>
        </p:txBody>
      </p:sp>
    </p:spTree>
    <p:extLst>
      <p:ext uri="{BB962C8B-B14F-4D97-AF65-F5344CB8AC3E}">
        <p14:creationId xmlns:p14="http://schemas.microsoft.com/office/powerpoint/2010/main" val="33971451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97520"/>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Using the enumerate() and range() Functions</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26</a:t>
            </a:fld>
            <a:endParaRPr lang="en-US"/>
          </a:p>
        </p:txBody>
      </p:sp>
      <p:sp>
        <p:nvSpPr>
          <p:cNvPr id="5" name="Rectangle 4"/>
          <p:cNvSpPr/>
          <p:nvPr/>
        </p:nvSpPr>
        <p:spPr>
          <a:xfrm>
            <a:off x="104775" y="1747531"/>
            <a:ext cx="11811000" cy="1338828"/>
          </a:xfrm>
          <a:prstGeom prst="rect">
            <a:avLst/>
          </a:prstGeom>
        </p:spPr>
        <p:txBody>
          <a:bodyPr wrap="square">
            <a:spAutoFit/>
          </a:bodyPr>
          <a:lstStyle/>
          <a:p>
            <a:pPr algn="just">
              <a:lnSpc>
                <a:spcPct val="150000"/>
              </a:lnSpc>
            </a:pPr>
            <a:r>
              <a:rPr lang="en-US" b="1" dirty="0">
                <a:solidFill>
                  <a:srgbClr val="C00000"/>
                </a:solidFill>
              </a:rPr>
              <a:t>enumerate() </a:t>
            </a:r>
            <a:r>
              <a:rPr lang="en-US" b="1" dirty="0">
                <a:solidFill>
                  <a:schemeClr val="accent1">
                    <a:lumMod val="75000"/>
                  </a:schemeClr>
                </a:solidFill>
              </a:rPr>
              <a:t>function is used when you want to print both index as well as an item in the list. The function returns an enumerate object which contains the index and value of all the items of the list as a tuple.</a:t>
            </a:r>
          </a:p>
          <a:p>
            <a:pPr algn="just">
              <a:lnSpc>
                <a:spcPct val="150000"/>
              </a:lnSpc>
            </a:pPr>
            <a:r>
              <a:rPr lang="en-US" b="1" dirty="0">
                <a:solidFill>
                  <a:schemeClr val="accent1">
                    <a:lumMod val="75000"/>
                  </a:schemeClr>
                </a:solidFill>
              </a:rPr>
              <a:t>The </a:t>
            </a:r>
            <a:r>
              <a:rPr lang="en-US" b="1" dirty="0">
                <a:solidFill>
                  <a:srgbClr val="C00000"/>
                </a:solidFill>
              </a:rPr>
              <a:t>range() </a:t>
            </a:r>
            <a:r>
              <a:rPr lang="en-US" b="1" dirty="0">
                <a:solidFill>
                  <a:schemeClr val="accent1">
                    <a:lumMod val="75000"/>
                  </a:schemeClr>
                </a:solidFill>
              </a:rPr>
              <a:t>function is used when you need to print index.</a:t>
            </a:r>
          </a:p>
        </p:txBody>
      </p:sp>
      <p:pic>
        <p:nvPicPr>
          <p:cNvPr id="6" name="Picture 5"/>
          <p:cNvPicPr>
            <a:picLocks noChangeAspect="1"/>
          </p:cNvPicPr>
          <p:nvPr/>
        </p:nvPicPr>
        <p:blipFill>
          <a:blip r:embed="rId2"/>
          <a:stretch>
            <a:fillRect/>
          </a:stretch>
        </p:blipFill>
        <p:spPr>
          <a:xfrm>
            <a:off x="1495592" y="3145479"/>
            <a:ext cx="4725435" cy="3124969"/>
          </a:xfrm>
          <a:prstGeom prst="rect">
            <a:avLst/>
          </a:prstGeom>
        </p:spPr>
      </p:pic>
      <p:pic>
        <p:nvPicPr>
          <p:cNvPr id="7" name="Picture 6"/>
          <p:cNvPicPr>
            <a:picLocks noChangeAspect="1"/>
          </p:cNvPicPr>
          <p:nvPr/>
        </p:nvPicPr>
        <p:blipFill>
          <a:blip r:embed="rId3"/>
          <a:stretch>
            <a:fillRect/>
          </a:stretch>
        </p:blipFill>
        <p:spPr>
          <a:xfrm>
            <a:off x="6440384" y="3145480"/>
            <a:ext cx="4318946" cy="3124969"/>
          </a:xfrm>
          <a:prstGeom prst="rect">
            <a:avLst/>
          </a:prstGeom>
        </p:spPr>
      </p:pic>
      <p:sp>
        <p:nvSpPr>
          <p:cNvPr id="9" name="TextBox 9"/>
          <p:cNvSpPr txBox="1"/>
          <p:nvPr/>
        </p:nvSpPr>
        <p:spPr>
          <a:xfrm>
            <a:off x="104775" y="3145479"/>
            <a:ext cx="1141017"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Examples:</a:t>
            </a:r>
          </a:p>
        </p:txBody>
      </p:sp>
    </p:spTree>
    <p:extLst>
      <p:ext uri="{BB962C8B-B14F-4D97-AF65-F5344CB8AC3E}">
        <p14:creationId xmlns:p14="http://schemas.microsoft.com/office/powerpoint/2010/main" val="4962631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97520"/>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Using an Iterator</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27</a:t>
            </a:fld>
            <a:endParaRPr lang="en-US"/>
          </a:p>
        </p:txBody>
      </p:sp>
      <p:sp>
        <p:nvSpPr>
          <p:cNvPr id="6" name="Rectangle 5"/>
          <p:cNvSpPr/>
          <p:nvPr/>
        </p:nvSpPr>
        <p:spPr>
          <a:xfrm>
            <a:off x="147637" y="1747361"/>
            <a:ext cx="11568113" cy="1338828"/>
          </a:xfrm>
          <a:prstGeom prst="rect">
            <a:avLst/>
          </a:prstGeom>
        </p:spPr>
        <p:txBody>
          <a:bodyPr wrap="square">
            <a:spAutoFit/>
          </a:bodyPr>
          <a:lstStyle/>
          <a:p>
            <a:pPr algn="just">
              <a:lnSpc>
                <a:spcPct val="150000"/>
              </a:lnSpc>
            </a:pPr>
            <a:r>
              <a:rPr lang="en-US" b="1" dirty="0">
                <a:solidFill>
                  <a:schemeClr val="accent1">
                    <a:lumMod val="75000"/>
                  </a:schemeClr>
                </a:solidFill>
              </a:rPr>
              <a:t>You can create an iterator using the built-in </a:t>
            </a:r>
            <a:r>
              <a:rPr lang="en-US" b="1" dirty="0" err="1">
                <a:solidFill>
                  <a:srgbClr val="C00000"/>
                </a:solidFill>
              </a:rPr>
              <a:t>iter</a:t>
            </a:r>
            <a:r>
              <a:rPr lang="en-US" b="1" dirty="0">
                <a:solidFill>
                  <a:srgbClr val="C00000"/>
                </a:solidFill>
              </a:rPr>
              <a:t>() </a:t>
            </a:r>
            <a:r>
              <a:rPr lang="en-US" b="1" dirty="0">
                <a:solidFill>
                  <a:schemeClr val="accent1">
                    <a:lumMod val="75000"/>
                  </a:schemeClr>
                </a:solidFill>
              </a:rPr>
              <a:t>function. The iterator is used to loop over the elements of the list. For this, the iterator fetches the value and then automatically points to the next element in the list when it is used with the</a:t>
            </a:r>
            <a:r>
              <a:rPr lang="en-US" b="1" dirty="0"/>
              <a:t> </a:t>
            </a:r>
            <a:r>
              <a:rPr lang="en-US" b="1" dirty="0">
                <a:solidFill>
                  <a:srgbClr val="C00000"/>
                </a:solidFill>
              </a:rPr>
              <a:t>next() </a:t>
            </a:r>
            <a:r>
              <a:rPr lang="en-US" b="1" dirty="0">
                <a:solidFill>
                  <a:schemeClr val="accent1">
                    <a:lumMod val="75000"/>
                  </a:schemeClr>
                </a:solidFill>
              </a:rPr>
              <a:t>method.</a:t>
            </a:r>
          </a:p>
        </p:txBody>
      </p:sp>
      <p:pic>
        <p:nvPicPr>
          <p:cNvPr id="5" name="Picture 4"/>
          <p:cNvPicPr>
            <a:picLocks noChangeAspect="1"/>
          </p:cNvPicPr>
          <p:nvPr/>
        </p:nvPicPr>
        <p:blipFill>
          <a:blip r:embed="rId2"/>
          <a:stretch>
            <a:fillRect/>
          </a:stretch>
        </p:blipFill>
        <p:spPr>
          <a:xfrm>
            <a:off x="1560190" y="3175605"/>
            <a:ext cx="6402203" cy="3145657"/>
          </a:xfrm>
          <a:prstGeom prst="rect">
            <a:avLst/>
          </a:prstGeom>
        </p:spPr>
      </p:pic>
      <p:sp>
        <p:nvSpPr>
          <p:cNvPr id="8" name="TextBox 9"/>
          <p:cNvSpPr txBox="1"/>
          <p:nvPr/>
        </p:nvSpPr>
        <p:spPr>
          <a:xfrm>
            <a:off x="166255" y="3086189"/>
            <a:ext cx="1141017"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Example:</a:t>
            </a:r>
          </a:p>
        </p:txBody>
      </p:sp>
    </p:spTree>
    <p:extLst>
      <p:ext uri="{BB962C8B-B14F-4D97-AF65-F5344CB8AC3E}">
        <p14:creationId xmlns:p14="http://schemas.microsoft.com/office/powerpoint/2010/main" val="11590647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97520"/>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filter() Function</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28</a:t>
            </a:fld>
            <a:endParaRPr lang="en-US"/>
          </a:p>
        </p:txBody>
      </p:sp>
      <p:sp>
        <p:nvSpPr>
          <p:cNvPr id="5" name="Rectangle 4"/>
          <p:cNvSpPr/>
          <p:nvPr/>
        </p:nvSpPr>
        <p:spPr>
          <a:xfrm>
            <a:off x="83128" y="1815526"/>
            <a:ext cx="11913610" cy="2169825"/>
          </a:xfrm>
          <a:prstGeom prst="rect">
            <a:avLst/>
          </a:prstGeom>
        </p:spPr>
        <p:txBody>
          <a:bodyPr wrap="square">
            <a:spAutoFit/>
          </a:bodyPr>
          <a:lstStyle/>
          <a:p>
            <a:pPr algn="just">
              <a:lnSpc>
                <a:spcPct val="150000"/>
              </a:lnSpc>
            </a:pPr>
            <a:r>
              <a:rPr lang="en-US" b="1" dirty="0">
                <a:solidFill>
                  <a:schemeClr val="accent1">
                    <a:lumMod val="75000"/>
                  </a:schemeClr>
                </a:solidFill>
              </a:rPr>
              <a:t>The </a:t>
            </a:r>
            <a:r>
              <a:rPr lang="en-US" b="1" dirty="0">
                <a:solidFill>
                  <a:srgbClr val="C00000"/>
                </a:solidFill>
              </a:rPr>
              <a:t>filter() function </a:t>
            </a:r>
            <a:r>
              <a:rPr lang="en-US" b="1" dirty="0">
                <a:solidFill>
                  <a:schemeClr val="accent1">
                    <a:lumMod val="75000"/>
                  </a:schemeClr>
                </a:solidFill>
              </a:rPr>
              <a:t>constructs a list from those elements of the list for which a function returns True. The</a:t>
            </a:r>
          </a:p>
          <a:p>
            <a:pPr algn="just">
              <a:lnSpc>
                <a:spcPct val="150000"/>
              </a:lnSpc>
            </a:pPr>
            <a:r>
              <a:rPr lang="en-US" b="1" dirty="0">
                <a:solidFill>
                  <a:schemeClr val="accent1">
                    <a:lumMod val="75000"/>
                  </a:schemeClr>
                </a:solidFill>
              </a:rPr>
              <a:t>syntax of the filter() function is given as</a:t>
            </a:r>
            <a:r>
              <a:rPr lang="en-US" b="1" dirty="0"/>
              <a:t>, </a:t>
            </a:r>
            <a:r>
              <a:rPr lang="en-US" b="1" dirty="0">
                <a:solidFill>
                  <a:srgbClr val="C00000"/>
                </a:solidFill>
              </a:rPr>
              <a:t>filter(function, sequence)</a:t>
            </a:r>
          </a:p>
          <a:p>
            <a:pPr algn="just">
              <a:lnSpc>
                <a:spcPct val="150000"/>
              </a:lnSpc>
            </a:pPr>
            <a:r>
              <a:rPr lang="en-US" b="1" dirty="0">
                <a:solidFill>
                  <a:schemeClr val="accent1">
                    <a:lumMod val="75000"/>
                  </a:schemeClr>
                </a:solidFill>
              </a:rPr>
              <a:t>As per the syntax, the filter() function returns a sequence that contains items from the sequence for which the function is True. If sequence is a string, Unicode, or a tuple, then the result will be of the same type;</a:t>
            </a:r>
          </a:p>
          <a:p>
            <a:pPr algn="just">
              <a:lnSpc>
                <a:spcPct val="150000"/>
              </a:lnSpc>
            </a:pPr>
            <a:r>
              <a:rPr lang="en-US" b="1" dirty="0">
                <a:solidFill>
                  <a:schemeClr val="accent1">
                    <a:lumMod val="75000"/>
                  </a:schemeClr>
                </a:solidFill>
              </a:rPr>
              <a:t>otherwise, it is always a list. </a:t>
            </a:r>
          </a:p>
        </p:txBody>
      </p:sp>
      <p:sp>
        <p:nvSpPr>
          <p:cNvPr id="8" name="TextBox 9"/>
          <p:cNvSpPr txBox="1"/>
          <p:nvPr/>
        </p:nvSpPr>
        <p:spPr>
          <a:xfrm>
            <a:off x="83128" y="4127238"/>
            <a:ext cx="1141017"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Example:</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1032" y="3921086"/>
            <a:ext cx="8648700" cy="2419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860804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97520"/>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map() Function</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29</a:t>
            </a:fld>
            <a:endParaRPr lang="en-US"/>
          </a:p>
        </p:txBody>
      </p:sp>
      <p:sp>
        <p:nvSpPr>
          <p:cNvPr id="5" name="Rectangle 4"/>
          <p:cNvSpPr/>
          <p:nvPr/>
        </p:nvSpPr>
        <p:spPr>
          <a:xfrm>
            <a:off x="147274" y="1655258"/>
            <a:ext cx="11804073" cy="2308324"/>
          </a:xfrm>
          <a:prstGeom prst="rect">
            <a:avLst/>
          </a:prstGeom>
        </p:spPr>
        <p:txBody>
          <a:bodyPr wrap="square">
            <a:spAutoFit/>
          </a:bodyPr>
          <a:lstStyle/>
          <a:p>
            <a:pPr algn="just">
              <a:lnSpc>
                <a:spcPct val="150000"/>
              </a:lnSpc>
            </a:pPr>
            <a:r>
              <a:rPr lang="en-US" b="1" dirty="0">
                <a:solidFill>
                  <a:schemeClr val="accent1">
                    <a:lumMod val="75000"/>
                  </a:schemeClr>
                </a:solidFill>
              </a:rPr>
              <a:t>The map() function applies a particular function to every element of a list. Its syntax is same as the filter function</a:t>
            </a:r>
          </a:p>
          <a:p>
            <a:endParaRPr lang="en-US" dirty="0"/>
          </a:p>
          <a:p>
            <a:endParaRPr lang="en-US" dirty="0"/>
          </a:p>
          <a:p>
            <a:r>
              <a:rPr lang="en-US" b="1" dirty="0">
                <a:solidFill>
                  <a:schemeClr val="accent1">
                    <a:lumMod val="75000"/>
                  </a:schemeClr>
                </a:solidFill>
              </a:rPr>
              <a:t>After applying the specified function on the sequence, the map() function returns the modified list. The map() function calls function(item) for each item in the sequence and returns a list of the return values.</a:t>
            </a:r>
          </a:p>
          <a:p>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55342" y="2156995"/>
            <a:ext cx="2933700" cy="390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786" y="4065794"/>
            <a:ext cx="4448175" cy="26205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TextBox 9"/>
          <p:cNvSpPr txBox="1"/>
          <p:nvPr/>
        </p:nvSpPr>
        <p:spPr>
          <a:xfrm>
            <a:off x="182899" y="3724481"/>
            <a:ext cx="9132124"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Example: </a:t>
            </a:r>
            <a:r>
              <a:rPr lang="en-US" dirty="0"/>
              <a:t>Program that adds 2 to every value in the list</a:t>
            </a:r>
            <a:endParaRPr lang="en-IN" dirty="0"/>
          </a:p>
        </p:txBody>
      </p:sp>
    </p:spTree>
    <p:extLst>
      <p:ext uri="{BB962C8B-B14F-4D97-AF65-F5344CB8AC3E}">
        <p14:creationId xmlns:p14="http://schemas.microsoft.com/office/powerpoint/2010/main" val="3851136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97520"/>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reduce() Function</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30</a:t>
            </a:fld>
            <a:endParaRPr lang="en-US"/>
          </a:p>
        </p:txBody>
      </p:sp>
      <p:sp>
        <p:nvSpPr>
          <p:cNvPr id="7" name="Rectangle 6"/>
          <p:cNvSpPr/>
          <p:nvPr/>
        </p:nvSpPr>
        <p:spPr>
          <a:xfrm>
            <a:off x="142501" y="1724430"/>
            <a:ext cx="11808843" cy="874535"/>
          </a:xfrm>
          <a:prstGeom prst="rect">
            <a:avLst/>
          </a:prstGeom>
        </p:spPr>
        <p:txBody>
          <a:bodyPr wrap="square">
            <a:spAutoFit/>
          </a:bodyPr>
          <a:lstStyle/>
          <a:p>
            <a:pPr>
              <a:lnSpc>
                <a:spcPct val="150000"/>
              </a:lnSpc>
            </a:pPr>
            <a:r>
              <a:rPr lang="en-US" b="1" dirty="0">
                <a:solidFill>
                  <a:schemeClr val="accent1">
                    <a:lumMod val="75000"/>
                  </a:schemeClr>
                </a:solidFill>
              </a:rPr>
              <a:t>The reduce() function with syntax as given below returns a single value generated by calling the function</a:t>
            </a:r>
          </a:p>
          <a:p>
            <a:pPr>
              <a:lnSpc>
                <a:spcPct val="150000"/>
              </a:lnSpc>
            </a:pPr>
            <a:r>
              <a:rPr lang="en-US" b="1" dirty="0">
                <a:solidFill>
                  <a:schemeClr val="accent1">
                    <a:lumMod val="75000"/>
                  </a:schemeClr>
                </a:solidFill>
              </a:rPr>
              <a:t>on the first two items of the sequence, then on the result and the next item, and so on.</a:t>
            </a:r>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539" y="2717492"/>
            <a:ext cx="2762250" cy="352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539" y="3711206"/>
            <a:ext cx="8658225" cy="2466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TextBox 10"/>
          <p:cNvSpPr txBox="1"/>
          <p:nvPr/>
        </p:nvSpPr>
        <p:spPr>
          <a:xfrm>
            <a:off x="142501" y="3198793"/>
            <a:ext cx="9132124"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Example: </a:t>
            </a:r>
            <a:r>
              <a:rPr lang="en-US" dirty="0"/>
              <a:t>Program to calculate the sum of values in a list using the reduce() function</a:t>
            </a:r>
            <a:endParaRPr lang="en-IN" dirty="0"/>
          </a:p>
        </p:txBody>
      </p:sp>
    </p:spTree>
    <p:extLst>
      <p:ext uri="{BB962C8B-B14F-4D97-AF65-F5344CB8AC3E}">
        <p14:creationId xmlns:p14="http://schemas.microsoft.com/office/powerpoint/2010/main" val="24378505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97520"/>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Tuple</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31</a:t>
            </a:fld>
            <a:endParaRPr lang="en-US"/>
          </a:p>
        </p:txBody>
      </p:sp>
      <p:sp>
        <p:nvSpPr>
          <p:cNvPr id="5" name="Rectangle 4"/>
          <p:cNvSpPr/>
          <p:nvPr/>
        </p:nvSpPr>
        <p:spPr>
          <a:xfrm>
            <a:off x="166255" y="1794361"/>
            <a:ext cx="11670856" cy="4524315"/>
          </a:xfrm>
          <a:prstGeom prst="rect">
            <a:avLst/>
          </a:prstGeom>
        </p:spPr>
        <p:txBody>
          <a:bodyPr wrap="square">
            <a:spAutoFit/>
          </a:bodyPr>
          <a:lstStyle/>
          <a:p>
            <a:pPr algn="just">
              <a:lnSpc>
                <a:spcPct val="150000"/>
              </a:lnSpc>
            </a:pPr>
            <a:r>
              <a:rPr lang="en-US" b="1" dirty="0">
                <a:solidFill>
                  <a:schemeClr val="accent1">
                    <a:lumMod val="75000"/>
                  </a:schemeClr>
                </a:solidFill>
              </a:rPr>
              <a:t>Like lists, tuple is another data structure supported by Python. It is very similar to lists but differs in two things.</a:t>
            </a:r>
          </a:p>
          <a:p>
            <a:pPr algn="just">
              <a:lnSpc>
                <a:spcPct val="150000"/>
              </a:lnSpc>
            </a:pPr>
            <a:r>
              <a:rPr lang="en-US" b="1" dirty="0">
                <a:solidFill>
                  <a:schemeClr val="accent1">
                    <a:lumMod val="75000"/>
                  </a:schemeClr>
                </a:solidFill>
              </a:rPr>
              <a:t>• First, a tuple is a sequence of </a:t>
            </a:r>
            <a:r>
              <a:rPr lang="en-US" b="1" i="1" dirty="0">
                <a:solidFill>
                  <a:schemeClr val="accent1">
                    <a:lumMod val="75000"/>
                  </a:schemeClr>
                </a:solidFill>
              </a:rPr>
              <a:t>immutable </a:t>
            </a:r>
            <a:r>
              <a:rPr lang="en-US" b="1" dirty="0">
                <a:solidFill>
                  <a:schemeClr val="accent1">
                    <a:lumMod val="75000"/>
                  </a:schemeClr>
                </a:solidFill>
              </a:rPr>
              <a:t>objects. This means that while you can change the value of one or more items in a list, you cannot change the values in a tuple.</a:t>
            </a:r>
          </a:p>
          <a:p>
            <a:pPr algn="just">
              <a:lnSpc>
                <a:spcPct val="150000"/>
              </a:lnSpc>
            </a:pPr>
            <a:r>
              <a:rPr lang="en-US" b="1" dirty="0">
                <a:solidFill>
                  <a:schemeClr val="accent1">
                    <a:lumMod val="75000"/>
                  </a:schemeClr>
                </a:solidFill>
              </a:rPr>
              <a:t>• Second, tuples use parentheses to define its elements whereas lists use square brackets.</a:t>
            </a:r>
          </a:p>
          <a:p>
            <a:pPr algn="just">
              <a:lnSpc>
                <a:spcPct val="150000"/>
              </a:lnSpc>
            </a:pPr>
            <a:r>
              <a:rPr lang="en-US" b="1" dirty="0">
                <a:solidFill>
                  <a:srgbClr val="C00000"/>
                </a:solidFill>
              </a:rPr>
              <a:t>Creating Tuple</a:t>
            </a:r>
          </a:p>
          <a:p>
            <a:pPr algn="just">
              <a:lnSpc>
                <a:spcPct val="150000"/>
              </a:lnSpc>
            </a:pPr>
            <a:r>
              <a:rPr lang="en-US" b="1" dirty="0">
                <a:solidFill>
                  <a:schemeClr val="accent1">
                    <a:lumMod val="75000"/>
                  </a:schemeClr>
                </a:solidFill>
              </a:rPr>
              <a:t>Creating a tuple is very simple and almost similar to creating a list. For creating a tuple, generally you need to just put the different comma-separated values within a parentheses as shown below.</a:t>
            </a:r>
          </a:p>
          <a:p>
            <a:pPr algn="just">
              <a:lnSpc>
                <a:spcPct val="150000"/>
              </a:lnSpc>
            </a:pPr>
            <a:r>
              <a:rPr lang="en-US" b="1" dirty="0">
                <a:solidFill>
                  <a:srgbClr val="C00000"/>
                </a:solidFill>
              </a:rPr>
              <a:t>Tup1 = (</a:t>
            </a:r>
            <a:r>
              <a:rPr lang="en-US" b="1" dirty="0" err="1">
                <a:solidFill>
                  <a:srgbClr val="C00000"/>
                </a:solidFill>
              </a:rPr>
              <a:t>val</a:t>
            </a:r>
            <a:r>
              <a:rPr lang="en-US" b="1" dirty="0">
                <a:solidFill>
                  <a:srgbClr val="C00000"/>
                </a:solidFill>
              </a:rPr>
              <a:t> 1, </a:t>
            </a:r>
            <a:r>
              <a:rPr lang="en-US" b="1" dirty="0" err="1">
                <a:solidFill>
                  <a:srgbClr val="C00000"/>
                </a:solidFill>
              </a:rPr>
              <a:t>val</a:t>
            </a:r>
            <a:r>
              <a:rPr lang="en-US" b="1" dirty="0">
                <a:solidFill>
                  <a:srgbClr val="C00000"/>
                </a:solidFill>
              </a:rPr>
              <a:t> 2,...)</a:t>
            </a:r>
          </a:p>
          <a:p>
            <a:pPr algn="just">
              <a:lnSpc>
                <a:spcPct val="150000"/>
              </a:lnSpc>
            </a:pPr>
            <a:r>
              <a:rPr lang="en-US" b="1" dirty="0">
                <a:solidFill>
                  <a:schemeClr val="accent1">
                    <a:lumMod val="75000"/>
                  </a:schemeClr>
                </a:solidFill>
              </a:rPr>
              <a:t>where </a:t>
            </a:r>
            <a:r>
              <a:rPr lang="en-US" b="1" dirty="0" err="1">
                <a:solidFill>
                  <a:schemeClr val="accent1">
                    <a:lumMod val="75000"/>
                  </a:schemeClr>
                </a:solidFill>
              </a:rPr>
              <a:t>val</a:t>
            </a:r>
            <a:r>
              <a:rPr lang="en-US" b="1" dirty="0">
                <a:solidFill>
                  <a:schemeClr val="accent1">
                    <a:lumMod val="75000"/>
                  </a:schemeClr>
                </a:solidFill>
              </a:rPr>
              <a:t> (or values) can be an integer, a floating number, a character, or a string</a:t>
            </a:r>
            <a:r>
              <a:rPr lang="en-US" dirty="0">
                <a:solidFill>
                  <a:srgbClr val="000000"/>
                </a:solidFill>
              </a:rPr>
              <a:t>.</a:t>
            </a:r>
          </a:p>
          <a:p>
            <a:endParaRPr lang="en-US" dirty="0"/>
          </a:p>
        </p:txBody>
      </p:sp>
    </p:spTree>
    <p:extLst>
      <p:ext uri="{BB962C8B-B14F-4D97-AF65-F5344CB8AC3E}">
        <p14:creationId xmlns:p14="http://schemas.microsoft.com/office/powerpoint/2010/main" val="28614803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7162" y="62415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Utility of Tuples</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32</a:t>
            </a:fld>
            <a:endParaRPr lang="en-US"/>
          </a:p>
        </p:txBody>
      </p:sp>
      <p:sp>
        <p:nvSpPr>
          <p:cNvPr id="6" name="Rectangle 5"/>
          <p:cNvSpPr/>
          <p:nvPr/>
        </p:nvSpPr>
        <p:spPr>
          <a:xfrm>
            <a:off x="157161" y="1515622"/>
            <a:ext cx="11794185" cy="2585323"/>
          </a:xfrm>
          <a:prstGeom prst="rect">
            <a:avLst/>
          </a:prstGeom>
        </p:spPr>
        <p:txBody>
          <a:bodyPr wrap="square">
            <a:spAutoFit/>
          </a:bodyPr>
          <a:lstStyle/>
          <a:p>
            <a:pPr algn="just">
              <a:lnSpc>
                <a:spcPct val="150000"/>
              </a:lnSpc>
            </a:pPr>
            <a:r>
              <a:rPr lang="en-US" b="1" dirty="0">
                <a:solidFill>
                  <a:schemeClr val="accent1">
                    <a:lumMod val="75000"/>
                  </a:schemeClr>
                </a:solidFill>
              </a:rPr>
              <a:t>In real-world applications, tuples are extremely useful for representing records or structures as we call</a:t>
            </a:r>
          </a:p>
          <a:p>
            <a:pPr algn="just">
              <a:lnSpc>
                <a:spcPct val="150000"/>
              </a:lnSpc>
            </a:pPr>
            <a:r>
              <a:rPr lang="en-US" b="1" dirty="0">
                <a:solidFill>
                  <a:schemeClr val="accent1">
                    <a:lumMod val="75000"/>
                  </a:schemeClr>
                </a:solidFill>
              </a:rPr>
              <a:t>in other programming languages. These structures store related information about a subject together.</a:t>
            </a:r>
          </a:p>
          <a:p>
            <a:pPr algn="just">
              <a:lnSpc>
                <a:spcPct val="150000"/>
              </a:lnSpc>
            </a:pPr>
            <a:r>
              <a:rPr lang="en-US" b="1" dirty="0">
                <a:solidFill>
                  <a:schemeClr val="accent1">
                    <a:lumMod val="75000"/>
                  </a:schemeClr>
                </a:solidFill>
              </a:rPr>
              <a:t>The information belongs to different data types. </a:t>
            </a:r>
          </a:p>
          <a:p>
            <a:pPr algn="just">
              <a:lnSpc>
                <a:spcPct val="150000"/>
              </a:lnSpc>
            </a:pPr>
            <a:r>
              <a:rPr lang="en-US" b="1" dirty="0">
                <a:solidFill>
                  <a:schemeClr val="accent1">
                    <a:lumMod val="75000"/>
                  </a:schemeClr>
                </a:solidFill>
              </a:rPr>
              <a:t>For example, a tuple that stores information about a student can have elements like </a:t>
            </a:r>
            <a:r>
              <a:rPr lang="en-US" b="1" dirty="0" err="1">
                <a:solidFill>
                  <a:schemeClr val="accent1">
                    <a:lumMod val="75000"/>
                  </a:schemeClr>
                </a:solidFill>
              </a:rPr>
              <a:t>roll_no</a:t>
            </a:r>
            <a:r>
              <a:rPr lang="en-US" b="1" dirty="0">
                <a:solidFill>
                  <a:schemeClr val="accent1">
                    <a:lumMod val="75000"/>
                  </a:schemeClr>
                </a:solidFill>
              </a:rPr>
              <a:t>, name, course, total marks, </a:t>
            </a:r>
            <a:r>
              <a:rPr lang="en-US" b="1" dirty="0" err="1">
                <a:solidFill>
                  <a:schemeClr val="accent1">
                    <a:lumMod val="75000"/>
                  </a:schemeClr>
                </a:solidFill>
              </a:rPr>
              <a:t>avg</a:t>
            </a:r>
            <a:r>
              <a:rPr lang="en-US" b="1" dirty="0">
                <a:solidFill>
                  <a:schemeClr val="accent1">
                    <a:lumMod val="75000"/>
                  </a:schemeClr>
                </a:solidFill>
              </a:rPr>
              <a:t>, etc. Some built-in functions return a tuple. For example, the </a:t>
            </a:r>
            <a:r>
              <a:rPr lang="en-US" b="1" dirty="0" err="1">
                <a:solidFill>
                  <a:schemeClr val="accent1">
                    <a:lumMod val="75000"/>
                  </a:schemeClr>
                </a:solidFill>
              </a:rPr>
              <a:t>divmod</a:t>
            </a:r>
            <a:r>
              <a:rPr lang="en-US" b="1" dirty="0">
                <a:solidFill>
                  <a:schemeClr val="accent1">
                    <a:lumMod val="75000"/>
                  </a:schemeClr>
                </a:solidFill>
              </a:rPr>
              <a:t>() function returns two values—quotient as well as the remainder after performing the divide operation.</a:t>
            </a:r>
          </a:p>
        </p:txBody>
      </p:sp>
      <p:pic>
        <p:nvPicPr>
          <p:cNvPr id="5" name="Picture 4"/>
          <p:cNvPicPr>
            <a:picLocks noChangeAspect="1"/>
          </p:cNvPicPr>
          <p:nvPr/>
        </p:nvPicPr>
        <p:blipFill>
          <a:blip r:embed="rId2"/>
          <a:stretch>
            <a:fillRect/>
          </a:stretch>
        </p:blipFill>
        <p:spPr>
          <a:xfrm>
            <a:off x="1616159" y="4068387"/>
            <a:ext cx="3505968" cy="2248453"/>
          </a:xfrm>
          <a:prstGeom prst="rect">
            <a:avLst/>
          </a:prstGeom>
        </p:spPr>
      </p:pic>
      <p:pic>
        <p:nvPicPr>
          <p:cNvPr id="7" name="Picture 6"/>
          <p:cNvPicPr>
            <a:picLocks noChangeAspect="1"/>
          </p:cNvPicPr>
          <p:nvPr/>
        </p:nvPicPr>
        <p:blipFill>
          <a:blip r:embed="rId3"/>
          <a:stretch>
            <a:fillRect/>
          </a:stretch>
        </p:blipFill>
        <p:spPr>
          <a:xfrm>
            <a:off x="5326821" y="4112848"/>
            <a:ext cx="4166513" cy="2159532"/>
          </a:xfrm>
          <a:prstGeom prst="rect">
            <a:avLst/>
          </a:prstGeom>
        </p:spPr>
      </p:pic>
      <p:sp>
        <p:nvSpPr>
          <p:cNvPr id="10" name="TextBox 9"/>
          <p:cNvSpPr txBox="1"/>
          <p:nvPr/>
        </p:nvSpPr>
        <p:spPr>
          <a:xfrm>
            <a:off x="157162" y="4068387"/>
            <a:ext cx="1163785"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Examples:</a:t>
            </a:r>
          </a:p>
        </p:txBody>
      </p:sp>
    </p:spTree>
    <p:extLst>
      <p:ext uri="{BB962C8B-B14F-4D97-AF65-F5344CB8AC3E}">
        <p14:creationId xmlns:p14="http://schemas.microsoft.com/office/powerpoint/2010/main" val="4058285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97520"/>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Accessing Values in a Tuple</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33</a:t>
            </a:fld>
            <a:endParaRPr lang="en-US"/>
          </a:p>
        </p:txBody>
      </p:sp>
      <p:sp>
        <p:nvSpPr>
          <p:cNvPr id="5" name="Rectangle 4"/>
          <p:cNvSpPr/>
          <p:nvPr/>
        </p:nvSpPr>
        <p:spPr>
          <a:xfrm>
            <a:off x="216692" y="1683526"/>
            <a:ext cx="11758613" cy="1338828"/>
          </a:xfrm>
          <a:prstGeom prst="rect">
            <a:avLst/>
          </a:prstGeom>
        </p:spPr>
        <p:txBody>
          <a:bodyPr wrap="square">
            <a:spAutoFit/>
          </a:bodyPr>
          <a:lstStyle/>
          <a:p>
            <a:pPr algn="just">
              <a:lnSpc>
                <a:spcPct val="150000"/>
              </a:lnSpc>
            </a:pPr>
            <a:r>
              <a:rPr lang="en-US" b="1" dirty="0">
                <a:solidFill>
                  <a:schemeClr val="accent1">
                    <a:lumMod val="75000"/>
                  </a:schemeClr>
                </a:solidFill>
              </a:rPr>
              <a:t>Like other sequences (strings and lists) covered so far, indices in a tuple also starts at 0. You can even perform</a:t>
            </a:r>
          </a:p>
          <a:p>
            <a:pPr algn="just">
              <a:lnSpc>
                <a:spcPct val="150000"/>
              </a:lnSpc>
            </a:pPr>
            <a:r>
              <a:rPr lang="en-US" b="1" dirty="0">
                <a:solidFill>
                  <a:schemeClr val="accent1">
                    <a:lumMod val="75000"/>
                  </a:schemeClr>
                </a:solidFill>
              </a:rPr>
              <a:t>operations like slice, concatenate, etc. on a tuple. For example, to access values in tuple, slice operation is used along with the index or indices to obtain value stored at that index</a:t>
            </a:r>
          </a:p>
        </p:txBody>
      </p:sp>
      <p:pic>
        <p:nvPicPr>
          <p:cNvPr id="6" name="Picture 5"/>
          <p:cNvPicPr>
            <a:picLocks noChangeAspect="1"/>
          </p:cNvPicPr>
          <p:nvPr/>
        </p:nvPicPr>
        <p:blipFill>
          <a:blip r:embed="rId2"/>
          <a:stretch>
            <a:fillRect/>
          </a:stretch>
        </p:blipFill>
        <p:spPr>
          <a:xfrm>
            <a:off x="3326792" y="3107280"/>
            <a:ext cx="5538414" cy="3353626"/>
          </a:xfrm>
          <a:prstGeom prst="rect">
            <a:avLst/>
          </a:prstGeom>
        </p:spPr>
      </p:pic>
      <p:sp>
        <p:nvSpPr>
          <p:cNvPr id="9" name="TextBox 8"/>
          <p:cNvSpPr txBox="1"/>
          <p:nvPr/>
        </p:nvSpPr>
        <p:spPr>
          <a:xfrm>
            <a:off x="216692" y="3103628"/>
            <a:ext cx="1163785"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Example:</a:t>
            </a:r>
          </a:p>
        </p:txBody>
      </p:sp>
    </p:spTree>
    <p:extLst>
      <p:ext uri="{BB962C8B-B14F-4D97-AF65-F5344CB8AC3E}">
        <p14:creationId xmlns:p14="http://schemas.microsoft.com/office/powerpoint/2010/main" val="1873040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97520"/>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Deleting Elements in Tuple</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34</a:t>
            </a:fld>
            <a:endParaRPr lang="en-US"/>
          </a:p>
        </p:txBody>
      </p:sp>
      <p:sp>
        <p:nvSpPr>
          <p:cNvPr id="5" name="Rectangle 4"/>
          <p:cNvSpPr/>
          <p:nvPr/>
        </p:nvSpPr>
        <p:spPr>
          <a:xfrm>
            <a:off x="190500" y="1605903"/>
            <a:ext cx="11811000" cy="1290033"/>
          </a:xfrm>
          <a:prstGeom prst="rect">
            <a:avLst/>
          </a:prstGeom>
        </p:spPr>
        <p:txBody>
          <a:bodyPr wrap="square">
            <a:spAutoFit/>
          </a:bodyPr>
          <a:lstStyle/>
          <a:p>
            <a:pPr algn="just">
              <a:lnSpc>
                <a:spcPct val="150000"/>
              </a:lnSpc>
            </a:pPr>
            <a:r>
              <a:rPr lang="en-US" b="1" dirty="0">
                <a:solidFill>
                  <a:schemeClr val="accent1">
                    <a:lumMod val="75000"/>
                  </a:schemeClr>
                </a:solidFill>
              </a:rPr>
              <a:t>Since tuple is an immutable data structure, you cannot delete value(s) from it. Of course, you can create a new tuple that has all elements in your tuple except the ones you don't want (those you wanted to be deleted).</a:t>
            </a:r>
          </a:p>
        </p:txBody>
      </p:sp>
      <p:pic>
        <p:nvPicPr>
          <p:cNvPr id="7" name="Picture 6"/>
          <p:cNvPicPr>
            <a:picLocks noChangeAspect="1"/>
          </p:cNvPicPr>
          <p:nvPr/>
        </p:nvPicPr>
        <p:blipFill>
          <a:blip r:embed="rId2"/>
          <a:stretch>
            <a:fillRect/>
          </a:stretch>
        </p:blipFill>
        <p:spPr>
          <a:xfrm>
            <a:off x="1426845" y="3204903"/>
            <a:ext cx="5060930" cy="2807391"/>
          </a:xfrm>
          <a:prstGeom prst="rect">
            <a:avLst/>
          </a:prstGeom>
        </p:spPr>
      </p:pic>
      <p:pic>
        <p:nvPicPr>
          <p:cNvPr id="8" name="Picture 7"/>
          <p:cNvPicPr>
            <a:picLocks noChangeAspect="1"/>
          </p:cNvPicPr>
          <p:nvPr/>
        </p:nvPicPr>
        <p:blipFill>
          <a:blip r:embed="rId3"/>
          <a:stretch>
            <a:fillRect/>
          </a:stretch>
        </p:blipFill>
        <p:spPr>
          <a:xfrm>
            <a:off x="6593675" y="3179497"/>
            <a:ext cx="5030313" cy="2858204"/>
          </a:xfrm>
          <a:prstGeom prst="rect">
            <a:avLst/>
          </a:prstGeom>
        </p:spPr>
      </p:pic>
      <p:sp>
        <p:nvSpPr>
          <p:cNvPr id="10" name="TextBox 9"/>
          <p:cNvSpPr txBox="1"/>
          <p:nvPr/>
        </p:nvSpPr>
        <p:spPr>
          <a:xfrm>
            <a:off x="157160" y="3232675"/>
            <a:ext cx="1163785"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Examples:</a:t>
            </a:r>
          </a:p>
        </p:txBody>
      </p:sp>
    </p:spTree>
    <p:extLst>
      <p:ext uri="{BB962C8B-B14F-4D97-AF65-F5344CB8AC3E}">
        <p14:creationId xmlns:p14="http://schemas.microsoft.com/office/powerpoint/2010/main" val="2086115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97520"/>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Basic Tuple Operations</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35</a:t>
            </a:fld>
            <a:endParaRPr lang="en-US"/>
          </a:p>
        </p:txBody>
      </p:sp>
      <p:pic>
        <p:nvPicPr>
          <p:cNvPr id="5" name="Picture 4"/>
          <p:cNvPicPr>
            <a:picLocks noChangeAspect="1"/>
          </p:cNvPicPr>
          <p:nvPr/>
        </p:nvPicPr>
        <p:blipFill>
          <a:blip r:embed="rId2"/>
          <a:stretch>
            <a:fillRect/>
          </a:stretch>
        </p:blipFill>
        <p:spPr>
          <a:xfrm>
            <a:off x="1078375" y="1718404"/>
            <a:ext cx="10263849" cy="4598532"/>
          </a:xfrm>
          <a:prstGeom prst="rect">
            <a:avLst/>
          </a:prstGeom>
        </p:spPr>
      </p:pic>
    </p:spTree>
    <p:extLst>
      <p:ext uri="{BB962C8B-B14F-4D97-AF65-F5344CB8AC3E}">
        <p14:creationId xmlns:p14="http://schemas.microsoft.com/office/powerpoint/2010/main" val="33803969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97520"/>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Tuple Assignment</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36</a:t>
            </a:fld>
            <a:endParaRPr lang="en-US"/>
          </a:p>
        </p:txBody>
      </p:sp>
      <p:sp>
        <p:nvSpPr>
          <p:cNvPr id="5" name="Rectangle 4"/>
          <p:cNvSpPr/>
          <p:nvPr/>
        </p:nvSpPr>
        <p:spPr>
          <a:xfrm>
            <a:off x="166502" y="1690339"/>
            <a:ext cx="11858996" cy="1754326"/>
          </a:xfrm>
          <a:prstGeom prst="rect">
            <a:avLst/>
          </a:prstGeom>
        </p:spPr>
        <p:txBody>
          <a:bodyPr wrap="square">
            <a:spAutoFit/>
          </a:bodyPr>
          <a:lstStyle/>
          <a:p>
            <a:pPr algn="just">
              <a:lnSpc>
                <a:spcPct val="150000"/>
              </a:lnSpc>
            </a:pPr>
            <a:r>
              <a:rPr lang="en-US" b="1" dirty="0">
                <a:solidFill>
                  <a:schemeClr val="accent1">
                    <a:lumMod val="75000"/>
                  </a:schemeClr>
                </a:solidFill>
              </a:rPr>
              <a:t>Tuple assignment is a very powerful feature in Python. It allows a tuple of variables on the left side of the assignment operator to be assigned values from a tuple given on the right side of the assignment operator.</a:t>
            </a:r>
          </a:p>
          <a:p>
            <a:pPr algn="just">
              <a:lnSpc>
                <a:spcPct val="150000"/>
              </a:lnSpc>
            </a:pPr>
            <a:r>
              <a:rPr lang="en-US" b="1" dirty="0">
                <a:solidFill>
                  <a:schemeClr val="accent1">
                    <a:lumMod val="75000"/>
                  </a:schemeClr>
                </a:solidFill>
              </a:rPr>
              <a:t>Each value is assigned to its respective variable. In case, an expression is specified on the right side of the assignment operator, first that expression is evaluated and then assignment is done.</a:t>
            </a:r>
          </a:p>
        </p:txBody>
      </p:sp>
      <p:pic>
        <p:nvPicPr>
          <p:cNvPr id="6" name="Picture 5"/>
          <p:cNvPicPr>
            <a:picLocks noChangeAspect="1"/>
          </p:cNvPicPr>
          <p:nvPr/>
        </p:nvPicPr>
        <p:blipFill>
          <a:blip r:embed="rId2"/>
          <a:stretch>
            <a:fillRect/>
          </a:stretch>
        </p:blipFill>
        <p:spPr>
          <a:xfrm>
            <a:off x="1473928" y="3529102"/>
            <a:ext cx="6742025" cy="2792160"/>
          </a:xfrm>
          <a:prstGeom prst="rect">
            <a:avLst/>
          </a:prstGeom>
        </p:spPr>
      </p:pic>
      <p:sp>
        <p:nvSpPr>
          <p:cNvPr id="8" name="TextBox 7"/>
          <p:cNvSpPr txBox="1"/>
          <p:nvPr/>
        </p:nvSpPr>
        <p:spPr>
          <a:xfrm>
            <a:off x="142504" y="3529102"/>
            <a:ext cx="1163785"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Example:</a:t>
            </a:r>
          </a:p>
        </p:txBody>
      </p:sp>
    </p:spTree>
    <p:extLst>
      <p:ext uri="{BB962C8B-B14F-4D97-AF65-F5344CB8AC3E}">
        <p14:creationId xmlns:p14="http://schemas.microsoft.com/office/powerpoint/2010/main" val="36317785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97520"/>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Tuples for Returning Multiple Values and Nested Tuples</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37</a:t>
            </a:fld>
            <a:endParaRPr lang="en-US"/>
          </a:p>
        </p:txBody>
      </p:sp>
      <p:pic>
        <p:nvPicPr>
          <p:cNvPr id="6" name="Picture 5"/>
          <p:cNvPicPr>
            <a:picLocks noChangeAspect="1"/>
          </p:cNvPicPr>
          <p:nvPr/>
        </p:nvPicPr>
        <p:blipFill>
          <a:blip r:embed="rId2"/>
          <a:stretch>
            <a:fillRect/>
          </a:stretch>
        </p:blipFill>
        <p:spPr>
          <a:xfrm>
            <a:off x="1540453" y="3615588"/>
            <a:ext cx="4341732" cy="888174"/>
          </a:xfrm>
          <a:prstGeom prst="rect">
            <a:avLst/>
          </a:prstGeom>
        </p:spPr>
      </p:pic>
      <p:pic>
        <p:nvPicPr>
          <p:cNvPr id="7" name="Picture 6"/>
          <p:cNvPicPr>
            <a:picLocks noChangeAspect="1"/>
          </p:cNvPicPr>
          <p:nvPr/>
        </p:nvPicPr>
        <p:blipFill>
          <a:blip r:embed="rId3"/>
          <a:stretch>
            <a:fillRect/>
          </a:stretch>
        </p:blipFill>
        <p:spPr>
          <a:xfrm>
            <a:off x="6528542" y="1971028"/>
            <a:ext cx="5082268" cy="2536921"/>
          </a:xfrm>
          <a:prstGeom prst="rect">
            <a:avLst/>
          </a:prstGeom>
        </p:spPr>
      </p:pic>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0453" y="1803067"/>
            <a:ext cx="4341732" cy="17317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TextBox 9"/>
          <p:cNvSpPr txBox="1"/>
          <p:nvPr/>
        </p:nvSpPr>
        <p:spPr>
          <a:xfrm>
            <a:off x="142504" y="1818270"/>
            <a:ext cx="1163785"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Examples:</a:t>
            </a:r>
          </a:p>
        </p:txBody>
      </p:sp>
    </p:spTree>
    <p:extLst>
      <p:ext uri="{BB962C8B-B14F-4D97-AF65-F5344CB8AC3E}">
        <p14:creationId xmlns:p14="http://schemas.microsoft.com/office/powerpoint/2010/main" val="22179246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97520"/>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Checking the Index: index() method</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38</a:t>
            </a:fld>
            <a:endParaRPr lang="en-US"/>
          </a:p>
        </p:txBody>
      </p:sp>
      <p:sp>
        <p:nvSpPr>
          <p:cNvPr id="6" name="Rectangle 5"/>
          <p:cNvSpPr/>
          <p:nvPr/>
        </p:nvSpPr>
        <p:spPr>
          <a:xfrm>
            <a:off x="161924" y="1613138"/>
            <a:ext cx="11782425" cy="1338828"/>
          </a:xfrm>
          <a:prstGeom prst="rect">
            <a:avLst/>
          </a:prstGeom>
        </p:spPr>
        <p:txBody>
          <a:bodyPr wrap="square">
            <a:spAutoFit/>
          </a:bodyPr>
          <a:lstStyle/>
          <a:p>
            <a:pPr algn="just">
              <a:lnSpc>
                <a:spcPct val="150000"/>
              </a:lnSpc>
            </a:pPr>
            <a:r>
              <a:rPr lang="en-US" b="1" dirty="0">
                <a:solidFill>
                  <a:schemeClr val="accent1">
                    <a:lumMod val="75000"/>
                  </a:schemeClr>
                </a:solidFill>
              </a:rPr>
              <a:t>The index of an element in the tuple can be obtained by using the index() method. If the element being searched is not present in the list, then error is generated. The syntax of index() is given as, </a:t>
            </a:r>
            <a:r>
              <a:rPr lang="en-US" b="1" dirty="0" err="1">
                <a:solidFill>
                  <a:srgbClr val="C00000"/>
                </a:solidFill>
              </a:rPr>
              <a:t>list.index</a:t>
            </a:r>
            <a:r>
              <a:rPr lang="en-US" b="1" dirty="0">
                <a:solidFill>
                  <a:srgbClr val="C00000"/>
                </a:solidFill>
              </a:rPr>
              <a:t>(</a:t>
            </a:r>
            <a:r>
              <a:rPr lang="en-US" b="1" dirty="0" err="1">
                <a:solidFill>
                  <a:srgbClr val="C00000"/>
                </a:solidFill>
              </a:rPr>
              <a:t>obj</a:t>
            </a:r>
            <a:r>
              <a:rPr lang="en-US" b="1" dirty="0">
                <a:solidFill>
                  <a:srgbClr val="C00000"/>
                </a:solidFill>
              </a:rPr>
              <a:t>) </a:t>
            </a:r>
            <a:r>
              <a:rPr lang="en-US" b="1" dirty="0">
                <a:solidFill>
                  <a:schemeClr val="accent1">
                    <a:lumMod val="75000"/>
                  </a:schemeClr>
                </a:solidFill>
              </a:rPr>
              <a:t>where, </a:t>
            </a:r>
            <a:r>
              <a:rPr lang="en-US" b="1" dirty="0" err="1">
                <a:solidFill>
                  <a:srgbClr val="C00000"/>
                </a:solidFill>
              </a:rPr>
              <a:t>obj</a:t>
            </a:r>
            <a:r>
              <a:rPr lang="en-US" b="1" dirty="0">
                <a:solidFill>
                  <a:srgbClr val="C00000"/>
                </a:solidFill>
              </a:rPr>
              <a:t> </a:t>
            </a:r>
            <a:r>
              <a:rPr lang="en-US" b="1" dirty="0">
                <a:solidFill>
                  <a:schemeClr val="accent1">
                    <a:lumMod val="75000"/>
                  </a:schemeClr>
                </a:solidFill>
              </a:rPr>
              <a:t>is the object to be found out.</a:t>
            </a:r>
          </a:p>
        </p:txBody>
      </p:sp>
      <p:pic>
        <p:nvPicPr>
          <p:cNvPr id="5" name="Picture 4"/>
          <p:cNvPicPr>
            <a:picLocks noChangeAspect="1"/>
          </p:cNvPicPr>
          <p:nvPr/>
        </p:nvPicPr>
        <p:blipFill>
          <a:blip r:embed="rId2"/>
          <a:stretch>
            <a:fillRect/>
          </a:stretch>
        </p:blipFill>
        <p:spPr>
          <a:xfrm>
            <a:off x="2041031" y="3134528"/>
            <a:ext cx="3048668" cy="1714922"/>
          </a:xfrm>
          <a:prstGeom prst="rect">
            <a:avLst/>
          </a:prstGeom>
        </p:spPr>
      </p:pic>
      <p:pic>
        <p:nvPicPr>
          <p:cNvPr id="7" name="Picture 6"/>
          <p:cNvPicPr>
            <a:picLocks noChangeAspect="1"/>
          </p:cNvPicPr>
          <p:nvPr/>
        </p:nvPicPr>
        <p:blipFill>
          <a:blip r:embed="rId3"/>
          <a:stretch>
            <a:fillRect/>
          </a:stretch>
        </p:blipFill>
        <p:spPr>
          <a:xfrm>
            <a:off x="5147692" y="3134528"/>
            <a:ext cx="6097336" cy="3186733"/>
          </a:xfrm>
          <a:prstGeom prst="rect">
            <a:avLst/>
          </a:prstGeom>
        </p:spPr>
      </p:pic>
      <p:sp>
        <p:nvSpPr>
          <p:cNvPr id="9" name="TextBox 8"/>
          <p:cNvSpPr txBox="1"/>
          <p:nvPr/>
        </p:nvSpPr>
        <p:spPr>
          <a:xfrm>
            <a:off x="161924" y="3134528"/>
            <a:ext cx="1163785"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Examples:</a:t>
            </a:r>
          </a:p>
        </p:txBody>
      </p:sp>
    </p:spTree>
    <p:extLst>
      <p:ext uri="{BB962C8B-B14F-4D97-AF65-F5344CB8AC3E}">
        <p14:creationId xmlns:p14="http://schemas.microsoft.com/office/powerpoint/2010/main" val="33084430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97520"/>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1" dirty="0"/>
          </a:p>
          <a:p>
            <a:pPr algn="ctr"/>
            <a:r>
              <a:rPr lang="en-US" sz="3200" b="1" dirty="0"/>
              <a:t>count()Method and List Comprehension and Tuples</a:t>
            </a:r>
            <a:endParaRPr lang="en-US" sz="3200" dirty="0"/>
          </a:p>
          <a:p>
            <a:pPr algn="ct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39</a:t>
            </a:fld>
            <a:endParaRPr lang="en-US"/>
          </a:p>
        </p:txBody>
      </p:sp>
      <p:pic>
        <p:nvPicPr>
          <p:cNvPr id="5" name="Picture 4"/>
          <p:cNvPicPr>
            <a:picLocks noChangeAspect="1"/>
          </p:cNvPicPr>
          <p:nvPr/>
        </p:nvPicPr>
        <p:blipFill>
          <a:blip r:embed="rId2"/>
          <a:stretch>
            <a:fillRect/>
          </a:stretch>
        </p:blipFill>
        <p:spPr>
          <a:xfrm>
            <a:off x="1306289" y="2002936"/>
            <a:ext cx="4580161" cy="1624670"/>
          </a:xfrm>
          <a:prstGeom prst="rect">
            <a:avLst/>
          </a:prstGeom>
        </p:spPr>
      </p:pic>
      <p:pic>
        <p:nvPicPr>
          <p:cNvPr id="6" name="Picture 5"/>
          <p:cNvPicPr>
            <a:picLocks noChangeAspect="1"/>
          </p:cNvPicPr>
          <p:nvPr/>
        </p:nvPicPr>
        <p:blipFill>
          <a:blip r:embed="rId3"/>
          <a:stretch>
            <a:fillRect/>
          </a:stretch>
        </p:blipFill>
        <p:spPr>
          <a:xfrm>
            <a:off x="6096001" y="2002936"/>
            <a:ext cx="4999630" cy="2418939"/>
          </a:xfrm>
          <a:prstGeom prst="rect">
            <a:avLst/>
          </a:prstGeom>
        </p:spPr>
      </p:pic>
      <p:sp>
        <p:nvSpPr>
          <p:cNvPr id="8" name="TextBox 7"/>
          <p:cNvSpPr txBox="1"/>
          <p:nvPr/>
        </p:nvSpPr>
        <p:spPr>
          <a:xfrm>
            <a:off x="142504" y="2002936"/>
            <a:ext cx="1163785"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Examples:</a:t>
            </a:r>
          </a:p>
        </p:txBody>
      </p:sp>
    </p:spTree>
    <p:extLst>
      <p:ext uri="{BB962C8B-B14F-4D97-AF65-F5344CB8AC3E}">
        <p14:creationId xmlns:p14="http://schemas.microsoft.com/office/powerpoint/2010/main" val="9356711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97520"/>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Variable-length Argument Tuples</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40</a:t>
            </a:fld>
            <a:endParaRPr lang="en-US"/>
          </a:p>
        </p:txBody>
      </p:sp>
      <p:sp>
        <p:nvSpPr>
          <p:cNvPr id="5" name="Rectangle 4"/>
          <p:cNvSpPr/>
          <p:nvPr/>
        </p:nvSpPr>
        <p:spPr>
          <a:xfrm>
            <a:off x="142504" y="1694860"/>
            <a:ext cx="11818515" cy="3000821"/>
          </a:xfrm>
          <a:prstGeom prst="rect">
            <a:avLst/>
          </a:prstGeom>
        </p:spPr>
        <p:txBody>
          <a:bodyPr wrap="square">
            <a:spAutoFit/>
          </a:bodyPr>
          <a:lstStyle/>
          <a:p>
            <a:pPr algn="just">
              <a:lnSpc>
                <a:spcPct val="150000"/>
              </a:lnSpc>
            </a:pPr>
            <a:r>
              <a:rPr lang="en-US" b="1" dirty="0">
                <a:solidFill>
                  <a:schemeClr val="accent1">
                    <a:lumMod val="75000"/>
                  </a:schemeClr>
                </a:solidFill>
              </a:rPr>
              <a:t>Many built-in functions like max(), min(), sum(), etc. use variable-length arguments since these functions themselves do not know how many arguments will be passed to them. It allows a function to accept a variable (different) number of arguments. This is especially useful in defining functions that are applicable to a large variety of arguments. For example, if you have a function that displays all the parameters passed to it, then even the function does not know how many values it will be passed. In such cases, we use a variable-length argument that begins with a '*' symbol. Any argument that starts with a '*' symbol is known as gather and specifies a variable-length argument.</a:t>
            </a:r>
          </a:p>
        </p:txBody>
      </p:sp>
      <p:pic>
        <p:nvPicPr>
          <p:cNvPr id="6" name="Picture 5"/>
          <p:cNvPicPr>
            <a:picLocks noChangeAspect="1"/>
          </p:cNvPicPr>
          <p:nvPr/>
        </p:nvPicPr>
        <p:blipFill>
          <a:blip r:embed="rId2"/>
          <a:stretch>
            <a:fillRect/>
          </a:stretch>
        </p:blipFill>
        <p:spPr>
          <a:xfrm>
            <a:off x="1796971" y="4683211"/>
            <a:ext cx="3293896" cy="1879524"/>
          </a:xfrm>
          <a:prstGeom prst="rect">
            <a:avLst/>
          </a:prstGeom>
        </p:spPr>
      </p:pic>
      <p:sp>
        <p:nvSpPr>
          <p:cNvPr id="8" name="TextBox 7"/>
          <p:cNvSpPr txBox="1"/>
          <p:nvPr/>
        </p:nvSpPr>
        <p:spPr>
          <a:xfrm>
            <a:off x="142503" y="4698223"/>
            <a:ext cx="1163785"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Example:</a:t>
            </a:r>
          </a:p>
        </p:txBody>
      </p:sp>
    </p:spTree>
    <p:extLst>
      <p:ext uri="{BB962C8B-B14F-4D97-AF65-F5344CB8AC3E}">
        <p14:creationId xmlns:p14="http://schemas.microsoft.com/office/powerpoint/2010/main" val="42338514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97520"/>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The zip() Function</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41</a:t>
            </a:fld>
            <a:endParaRPr lang="en-US"/>
          </a:p>
        </p:txBody>
      </p:sp>
      <p:sp>
        <p:nvSpPr>
          <p:cNvPr id="5" name="Rectangle 4"/>
          <p:cNvSpPr/>
          <p:nvPr/>
        </p:nvSpPr>
        <p:spPr>
          <a:xfrm>
            <a:off x="221267" y="1902561"/>
            <a:ext cx="11749466" cy="874535"/>
          </a:xfrm>
          <a:prstGeom prst="rect">
            <a:avLst/>
          </a:prstGeom>
        </p:spPr>
        <p:txBody>
          <a:bodyPr wrap="square">
            <a:spAutoFit/>
          </a:bodyPr>
          <a:lstStyle/>
          <a:p>
            <a:pPr>
              <a:lnSpc>
                <a:spcPct val="150000"/>
              </a:lnSpc>
            </a:pPr>
            <a:r>
              <a:rPr lang="en-US" b="1" dirty="0">
                <a:solidFill>
                  <a:schemeClr val="accent1">
                    <a:lumMod val="75000"/>
                  </a:schemeClr>
                </a:solidFill>
              </a:rPr>
              <a:t>The zip() is a built-in function that takes two or more sequences and "zips" them into a list of tuples. The tuple thus, formed has one element from each sequence. </a:t>
            </a:r>
          </a:p>
        </p:txBody>
      </p:sp>
      <p:sp>
        <p:nvSpPr>
          <p:cNvPr id="8" name="TextBox 7"/>
          <p:cNvSpPr txBox="1"/>
          <p:nvPr/>
        </p:nvSpPr>
        <p:spPr>
          <a:xfrm>
            <a:off x="221267" y="3154590"/>
            <a:ext cx="9742130"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Example: </a:t>
            </a:r>
            <a:r>
              <a:rPr lang="en-US" dirty="0"/>
              <a:t>Program to show the use of zip() function</a:t>
            </a:r>
            <a:endParaRPr lang="en-IN"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802" y="3677647"/>
            <a:ext cx="5238750" cy="1647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399625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97520"/>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Advantages of Tuple over List</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42</a:t>
            </a:fld>
            <a:endParaRPr lang="en-US"/>
          </a:p>
        </p:txBody>
      </p:sp>
      <p:sp>
        <p:nvSpPr>
          <p:cNvPr id="5" name="Rectangle 4"/>
          <p:cNvSpPr/>
          <p:nvPr/>
        </p:nvSpPr>
        <p:spPr>
          <a:xfrm>
            <a:off x="142504" y="1906997"/>
            <a:ext cx="11697071" cy="4247317"/>
          </a:xfrm>
          <a:prstGeom prst="rect">
            <a:avLst/>
          </a:prstGeom>
        </p:spPr>
        <p:txBody>
          <a:bodyPr wrap="square">
            <a:spAutoFit/>
          </a:bodyPr>
          <a:lstStyle/>
          <a:p>
            <a:pPr algn="just">
              <a:lnSpc>
                <a:spcPct val="150000"/>
              </a:lnSpc>
            </a:pPr>
            <a:r>
              <a:rPr lang="en-US" b="1" dirty="0">
                <a:latin typeface="TimesNewRomanPSMT"/>
              </a:rPr>
              <a:t>• </a:t>
            </a:r>
            <a:r>
              <a:rPr lang="en-US" b="1" dirty="0">
                <a:solidFill>
                  <a:schemeClr val="accent1">
                    <a:lumMod val="75000"/>
                  </a:schemeClr>
                </a:solidFill>
              </a:rPr>
              <a:t>Tuples are used to store values of different data types. Lists can however, store data of similar data types.</a:t>
            </a:r>
          </a:p>
          <a:p>
            <a:pPr algn="just">
              <a:lnSpc>
                <a:spcPct val="150000"/>
              </a:lnSpc>
            </a:pPr>
            <a:r>
              <a:rPr lang="en-US" b="1" dirty="0">
                <a:solidFill>
                  <a:schemeClr val="accent1">
                    <a:lumMod val="75000"/>
                  </a:schemeClr>
                </a:solidFill>
              </a:rPr>
              <a:t>• Since tuples are immutable, iterating through tuples is faster than iterating over a list. This means that a</a:t>
            </a:r>
          </a:p>
          <a:p>
            <a:pPr algn="just">
              <a:lnSpc>
                <a:spcPct val="150000"/>
              </a:lnSpc>
            </a:pPr>
            <a:r>
              <a:rPr lang="en-US" b="1" dirty="0">
                <a:solidFill>
                  <a:schemeClr val="accent1">
                    <a:lumMod val="75000"/>
                  </a:schemeClr>
                </a:solidFill>
              </a:rPr>
              <a:t>  tuple performs better than a list.</a:t>
            </a:r>
          </a:p>
          <a:p>
            <a:pPr algn="just">
              <a:lnSpc>
                <a:spcPct val="150000"/>
              </a:lnSpc>
            </a:pPr>
            <a:r>
              <a:rPr lang="en-US" b="1" dirty="0">
                <a:solidFill>
                  <a:schemeClr val="accent1">
                    <a:lumMod val="75000"/>
                  </a:schemeClr>
                </a:solidFill>
              </a:rPr>
              <a:t>• Tuples can be used as key for a dictionary but lists cannot be used as keys. </a:t>
            </a:r>
          </a:p>
          <a:p>
            <a:pPr algn="just">
              <a:lnSpc>
                <a:spcPct val="150000"/>
              </a:lnSpc>
            </a:pPr>
            <a:r>
              <a:rPr lang="en-US" b="1" dirty="0">
                <a:solidFill>
                  <a:schemeClr val="accent1">
                    <a:lumMod val="75000"/>
                  </a:schemeClr>
                </a:solidFill>
              </a:rPr>
              <a:t>• Tuples are best suited for storing data that is write-protected.</a:t>
            </a:r>
          </a:p>
          <a:p>
            <a:pPr algn="just">
              <a:lnSpc>
                <a:spcPct val="150000"/>
              </a:lnSpc>
            </a:pPr>
            <a:r>
              <a:rPr lang="en-US" b="1" dirty="0">
                <a:solidFill>
                  <a:schemeClr val="accent1">
                    <a:lumMod val="75000"/>
                  </a:schemeClr>
                </a:solidFill>
              </a:rPr>
              <a:t>• Tuples can be used in place of lists where the number of values is known and small.</a:t>
            </a:r>
          </a:p>
          <a:p>
            <a:pPr algn="just">
              <a:lnSpc>
                <a:spcPct val="150000"/>
              </a:lnSpc>
            </a:pPr>
            <a:r>
              <a:rPr lang="en-US" b="1" dirty="0">
                <a:solidFill>
                  <a:schemeClr val="accent1">
                    <a:lumMod val="75000"/>
                  </a:schemeClr>
                </a:solidFill>
              </a:rPr>
              <a:t>• If you are passing a tuple as an argument to a function, then the potential for unexpected behavior due to</a:t>
            </a:r>
          </a:p>
          <a:p>
            <a:pPr algn="just">
              <a:lnSpc>
                <a:spcPct val="150000"/>
              </a:lnSpc>
            </a:pPr>
            <a:r>
              <a:rPr lang="en-US" b="1" dirty="0">
                <a:solidFill>
                  <a:schemeClr val="accent1">
                    <a:lumMod val="75000"/>
                  </a:schemeClr>
                </a:solidFill>
              </a:rPr>
              <a:t>  aliasing gets reduced.</a:t>
            </a:r>
          </a:p>
          <a:p>
            <a:pPr algn="just">
              <a:lnSpc>
                <a:spcPct val="150000"/>
              </a:lnSpc>
            </a:pPr>
            <a:r>
              <a:rPr lang="en-US" b="1" dirty="0">
                <a:solidFill>
                  <a:schemeClr val="accent1">
                    <a:lumMod val="75000"/>
                  </a:schemeClr>
                </a:solidFill>
              </a:rPr>
              <a:t>• Multiple values from a function can be returned using a tuple.</a:t>
            </a:r>
          </a:p>
          <a:p>
            <a:pPr algn="just">
              <a:lnSpc>
                <a:spcPct val="150000"/>
              </a:lnSpc>
            </a:pPr>
            <a:r>
              <a:rPr lang="en-US" b="1" dirty="0">
                <a:solidFill>
                  <a:schemeClr val="accent1">
                    <a:lumMod val="75000"/>
                  </a:schemeClr>
                </a:solidFill>
              </a:rPr>
              <a:t>• Tuples are used to format strings.</a:t>
            </a:r>
          </a:p>
        </p:txBody>
      </p:sp>
    </p:spTree>
    <p:extLst>
      <p:ext uri="{BB962C8B-B14F-4D97-AF65-F5344CB8AC3E}">
        <p14:creationId xmlns:p14="http://schemas.microsoft.com/office/powerpoint/2010/main" val="8230697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97520"/>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Sets</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43</a:t>
            </a:fld>
            <a:endParaRPr lang="en-US"/>
          </a:p>
        </p:txBody>
      </p:sp>
      <p:sp>
        <p:nvSpPr>
          <p:cNvPr id="6" name="Rectangle 5"/>
          <p:cNvSpPr/>
          <p:nvPr/>
        </p:nvSpPr>
        <p:spPr>
          <a:xfrm>
            <a:off x="152235" y="1841716"/>
            <a:ext cx="11913095" cy="2585323"/>
          </a:xfrm>
          <a:prstGeom prst="rect">
            <a:avLst/>
          </a:prstGeom>
        </p:spPr>
        <p:txBody>
          <a:bodyPr wrap="square">
            <a:spAutoFit/>
          </a:bodyPr>
          <a:lstStyle/>
          <a:p>
            <a:pPr>
              <a:lnSpc>
                <a:spcPct val="150000"/>
              </a:lnSpc>
            </a:pPr>
            <a:r>
              <a:rPr lang="en-US" b="1" i="1" dirty="0">
                <a:solidFill>
                  <a:srgbClr val="C00000"/>
                </a:solidFill>
              </a:rPr>
              <a:t>Sets</a:t>
            </a:r>
            <a:r>
              <a:rPr lang="en-US" b="1" dirty="0">
                <a:solidFill>
                  <a:schemeClr val="accent1">
                    <a:lumMod val="75000"/>
                  </a:schemeClr>
                </a:solidFill>
              </a:rPr>
              <a:t> is another data structure supported by Python. Basically, sets are same as lists but with a difference that sets are lists with no duplicate entries. Technically, a set is a mutable and an unordered collection of items. This means that we can easily add or remove items from it.</a:t>
            </a:r>
          </a:p>
          <a:p>
            <a:pPr>
              <a:lnSpc>
                <a:spcPct val="150000"/>
              </a:lnSpc>
            </a:pPr>
            <a:r>
              <a:rPr lang="en-US" b="1" dirty="0">
                <a:solidFill>
                  <a:schemeClr val="accent1">
                    <a:lumMod val="75000"/>
                  </a:schemeClr>
                </a:solidFill>
              </a:rPr>
              <a:t>A set is created by placing all the elements inside curly brackets {}, separated by comma or by using the</a:t>
            </a:r>
          </a:p>
          <a:p>
            <a:pPr>
              <a:lnSpc>
                <a:spcPct val="150000"/>
              </a:lnSpc>
            </a:pPr>
            <a:r>
              <a:rPr lang="en-US" b="1" dirty="0">
                <a:solidFill>
                  <a:schemeClr val="accent1">
                    <a:lumMod val="75000"/>
                  </a:schemeClr>
                </a:solidFill>
              </a:rPr>
              <a:t>built-in function set(). The syntax of creating a set can be given as,</a:t>
            </a:r>
          </a:p>
          <a:p>
            <a:pPr>
              <a:lnSpc>
                <a:spcPct val="150000"/>
              </a:lnSpc>
            </a:pPr>
            <a:endParaRPr lang="en-US" b="1" dirty="0">
              <a:solidFill>
                <a:schemeClr val="accent1">
                  <a:lumMod val="75000"/>
                </a:schemeClr>
              </a:solidFill>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769" y="4148365"/>
            <a:ext cx="3581400" cy="390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8318" y="5278234"/>
            <a:ext cx="2724150" cy="790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Rectangle 8"/>
          <p:cNvSpPr/>
          <p:nvPr/>
        </p:nvSpPr>
        <p:spPr>
          <a:xfrm>
            <a:off x="247769" y="4811818"/>
            <a:ext cx="3816429" cy="369332"/>
          </a:xfrm>
          <a:prstGeom prst="rect">
            <a:avLst/>
          </a:prstGeom>
        </p:spPr>
        <p:txBody>
          <a:bodyPr wrap="none">
            <a:spAutoFit/>
          </a:bodyPr>
          <a:lstStyle/>
          <a:p>
            <a:r>
              <a:rPr lang="en-US" dirty="0"/>
              <a:t>Example: To create a set, you can write,</a:t>
            </a:r>
          </a:p>
        </p:txBody>
      </p:sp>
    </p:spTree>
    <p:extLst>
      <p:ext uri="{BB962C8B-B14F-4D97-AF65-F5344CB8AC3E}">
        <p14:creationId xmlns:p14="http://schemas.microsoft.com/office/powerpoint/2010/main" val="969282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97520"/>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Set Operations</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44</a:t>
            </a:fld>
            <a:endParaRPr lang="en-US"/>
          </a:p>
        </p:txBody>
      </p:sp>
      <p:pic>
        <p:nvPicPr>
          <p:cNvPr id="5" name="Picture 4"/>
          <p:cNvPicPr>
            <a:picLocks noChangeAspect="1"/>
          </p:cNvPicPr>
          <p:nvPr/>
        </p:nvPicPr>
        <p:blipFill>
          <a:blip r:embed="rId2"/>
          <a:stretch>
            <a:fillRect/>
          </a:stretch>
        </p:blipFill>
        <p:spPr>
          <a:xfrm>
            <a:off x="820706" y="1876301"/>
            <a:ext cx="10263849" cy="4444961"/>
          </a:xfrm>
          <a:prstGeom prst="rect">
            <a:avLst/>
          </a:prstGeom>
        </p:spPr>
      </p:pic>
    </p:spTree>
    <p:extLst>
      <p:ext uri="{BB962C8B-B14F-4D97-AF65-F5344CB8AC3E}">
        <p14:creationId xmlns:p14="http://schemas.microsoft.com/office/powerpoint/2010/main" val="12406933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97520"/>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Set Operations</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45</a:t>
            </a:fld>
            <a:endParaRPr lang="en-US" dirty="0"/>
          </a:p>
        </p:txBody>
      </p:sp>
      <p:pic>
        <p:nvPicPr>
          <p:cNvPr id="6" name="Picture 5"/>
          <p:cNvPicPr>
            <a:picLocks noChangeAspect="1"/>
          </p:cNvPicPr>
          <p:nvPr/>
        </p:nvPicPr>
        <p:blipFill>
          <a:blip r:embed="rId2"/>
          <a:stretch>
            <a:fillRect/>
          </a:stretch>
        </p:blipFill>
        <p:spPr>
          <a:xfrm>
            <a:off x="603423" y="1766808"/>
            <a:ext cx="9782523" cy="4737016"/>
          </a:xfrm>
          <a:prstGeom prst="rect">
            <a:avLst/>
          </a:prstGeom>
        </p:spPr>
      </p:pic>
    </p:spTree>
    <p:extLst>
      <p:ext uri="{BB962C8B-B14F-4D97-AF65-F5344CB8AC3E}">
        <p14:creationId xmlns:p14="http://schemas.microsoft.com/office/powerpoint/2010/main" val="23451053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97520"/>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Set Operations</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46</a:t>
            </a:fld>
            <a:endParaRPr lang="en-US"/>
          </a:p>
        </p:txBody>
      </p:sp>
      <p:pic>
        <p:nvPicPr>
          <p:cNvPr id="5" name="Picture 4"/>
          <p:cNvPicPr>
            <a:picLocks noChangeAspect="1"/>
          </p:cNvPicPr>
          <p:nvPr/>
        </p:nvPicPr>
        <p:blipFill>
          <a:blip r:embed="rId2"/>
          <a:stretch>
            <a:fillRect/>
          </a:stretch>
        </p:blipFill>
        <p:spPr>
          <a:xfrm>
            <a:off x="964075" y="1769423"/>
            <a:ext cx="10263849" cy="2505694"/>
          </a:xfrm>
          <a:prstGeom prst="rect">
            <a:avLst/>
          </a:prstGeom>
        </p:spPr>
      </p:pic>
      <p:pic>
        <p:nvPicPr>
          <p:cNvPr id="8" name="Picture 7"/>
          <p:cNvPicPr>
            <a:picLocks noChangeAspect="1"/>
          </p:cNvPicPr>
          <p:nvPr/>
        </p:nvPicPr>
        <p:blipFill>
          <a:blip r:embed="rId3"/>
          <a:stretch>
            <a:fillRect/>
          </a:stretch>
        </p:blipFill>
        <p:spPr>
          <a:xfrm>
            <a:off x="964074" y="4275117"/>
            <a:ext cx="10263849" cy="2046145"/>
          </a:xfrm>
          <a:prstGeom prst="rect">
            <a:avLst/>
          </a:prstGeom>
        </p:spPr>
      </p:pic>
    </p:spTree>
    <p:extLst>
      <p:ext uri="{BB962C8B-B14F-4D97-AF65-F5344CB8AC3E}">
        <p14:creationId xmlns:p14="http://schemas.microsoft.com/office/powerpoint/2010/main" val="38600947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97520"/>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Set Operations</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47</a:t>
            </a:fld>
            <a:endParaRPr lang="en-US"/>
          </a:p>
        </p:txBody>
      </p:sp>
      <p:pic>
        <p:nvPicPr>
          <p:cNvPr id="6" name="Picture 5"/>
          <p:cNvPicPr>
            <a:picLocks noChangeAspect="1"/>
          </p:cNvPicPr>
          <p:nvPr/>
        </p:nvPicPr>
        <p:blipFill>
          <a:blip r:embed="rId2"/>
          <a:stretch>
            <a:fillRect/>
          </a:stretch>
        </p:blipFill>
        <p:spPr>
          <a:xfrm>
            <a:off x="820706" y="1757363"/>
            <a:ext cx="10263849" cy="4563899"/>
          </a:xfrm>
          <a:prstGeom prst="rect">
            <a:avLst/>
          </a:prstGeom>
        </p:spPr>
      </p:pic>
    </p:spTree>
    <p:extLst>
      <p:ext uri="{BB962C8B-B14F-4D97-AF65-F5344CB8AC3E}">
        <p14:creationId xmlns:p14="http://schemas.microsoft.com/office/powerpoint/2010/main" val="2817265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97520"/>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Dictionaries</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48</a:t>
            </a:fld>
            <a:endParaRPr lang="en-US"/>
          </a:p>
        </p:txBody>
      </p:sp>
      <p:sp>
        <p:nvSpPr>
          <p:cNvPr id="5" name="Rectangle 4"/>
          <p:cNvSpPr/>
          <p:nvPr/>
        </p:nvSpPr>
        <p:spPr>
          <a:xfrm>
            <a:off x="178130" y="1702916"/>
            <a:ext cx="11863449" cy="3000821"/>
          </a:xfrm>
          <a:prstGeom prst="rect">
            <a:avLst/>
          </a:prstGeom>
        </p:spPr>
        <p:txBody>
          <a:bodyPr wrap="square">
            <a:spAutoFit/>
          </a:bodyPr>
          <a:lstStyle/>
          <a:p>
            <a:pPr>
              <a:lnSpc>
                <a:spcPct val="150000"/>
              </a:lnSpc>
            </a:pPr>
            <a:r>
              <a:rPr lang="en-US" b="1" i="1" dirty="0">
                <a:solidFill>
                  <a:srgbClr val="C00000"/>
                </a:solidFill>
              </a:rPr>
              <a:t>Dictionary</a:t>
            </a:r>
            <a:r>
              <a:rPr lang="en-US" b="1" i="1" dirty="0">
                <a:solidFill>
                  <a:schemeClr val="accent1">
                    <a:lumMod val="75000"/>
                  </a:schemeClr>
                </a:solidFill>
              </a:rPr>
              <a:t> </a:t>
            </a:r>
            <a:r>
              <a:rPr lang="en-US" b="1" dirty="0">
                <a:solidFill>
                  <a:schemeClr val="accent1">
                    <a:lumMod val="75000"/>
                  </a:schemeClr>
                </a:solidFill>
              </a:rPr>
              <a:t>is a data structure in which we store values as a pair of key and value. Each key is separated from its value by a colon (:), and consecutive items are separated by commas. The entire items in a dictionary are enclosed in curly brackets({}). The syntax for defining a dictionary is</a:t>
            </a:r>
          </a:p>
          <a:p>
            <a:pPr>
              <a:lnSpc>
                <a:spcPct val="150000"/>
              </a:lnSpc>
            </a:pPr>
            <a:r>
              <a:rPr lang="en-US" b="1" dirty="0" err="1">
                <a:solidFill>
                  <a:srgbClr val="C00000"/>
                </a:solidFill>
              </a:rPr>
              <a:t>dictionary_name</a:t>
            </a:r>
            <a:r>
              <a:rPr lang="en-US" b="1" dirty="0">
                <a:solidFill>
                  <a:srgbClr val="C00000"/>
                </a:solidFill>
              </a:rPr>
              <a:t> = {key_1: value_1, key_2: value_2, key_3: value_3}</a:t>
            </a:r>
          </a:p>
          <a:p>
            <a:pPr>
              <a:lnSpc>
                <a:spcPct val="150000"/>
              </a:lnSpc>
            </a:pPr>
            <a:r>
              <a:rPr lang="en-US" b="1" dirty="0">
                <a:solidFill>
                  <a:schemeClr val="accent1">
                    <a:lumMod val="75000"/>
                  </a:schemeClr>
                </a:solidFill>
              </a:rPr>
              <a:t>If there are many keys and values in dictionaries, then we can also write just one key-value pair on a line</a:t>
            </a:r>
          </a:p>
          <a:p>
            <a:pPr>
              <a:lnSpc>
                <a:spcPct val="150000"/>
              </a:lnSpc>
            </a:pPr>
            <a:r>
              <a:rPr lang="en-US" b="1" dirty="0">
                <a:solidFill>
                  <a:schemeClr val="accent1">
                    <a:lumMod val="75000"/>
                  </a:schemeClr>
                </a:solidFill>
              </a:rPr>
              <a:t>to make the code easier to read and understand. This is shown below.</a:t>
            </a:r>
          </a:p>
          <a:p>
            <a:pPr>
              <a:lnSpc>
                <a:spcPct val="150000"/>
              </a:lnSpc>
            </a:pPr>
            <a:r>
              <a:rPr lang="en-US" b="1" dirty="0" err="1">
                <a:solidFill>
                  <a:srgbClr val="C00000"/>
                </a:solidFill>
              </a:rPr>
              <a:t>dictionary_name</a:t>
            </a:r>
            <a:r>
              <a:rPr lang="en-US" b="1" dirty="0">
                <a:solidFill>
                  <a:srgbClr val="C00000"/>
                </a:solidFill>
              </a:rPr>
              <a:t> = {key_1: value_1, key_2: value_2, key_3: value_3, ….}</a:t>
            </a:r>
          </a:p>
        </p:txBody>
      </p:sp>
      <p:pic>
        <p:nvPicPr>
          <p:cNvPr id="6" name="Picture 5"/>
          <p:cNvPicPr>
            <a:picLocks noChangeAspect="1"/>
          </p:cNvPicPr>
          <p:nvPr/>
        </p:nvPicPr>
        <p:blipFill>
          <a:blip r:embed="rId2"/>
          <a:stretch>
            <a:fillRect/>
          </a:stretch>
        </p:blipFill>
        <p:spPr>
          <a:xfrm>
            <a:off x="2258149" y="4800750"/>
            <a:ext cx="7875726" cy="1520512"/>
          </a:xfrm>
          <a:prstGeom prst="rect">
            <a:avLst/>
          </a:prstGeom>
        </p:spPr>
      </p:pic>
      <p:sp>
        <p:nvSpPr>
          <p:cNvPr id="8" name="TextBox 7"/>
          <p:cNvSpPr txBox="1"/>
          <p:nvPr/>
        </p:nvSpPr>
        <p:spPr>
          <a:xfrm>
            <a:off x="178130" y="4724279"/>
            <a:ext cx="1163785"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Example:</a:t>
            </a:r>
          </a:p>
        </p:txBody>
      </p:sp>
    </p:spTree>
    <p:extLst>
      <p:ext uri="{BB962C8B-B14F-4D97-AF65-F5344CB8AC3E}">
        <p14:creationId xmlns:p14="http://schemas.microsoft.com/office/powerpoint/2010/main" val="38237604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40332"/>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Accessing Values</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49</a:t>
            </a:fld>
            <a:endParaRPr lang="en-US" dirty="0"/>
          </a:p>
        </p:txBody>
      </p:sp>
      <p:pic>
        <p:nvPicPr>
          <p:cNvPr id="5" name="Picture 4"/>
          <p:cNvPicPr>
            <a:picLocks noChangeAspect="1"/>
          </p:cNvPicPr>
          <p:nvPr/>
        </p:nvPicPr>
        <p:blipFill>
          <a:blip r:embed="rId2"/>
          <a:stretch>
            <a:fillRect/>
          </a:stretch>
        </p:blipFill>
        <p:spPr>
          <a:xfrm>
            <a:off x="1807075" y="1927613"/>
            <a:ext cx="7977348" cy="2807391"/>
          </a:xfrm>
          <a:prstGeom prst="rect">
            <a:avLst/>
          </a:prstGeom>
        </p:spPr>
      </p:pic>
      <p:sp>
        <p:nvSpPr>
          <p:cNvPr id="7" name="TextBox 6"/>
          <p:cNvSpPr txBox="1"/>
          <p:nvPr/>
        </p:nvSpPr>
        <p:spPr>
          <a:xfrm>
            <a:off x="332508" y="1927613"/>
            <a:ext cx="1163785"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Example:</a:t>
            </a:r>
          </a:p>
        </p:txBody>
      </p:sp>
    </p:spTree>
    <p:extLst>
      <p:ext uri="{BB962C8B-B14F-4D97-AF65-F5344CB8AC3E}">
        <p14:creationId xmlns:p14="http://schemas.microsoft.com/office/powerpoint/2010/main" val="11445152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97520"/>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Adding and Modifying an Item in a Dictionary</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50</a:t>
            </a:fld>
            <a:endParaRPr lang="en-US"/>
          </a:p>
        </p:txBody>
      </p:sp>
      <p:pic>
        <p:nvPicPr>
          <p:cNvPr id="5" name="Picture 4"/>
          <p:cNvPicPr>
            <a:picLocks noChangeAspect="1"/>
          </p:cNvPicPr>
          <p:nvPr/>
        </p:nvPicPr>
        <p:blipFill>
          <a:blip r:embed="rId2"/>
          <a:stretch>
            <a:fillRect/>
          </a:stretch>
        </p:blipFill>
        <p:spPr>
          <a:xfrm>
            <a:off x="1557550" y="2096629"/>
            <a:ext cx="9908171" cy="3722016"/>
          </a:xfrm>
          <a:prstGeom prst="rect">
            <a:avLst/>
          </a:prstGeom>
        </p:spPr>
      </p:pic>
      <p:sp>
        <p:nvSpPr>
          <p:cNvPr id="7" name="TextBox 6"/>
          <p:cNvSpPr txBox="1"/>
          <p:nvPr/>
        </p:nvSpPr>
        <p:spPr>
          <a:xfrm>
            <a:off x="120633" y="1901320"/>
            <a:ext cx="1163785"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Example:</a:t>
            </a:r>
          </a:p>
        </p:txBody>
      </p:sp>
    </p:spTree>
    <p:extLst>
      <p:ext uri="{BB962C8B-B14F-4D97-AF65-F5344CB8AC3E}">
        <p14:creationId xmlns:p14="http://schemas.microsoft.com/office/powerpoint/2010/main" val="367802623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97520"/>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Modifying an Entry</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51</a:t>
            </a:fld>
            <a:endParaRPr lang="en-US"/>
          </a:p>
        </p:txBody>
      </p:sp>
      <p:pic>
        <p:nvPicPr>
          <p:cNvPr id="5" name="Picture 4"/>
          <p:cNvPicPr>
            <a:picLocks noChangeAspect="1"/>
          </p:cNvPicPr>
          <p:nvPr/>
        </p:nvPicPr>
        <p:blipFill>
          <a:blip r:embed="rId2"/>
          <a:stretch>
            <a:fillRect/>
          </a:stretch>
        </p:blipFill>
        <p:spPr>
          <a:xfrm>
            <a:off x="1993026" y="1728533"/>
            <a:ext cx="7977348" cy="2057907"/>
          </a:xfrm>
          <a:prstGeom prst="rect">
            <a:avLst/>
          </a:prstGeom>
        </p:spPr>
      </p:pic>
      <p:pic>
        <p:nvPicPr>
          <p:cNvPr id="6" name="Picture 5"/>
          <p:cNvPicPr>
            <a:picLocks noChangeAspect="1"/>
          </p:cNvPicPr>
          <p:nvPr/>
        </p:nvPicPr>
        <p:blipFill>
          <a:blip r:embed="rId3"/>
          <a:stretch>
            <a:fillRect/>
          </a:stretch>
        </p:blipFill>
        <p:spPr>
          <a:xfrm>
            <a:off x="1993026" y="3596915"/>
            <a:ext cx="7977348" cy="2921719"/>
          </a:xfrm>
          <a:prstGeom prst="rect">
            <a:avLst/>
          </a:prstGeom>
        </p:spPr>
      </p:pic>
      <p:sp>
        <p:nvSpPr>
          <p:cNvPr id="8" name="TextBox 7"/>
          <p:cNvSpPr txBox="1"/>
          <p:nvPr/>
        </p:nvSpPr>
        <p:spPr>
          <a:xfrm>
            <a:off x="285007" y="1728533"/>
            <a:ext cx="1163785"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Example:</a:t>
            </a:r>
          </a:p>
        </p:txBody>
      </p:sp>
    </p:spTree>
    <p:extLst>
      <p:ext uri="{BB962C8B-B14F-4D97-AF65-F5344CB8AC3E}">
        <p14:creationId xmlns:p14="http://schemas.microsoft.com/office/powerpoint/2010/main" val="42632744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97520"/>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Deleting Items</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52</a:t>
            </a:fld>
            <a:endParaRPr lang="en-US"/>
          </a:p>
        </p:txBody>
      </p:sp>
      <p:sp>
        <p:nvSpPr>
          <p:cNvPr id="5" name="Rectangle 4"/>
          <p:cNvSpPr/>
          <p:nvPr/>
        </p:nvSpPr>
        <p:spPr>
          <a:xfrm>
            <a:off x="106878" y="1629166"/>
            <a:ext cx="11844469" cy="1754326"/>
          </a:xfrm>
          <a:prstGeom prst="rect">
            <a:avLst/>
          </a:prstGeom>
        </p:spPr>
        <p:txBody>
          <a:bodyPr wrap="square">
            <a:spAutoFit/>
          </a:bodyPr>
          <a:lstStyle/>
          <a:p>
            <a:pPr algn="just">
              <a:lnSpc>
                <a:spcPct val="150000"/>
              </a:lnSpc>
            </a:pPr>
            <a:r>
              <a:rPr lang="en-US" b="1" dirty="0">
                <a:solidFill>
                  <a:schemeClr val="accent1">
                    <a:lumMod val="75000"/>
                  </a:schemeClr>
                </a:solidFill>
              </a:rPr>
              <a:t>You can delete one or more items using the del keyword. To delete or remove all the items in just one statement, use the clear() function. Finally, to remove an entire dictionary from the memory, we can gain</a:t>
            </a:r>
          </a:p>
          <a:p>
            <a:pPr algn="just">
              <a:lnSpc>
                <a:spcPct val="150000"/>
              </a:lnSpc>
            </a:pPr>
            <a:r>
              <a:rPr lang="en-US" b="1" dirty="0">
                <a:solidFill>
                  <a:schemeClr val="accent1">
                    <a:lumMod val="75000"/>
                  </a:schemeClr>
                </a:solidFill>
              </a:rPr>
              <a:t>use the del statement as del </a:t>
            </a:r>
            <a:r>
              <a:rPr lang="en-US" b="1" dirty="0" err="1">
                <a:solidFill>
                  <a:schemeClr val="accent1">
                    <a:lumMod val="75000"/>
                  </a:schemeClr>
                </a:solidFill>
              </a:rPr>
              <a:t>Dict_name</a:t>
            </a:r>
            <a:r>
              <a:rPr lang="en-US" b="1" dirty="0">
                <a:solidFill>
                  <a:schemeClr val="accent1">
                    <a:lumMod val="75000"/>
                  </a:schemeClr>
                </a:solidFill>
              </a:rPr>
              <a:t>. The syntax to use the del statement can be given as,</a:t>
            </a:r>
          </a:p>
          <a:p>
            <a:pPr algn="just">
              <a:lnSpc>
                <a:spcPct val="150000"/>
              </a:lnSpc>
            </a:pPr>
            <a:r>
              <a:rPr lang="en-US" b="1" dirty="0">
                <a:solidFill>
                  <a:srgbClr val="C00000"/>
                </a:solidFill>
              </a:rPr>
              <a:t>del </a:t>
            </a:r>
            <a:r>
              <a:rPr lang="en-US" b="1" dirty="0" err="1">
                <a:solidFill>
                  <a:srgbClr val="C00000"/>
                </a:solidFill>
              </a:rPr>
              <a:t>dictionary_variable</a:t>
            </a:r>
            <a:r>
              <a:rPr lang="en-US" b="1" dirty="0">
                <a:solidFill>
                  <a:srgbClr val="C00000"/>
                </a:solidFill>
              </a:rPr>
              <a:t>[key]</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9548" y="3428607"/>
            <a:ext cx="5621800" cy="27057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2556" y="3428607"/>
            <a:ext cx="4195948" cy="27057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TextBox 10"/>
          <p:cNvSpPr txBox="1"/>
          <p:nvPr/>
        </p:nvSpPr>
        <p:spPr>
          <a:xfrm>
            <a:off x="308754" y="3383492"/>
            <a:ext cx="1163785"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Example:</a:t>
            </a:r>
          </a:p>
        </p:txBody>
      </p:sp>
    </p:spTree>
    <p:extLst>
      <p:ext uri="{BB962C8B-B14F-4D97-AF65-F5344CB8AC3E}">
        <p14:creationId xmlns:p14="http://schemas.microsoft.com/office/powerpoint/2010/main" val="40111278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97520"/>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Sorting Items and Looping over Items in a </a:t>
            </a:r>
            <a:r>
              <a:rPr lang="en-US" sz="3200" b="1" dirty="0" err="1"/>
              <a:t>Dictinonary</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53</a:t>
            </a:fld>
            <a:endParaRPr lang="en-US"/>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3070" y="1746972"/>
            <a:ext cx="7277100" cy="1495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3070" y="3313216"/>
            <a:ext cx="7277100" cy="30080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TextBox 9"/>
          <p:cNvSpPr txBox="1"/>
          <p:nvPr/>
        </p:nvSpPr>
        <p:spPr>
          <a:xfrm>
            <a:off x="308754" y="1746972"/>
            <a:ext cx="1163785"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Examples:</a:t>
            </a:r>
          </a:p>
        </p:txBody>
      </p:sp>
    </p:spTree>
    <p:extLst>
      <p:ext uri="{BB962C8B-B14F-4D97-AF65-F5344CB8AC3E}">
        <p14:creationId xmlns:p14="http://schemas.microsoft.com/office/powerpoint/2010/main" val="145462555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97520"/>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Nested Dictionaries</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54</a:t>
            </a:fld>
            <a:endParaRPr lang="en-US"/>
          </a:p>
        </p:txBody>
      </p:sp>
      <p:pic>
        <p:nvPicPr>
          <p:cNvPr id="5" name="Picture 4"/>
          <p:cNvPicPr>
            <a:picLocks noChangeAspect="1"/>
          </p:cNvPicPr>
          <p:nvPr/>
        </p:nvPicPr>
        <p:blipFill>
          <a:blip r:embed="rId2"/>
          <a:stretch>
            <a:fillRect/>
          </a:stretch>
        </p:blipFill>
        <p:spPr>
          <a:xfrm>
            <a:off x="2894898" y="1945903"/>
            <a:ext cx="6402203" cy="3023344"/>
          </a:xfrm>
          <a:prstGeom prst="rect">
            <a:avLst/>
          </a:prstGeom>
        </p:spPr>
      </p:pic>
      <p:sp>
        <p:nvSpPr>
          <p:cNvPr id="7" name="TextBox 6"/>
          <p:cNvSpPr txBox="1"/>
          <p:nvPr/>
        </p:nvSpPr>
        <p:spPr>
          <a:xfrm>
            <a:off x="308754" y="1945903"/>
            <a:ext cx="1163785"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Example:</a:t>
            </a:r>
          </a:p>
        </p:txBody>
      </p:sp>
    </p:spTree>
    <p:extLst>
      <p:ext uri="{BB962C8B-B14F-4D97-AF65-F5344CB8AC3E}">
        <p14:creationId xmlns:p14="http://schemas.microsoft.com/office/powerpoint/2010/main" val="260736660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97520"/>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Built-in Dictionary Functions and Methods</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55</a:t>
            </a:fld>
            <a:endParaRPr lang="en-US"/>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4421" y="1710047"/>
            <a:ext cx="8906493" cy="46112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3683309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97520"/>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Built-in Dictionary Functions and Methods</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56</a:t>
            </a:fld>
            <a:endParaRPr lang="en-US"/>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7537" y="1769423"/>
            <a:ext cx="7984827" cy="46723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9956072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97520"/>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Built-in Dictionary Functions and Methods</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57</a:t>
            </a:fld>
            <a:endParaRPr lang="en-US"/>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5475" y="1745673"/>
            <a:ext cx="8401050" cy="45755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2966307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97520"/>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Difference between a List and a Dictionary</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58</a:t>
            </a:fld>
            <a:endParaRPr lang="en-US"/>
          </a:p>
        </p:txBody>
      </p:sp>
      <p:sp>
        <p:nvSpPr>
          <p:cNvPr id="5" name="Rectangle 4"/>
          <p:cNvSpPr/>
          <p:nvPr/>
        </p:nvSpPr>
        <p:spPr>
          <a:xfrm>
            <a:off x="130629" y="1720840"/>
            <a:ext cx="11934701" cy="4247317"/>
          </a:xfrm>
          <a:prstGeom prst="rect">
            <a:avLst/>
          </a:prstGeom>
        </p:spPr>
        <p:txBody>
          <a:bodyPr wrap="square">
            <a:spAutoFit/>
          </a:bodyPr>
          <a:lstStyle/>
          <a:p>
            <a:pPr algn="just">
              <a:lnSpc>
                <a:spcPct val="150000"/>
              </a:lnSpc>
            </a:pPr>
            <a:r>
              <a:rPr lang="en-US" b="1" dirty="0">
                <a:solidFill>
                  <a:schemeClr val="accent1">
                    <a:lumMod val="75000"/>
                  </a:schemeClr>
                </a:solidFill>
              </a:rPr>
              <a:t>First, a list is an ordered set of items. But, a dictionary is a data structure that is used for matching one item</a:t>
            </a:r>
          </a:p>
          <a:p>
            <a:pPr algn="just">
              <a:lnSpc>
                <a:spcPct val="150000"/>
              </a:lnSpc>
            </a:pPr>
            <a:r>
              <a:rPr lang="en-US" b="1" dirty="0">
                <a:solidFill>
                  <a:schemeClr val="accent1">
                    <a:lumMod val="75000"/>
                  </a:schemeClr>
                </a:solidFill>
              </a:rPr>
              <a:t>(key) with another (value).</a:t>
            </a:r>
          </a:p>
          <a:p>
            <a:pPr algn="just">
              <a:lnSpc>
                <a:spcPct val="150000"/>
              </a:lnSpc>
            </a:pPr>
            <a:r>
              <a:rPr lang="en-US" b="1" dirty="0">
                <a:solidFill>
                  <a:schemeClr val="accent1">
                    <a:lumMod val="75000"/>
                  </a:schemeClr>
                </a:solidFill>
              </a:rPr>
              <a:t>• Second, in lists, you can use indexing to access a particular item. But, these indexes should be a number. In</a:t>
            </a:r>
          </a:p>
          <a:p>
            <a:pPr algn="just">
              <a:lnSpc>
                <a:spcPct val="150000"/>
              </a:lnSpc>
            </a:pPr>
            <a:r>
              <a:rPr lang="en-US" b="1" dirty="0">
                <a:solidFill>
                  <a:schemeClr val="accent1">
                    <a:lumMod val="75000"/>
                  </a:schemeClr>
                </a:solidFill>
              </a:rPr>
              <a:t>dictionaries, you can use any type (immutable) of value as an index. For example, when we write </a:t>
            </a:r>
            <a:r>
              <a:rPr lang="en-US" b="1" dirty="0" err="1">
                <a:solidFill>
                  <a:srgbClr val="C00000"/>
                </a:solidFill>
              </a:rPr>
              <a:t>Dict</a:t>
            </a:r>
            <a:r>
              <a:rPr lang="en-US" b="1" dirty="0">
                <a:solidFill>
                  <a:srgbClr val="C00000"/>
                </a:solidFill>
              </a:rPr>
              <a:t>['Name'], </a:t>
            </a:r>
            <a:r>
              <a:rPr lang="en-US" b="1" dirty="0">
                <a:solidFill>
                  <a:schemeClr val="accent1">
                    <a:lumMod val="75000"/>
                  </a:schemeClr>
                </a:solidFill>
              </a:rPr>
              <a:t>Name acts as an index but it is not a number but a string.</a:t>
            </a:r>
          </a:p>
          <a:p>
            <a:pPr algn="just">
              <a:lnSpc>
                <a:spcPct val="150000"/>
              </a:lnSpc>
            </a:pPr>
            <a:r>
              <a:rPr lang="en-US" b="1" dirty="0">
                <a:solidFill>
                  <a:schemeClr val="accent1">
                    <a:lumMod val="75000"/>
                  </a:schemeClr>
                </a:solidFill>
              </a:rPr>
              <a:t>• Third, lists are used to look up a value whereas a dictionary is used to take one value and look up another</a:t>
            </a:r>
          </a:p>
          <a:p>
            <a:pPr algn="just">
              <a:lnSpc>
                <a:spcPct val="150000"/>
              </a:lnSpc>
            </a:pPr>
            <a:r>
              <a:rPr lang="en-US" b="1" dirty="0">
                <a:solidFill>
                  <a:schemeClr val="accent1">
                    <a:lumMod val="75000"/>
                  </a:schemeClr>
                </a:solidFill>
              </a:rPr>
              <a:t>value. For this reason, dictionary is also known as a </a:t>
            </a:r>
            <a:r>
              <a:rPr lang="en-US" b="1" i="1" dirty="0">
                <a:solidFill>
                  <a:srgbClr val="C00000"/>
                </a:solidFill>
              </a:rPr>
              <a:t>lookup table</a:t>
            </a:r>
            <a:r>
              <a:rPr lang="en-US" b="1" dirty="0">
                <a:solidFill>
                  <a:schemeClr val="accent1">
                    <a:lumMod val="75000"/>
                  </a:schemeClr>
                </a:solidFill>
              </a:rPr>
              <a:t>.</a:t>
            </a:r>
          </a:p>
          <a:p>
            <a:pPr algn="just">
              <a:lnSpc>
                <a:spcPct val="150000"/>
              </a:lnSpc>
            </a:pPr>
            <a:r>
              <a:rPr lang="en-US" b="1" dirty="0">
                <a:solidFill>
                  <a:schemeClr val="accent1">
                    <a:lumMod val="75000"/>
                  </a:schemeClr>
                </a:solidFill>
              </a:rPr>
              <a:t>Fourth, the key-value pair may not be displayed in the order in which it was specified while defining the</a:t>
            </a:r>
          </a:p>
          <a:p>
            <a:pPr algn="just">
              <a:lnSpc>
                <a:spcPct val="150000"/>
              </a:lnSpc>
            </a:pPr>
            <a:r>
              <a:rPr lang="en-US" b="1" dirty="0">
                <a:solidFill>
                  <a:schemeClr val="accent1">
                    <a:lumMod val="75000"/>
                  </a:schemeClr>
                </a:solidFill>
              </a:rPr>
              <a:t>dictionary. This is because Python uses complex algorithms (called</a:t>
            </a:r>
            <a:r>
              <a:rPr lang="en-US" b="1" dirty="0">
                <a:solidFill>
                  <a:srgbClr val="C00000"/>
                </a:solidFill>
              </a:rPr>
              <a:t> hashing</a:t>
            </a:r>
            <a:r>
              <a:rPr lang="en-US" b="1" dirty="0">
                <a:solidFill>
                  <a:schemeClr val="accent1">
                    <a:lumMod val="75000"/>
                  </a:schemeClr>
                </a:solidFill>
              </a:rPr>
              <a:t>) to provide fast access to the items stored in the dictionary. This also makes dictionary preferable to use over a list of tuples.</a:t>
            </a:r>
          </a:p>
        </p:txBody>
      </p:sp>
    </p:spTree>
    <p:extLst>
      <p:ext uri="{BB962C8B-B14F-4D97-AF65-F5344CB8AC3E}">
        <p14:creationId xmlns:p14="http://schemas.microsoft.com/office/powerpoint/2010/main" val="367194427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97520"/>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String Formatting with Dictionaries</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59</a:t>
            </a:fld>
            <a:endParaRPr lang="en-US"/>
          </a:p>
        </p:txBody>
      </p:sp>
      <p:sp>
        <p:nvSpPr>
          <p:cNvPr id="7" name="Rectangle 6"/>
          <p:cNvSpPr/>
          <p:nvPr/>
        </p:nvSpPr>
        <p:spPr>
          <a:xfrm>
            <a:off x="166256" y="1866935"/>
            <a:ext cx="11768852" cy="1200329"/>
          </a:xfrm>
          <a:prstGeom prst="rect">
            <a:avLst/>
          </a:prstGeom>
        </p:spPr>
        <p:txBody>
          <a:bodyPr wrap="square">
            <a:spAutoFit/>
          </a:bodyPr>
          <a:lstStyle/>
          <a:p>
            <a:pPr>
              <a:lnSpc>
                <a:spcPct val="150000"/>
              </a:lnSpc>
            </a:pPr>
            <a:r>
              <a:rPr lang="en-US" b="1" dirty="0">
                <a:solidFill>
                  <a:schemeClr val="accent1">
                    <a:lumMod val="75000"/>
                  </a:schemeClr>
                </a:solidFill>
              </a:rPr>
              <a:t>Python also allows you to use string formatting feature with dictionaries. So you can use %s, %d, %f, etc. to</a:t>
            </a:r>
          </a:p>
          <a:p>
            <a:pPr>
              <a:lnSpc>
                <a:spcPct val="150000"/>
              </a:lnSpc>
            </a:pPr>
            <a:r>
              <a:rPr lang="en-US" b="1" dirty="0">
                <a:solidFill>
                  <a:schemeClr val="accent1">
                    <a:lumMod val="75000"/>
                  </a:schemeClr>
                </a:solidFill>
              </a:rPr>
              <a:t>represent string, integer, floating point number, or any other data.</a:t>
            </a:r>
          </a:p>
          <a:p>
            <a:endParaRPr lang="en-US" dirty="0"/>
          </a:p>
        </p:txBody>
      </p:sp>
      <p:sp>
        <p:nvSpPr>
          <p:cNvPr id="8" name="TextBox 7"/>
          <p:cNvSpPr txBox="1"/>
          <p:nvPr/>
        </p:nvSpPr>
        <p:spPr>
          <a:xfrm>
            <a:off x="196142" y="3044460"/>
            <a:ext cx="11709079"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Example: </a:t>
            </a:r>
            <a:r>
              <a:rPr lang="en-US" dirty="0"/>
              <a:t>Program that uses string formatting feature to print the key-value pairs stored in the dictionary</a:t>
            </a:r>
            <a:endParaRPr lang="en-IN" dirty="0"/>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499" y="3695442"/>
            <a:ext cx="5114925" cy="197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0712682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97520"/>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When to use which Data Structure?</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60</a:t>
            </a:fld>
            <a:endParaRPr lang="en-US"/>
          </a:p>
        </p:txBody>
      </p:sp>
      <p:sp>
        <p:nvSpPr>
          <p:cNvPr id="5" name="Rectangle 4"/>
          <p:cNvSpPr/>
          <p:nvPr/>
        </p:nvSpPr>
        <p:spPr>
          <a:xfrm>
            <a:off x="166255" y="1772986"/>
            <a:ext cx="11785091" cy="1754326"/>
          </a:xfrm>
          <a:prstGeom prst="rect">
            <a:avLst/>
          </a:prstGeom>
        </p:spPr>
        <p:txBody>
          <a:bodyPr wrap="square">
            <a:spAutoFit/>
          </a:bodyPr>
          <a:lstStyle/>
          <a:p>
            <a:pPr algn="just">
              <a:lnSpc>
                <a:spcPct val="150000"/>
              </a:lnSpc>
            </a:pPr>
            <a:r>
              <a:rPr lang="en-US" b="1" dirty="0">
                <a:solidFill>
                  <a:schemeClr val="accent1">
                    <a:lumMod val="75000"/>
                  </a:schemeClr>
                </a:solidFill>
              </a:rPr>
              <a:t>• Use lists to store a collection of data that does not need random access.</a:t>
            </a:r>
          </a:p>
          <a:p>
            <a:pPr algn="just">
              <a:lnSpc>
                <a:spcPct val="150000"/>
              </a:lnSpc>
            </a:pPr>
            <a:r>
              <a:rPr lang="en-US" b="1" dirty="0">
                <a:solidFill>
                  <a:schemeClr val="accent1">
                    <a:lumMod val="75000"/>
                  </a:schemeClr>
                </a:solidFill>
              </a:rPr>
              <a:t>• Use lists if the data has to be modified frequently.</a:t>
            </a:r>
          </a:p>
          <a:p>
            <a:pPr algn="just">
              <a:lnSpc>
                <a:spcPct val="150000"/>
              </a:lnSpc>
            </a:pPr>
            <a:r>
              <a:rPr lang="en-US" b="1" dirty="0">
                <a:solidFill>
                  <a:schemeClr val="accent1">
                    <a:lumMod val="75000"/>
                  </a:schemeClr>
                </a:solidFill>
              </a:rPr>
              <a:t>• Use a set if you want to ensure that every element in the data structure must be unique.</a:t>
            </a:r>
          </a:p>
          <a:p>
            <a:pPr algn="just">
              <a:lnSpc>
                <a:spcPct val="150000"/>
              </a:lnSpc>
            </a:pPr>
            <a:r>
              <a:rPr lang="en-US" b="1" dirty="0">
                <a:solidFill>
                  <a:schemeClr val="accent1">
                    <a:lumMod val="75000"/>
                  </a:schemeClr>
                </a:solidFill>
              </a:rPr>
              <a:t>• Use tuples when you want that your data should not be altered.</a:t>
            </a:r>
          </a:p>
        </p:txBody>
      </p:sp>
    </p:spTree>
    <p:extLst>
      <p:ext uri="{BB962C8B-B14F-4D97-AF65-F5344CB8AC3E}">
        <p14:creationId xmlns:p14="http://schemas.microsoft.com/office/powerpoint/2010/main" val="109821855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Functions</a:t>
            </a:r>
          </a:p>
        </p:txBody>
      </p:sp>
      <p:sp>
        <p:nvSpPr>
          <p:cNvPr id="4" name="Slide Number Placeholder 3"/>
          <p:cNvSpPr>
            <a:spLocks noGrp="1"/>
          </p:cNvSpPr>
          <p:nvPr>
            <p:ph type="sldNum" sz="quarter" idx="12"/>
          </p:nvPr>
        </p:nvSpPr>
        <p:spPr/>
        <p:txBody>
          <a:bodyPr/>
          <a:lstStyle/>
          <a:p>
            <a:fld id="{04EAA311-F8B8-413B-ACCD-5A57951484CD}" type="slidenum">
              <a:rPr lang="en-US" smtClean="0"/>
              <a:t>61</a:t>
            </a:fld>
            <a:endParaRPr lang="en-US"/>
          </a:p>
        </p:txBody>
      </p:sp>
      <p:sp>
        <p:nvSpPr>
          <p:cNvPr id="5" name="Rectangle 4"/>
          <p:cNvSpPr/>
          <p:nvPr/>
        </p:nvSpPr>
        <p:spPr>
          <a:xfrm>
            <a:off x="273630" y="1688096"/>
            <a:ext cx="11644739" cy="1338828"/>
          </a:xfrm>
          <a:prstGeom prst="rect">
            <a:avLst/>
          </a:prstGeom>
        </p:spPr>
        <p:txBody>
          <a:bodyPr wrap="square">
            <a:spAutoFit/>
          </a:bodyPr>
          <a:lstStyle/>
          <a:p>
            <a:pPr algn="just">
              <a:lnSpc>
                <a:spcPct val="150000"/>
              </a:lnSpc>
            </a:pPr>
            <a:r>
              <a:rPr lang="en-US" b="1" dirty="0">
                <a:solidFill>
                  <a:schemeClr val="accent1">
                    <a:lumMod val="75000"/>
                  </a:schemeClr>
                </a:solidFill>
              </a:rPr>
              <a:t>Python enables its programmers to break up a program into segments commonly known as functions, each of which can be written more or less independently of the others. Every function in the program is supposed to perform a well-defined task. </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5314" y="3164516"/>
            <a:ext cx="3857625" cy="26425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92939" y="3164517"/>
            <a:ext cx="6524625" cy="26425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6684365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Need for Functions </a:t>
            </a:r>
            <a:endParaRPr lang="en-US" sz="3200" dirty="0"/>
          </a:p>
        </p:txBody>
      </p:sp>
      <p:sp>
        <p:nvSpPr>
          <p:cNvPr id="4" name="Slide Number Placeholder 3"/>
          <p:cNvSpPr>
            <a:spLocks noGrp="1"/>
          </p:cNvSpPr>
          <p:nvPr>
            <p:ph type="sldNum" sz="quarter" idx="12"/>
          </p:nvPr>
        </p:nvSpPr>
        <p:spPr>
          <a:xfrm>
            <a:off x="11550843" y="5956137"/>
            <a:ext cx="400504" cy="365125"/>
          </a:xfrm>
        </p:spPr>
        <p:txBody>
          <a:bodyPr/>
          <a:lstStyle/>
          <a:p>
            <a:fld id="{04EAA311-F8B8-413B-ACCD-5A57951484CD}" type="slidenum">
              <a:rPr lang="en-US" smtClean="0"/>
              <a:t>62</a:t>
            </a:fld>
            <a:endParaRPr lang="en-US" dirty="0"/>
          </a:p>
        </p:txBody>
      </p:sp>
      <p:sp>
        <p:nvSpPr>
          <p:cNvPr id="6" name="Rectangle 5"/>
          <p:cNvSpPr/>
          <p:nvPr/>
        </p:nvSpPr>
        <p:spPr>
          <a:xfrm>
            <a:off x="123825" y="1627354"/>
            <a:ext cx="11944350" cy="3831818"/>
          </a:xfrm>
          <a:prstGeom prst="rect">
            <a:avLst/>
          </a:prstGeom>
        </p:spPr>
        <p:txBody>
          <a:bodyPr wrap="square">
            <a:spAutoFit/>
          </a:bodyPr>
          <a:lstStyle/>
          <a:p>
            <a:pPr algn="just">
              <a:lnSpc>
                <a:spcPct val="150000"/>
              </a:lnSpc>
            </a:pPr>
            <a:r>
              <a:rPr lang="en-US" b="1" dirty="0">
                <a:solidFill>
                  <a:schemeClr val="accent1">
                    <a:lumMod val="75000"/>
                  </a:schemeClr>
                </a:solidFill>
              </a:rPr>
              <a:t>Each function to be written and tested separately. </a:t>
            </a:r>
          </a:p>
          <a:p>
            <a:pPr algn="just">
              <a:lnSpc>
                <a:spcPct val="150000"/>
              </a:lnSpc>
            </a:pPr>
            <a:r>
              <a:rPr lang="en-US" b="1" dirty="0">
                <a:solidFill>
                  <a:schemeClr val="accent1">
                    <a:lumMod val="75000"/>
                  </a:schemeClr>
                </a:solidFill>
              </a:rPr>
              <a:t>• Understanding, coding and testing multiple separate functions is far easier.</a:t>
            </a:r>
          </a:p>
          <a:p>
            <a:pPr algn="just">
              <a:lnSpc>
                <a:spcPct val="150000"/>
              </a:lnSpc>
            </a:pPr>
            <a:r>
              <a:rPr lang="en-US" b="1" dirty="0">
                <a:solidFill>
                  <a:schemeClr val="accent1">
                    <a:lumMod val="75000"/>
                  </a:schemeClr>
                </a:solidFill>
              </a:rPr>
              <a:t>Without the use of any function, then there will be countless lines in the code and maintaining it will be a big mess.</a:t>
            </a:r>
          </a:p>
          <a:p>
            <a:pPr algn="just">
              <a:lnSpc>
                <a:spcPct val="150000"/>
              </a:lnSpc>
            </a:pPr>
            <a:r>
              <a:rPr lang="en-US" b="1" dirty="0">
                <a:solidFill>
                  <a:schemeClr val="accent1">
                    <a:lumMod val="75000"/>
                  </a:schemeClr>
                </a:solidFill>
              </a:rPr>
              <a:t>• Programmers use functions without worrying about their code details. This speeds up program development, by allowing the programmer to concentrate only on the code that he has to write. </a:t>
            </a:r>
          </a:p>
          <a:p>
            <a:pPr algn="just">
              <a:lnSpc>
                <a:spcPct val="150000"/>
              </a:lnSpc>
            </a:pPr>
            <a:r>
              <a:rPr lang="en-US" b="1" dirty="0">
                <a:solidFill>
                  <a:schemeClr val="accent1">
                    <a:lumMod val="75000"/>
                  </a:schemeClr>
                </a:solidFill>
              </a:rPr>
              <a:t>Different programmers working on that project can divide the workload by writing different functions. </a:t>
            </a:r>
          </a:p>
          <a:p>
            <a:pPr algn="just">
              <a:lnSpc>
                <a:spcPct val="150000"/>
              </a:lnSpc>
            </a:pPr>
            <a:r>
              <a:rPr lang="en-US" b="1" dirty="0">
                <a:solidFill>
                  <a:schemeClr val="accent1">
                    <a:lumMod val="75000"/>
                  </a:schemeClr>
                </a:solidFill>
              </a:rPr>
              <a:t>• Like Python libraries, programmers can also make their functions and use them from different point in the main program or any other program that needs its functionalities. </a:t>
            </a:r>
          </a:p>
        </p:txBody>
      </p:sp>
      <p:pic>
        <p:nvPicPr>
          <p:cNvPr id="5" name="Picture 4"/>
          <p:cNvPicPr>
            <a:picLocks noChangeAspect="1"/>
          </p:cNvPicPr>
          <p:nvPr/>
        </p:nvPicPr>
        <p:blipFill>
          <a:blip r:embed="rId2"/>
          <a:stretch>
            <a:fillRect/>
          </a:stretch>
        </p:blipFill>
        <p:spPr>
          <a:xfrm>
            <a:off x="7329489" y="4876911"/>
            <a:ext cx="4403332" cy="1444351"/>
          </a:xfrm>
          <a:prstGeom prst="rect">
            <a:avLst/>
          </a:prstGeom>
        </p:spPr>
      </p:pic>
    </p:spTree>
    <p:extLst>
      <p:ext uri="{BB962C8B-B14F-4D97-AF65-F5344CB8AC3E}">
        <p14:creationId xmlns:p14="http://schemas.microsoft.com/office/powerpoint/2010/main" val="86004439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Function Declaration and Definition </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63</a:t>
            </a:fld>
            <a:endParaRPr lang="en-US"/>
          </a:p>
        </p:txBody>
      </p:sp>
      <p:sp>
        <p:nvSpPr>
          <p:cNvPr id="6" name="Rectangle 5"/>
          <p:cNvSpPr/>
          <p:nvPr/>
        </p:nvSpPr>
        <p:spPr>
          <a:xfrm>
            <a:off x="142875" y="1371035"/>
            <a:ext cx="11901488" cy="4247317"/>
          </a:xfrm>
          <a:prstGeom prst="rect">
            <a:avLst/>
          </a:prstGeom>
        </p:spPr>
        <p:txBody>
          <a:bodyPr wrap="square">
            <a:spAutoFit/>
          </a:bodyPr>
          <a:lstStyle/>
          <a:p>
            <a:pPr algn="just">
              <a:lnSpc>
                <a:spcPct val="150000"/>
              </a:lnSpc>
            </a:pPr>
            <a:endParaRPr lang="en-US" b="1" dirty="0"/>
          </a:p>
          <a:p>
            <a:pPr algn="just">
              <a:lnSpc>
                <a:spcPct val="150000"/>
              </a:lnSpc>
            </a:pPr>
            <a:r>
              <a:rPr lang="en-US" b="1" dirty="0"/>
              <a:t>• </a:t>
            </a:r>
            <a:r>
              <a:rPr lang="en-US" b="1" dirty="0">
                <a:solidFill>
                  <a:schemeClr val="accent1">
                    <a:lumMod val="75000"/>
                  </a:schemeClr>
                </a:solidFill>
              </a:rPr>
              <a:t>A function, f that uses another function g, is known as the </a:t>
            </a:r>
            <a:r>
              <a:rPr lang="en-US" b="1" i="1" dirty="0">
                <a:solidFill>
                  <a:srgbClr val="C00000"/>
                </a:solidFill>
              </a:rPr>
              <a:t>calling function </a:t>
            </a:r>
            <a:r>
              <a:rPr lang="en-US" b="1" dirty="0">
                <a:solidFill>
                  <a:schemeClr val="accent1">
                    <a:lumMod val="75000"/>
                  </a:schemeClr>
                </a:solidFill>
              </a:rPr>
              <a:t>and g is known as the </a:t>
            </a:r>
            <a:r>
              <a:rPr lang="en-US" b="1" i="1" dirty="0">
                <a:solidFill>
                  <a:srgbClr val="C00000"/>
                </a:solidFill>
              </a:rPr>
              <a:t>called function</a:t>
            </a:r>
            <a:r>
              <a:rPr lang="en-US" b="1" dirty="0"/>
              <a:t>. </a:t>
            </a:r>
          </a:p>
          <a:p>
            <a:pPr algn="just">
              <a:lnSpc>
                <a:spcPct val="150000"/>
              </a:lnSpc>
            </a:pPr>
            <a:r>
              <a:rPr lang="en-US" b="1" dirty="0"/>
              <a:t>• </a:t>
            </a:r>
            <a:r>
              <a:rPr lang="en-US" b="1" dirty="0">
                <a:solidFill>
                  <a:schemeClr val="accent1">
                    <a:lumMod val="75000"/>
                  </a:schemeClr>
                </a:solidFill>
              </a:rPr>
              <a:t>The inputs that the function takes are known as </a:t>
            </a:r>
            <a:r>
              <a:rPr lang="en-US" b="1" i="1" dirty="0">
                <a:solidFill>
                  <a:srgbClr val="C00000"/>
                </a:solidFill>
              </a:rPr>
              <a:t>arguments/parameters</a:t>
            </a:r>
            <a:r>
              <a:rPr lang="en-US" b="1" i="1" dirty="0"/>
              <a:t>. </a:t>
            </a:r>
            <a:endParaRPr lang="en-US" b="1" dirty="0"/>
          </a:p>
          <a:p>
            <a:pPr algn="just">
              <a:lnSpc>
                <a:spcPct val="150000"/>
              </a:lnSpc>
            </a:pPr>
            <a:r>
              <a:rPr lang="en-US" b="1" dirty="0"/>
              <a:t>• </a:t>
            </a:r>
            <a:r>
              <a:rPr lang="en-US" b="1" dirty="0">
                <a:solidFill>
                  <a:schemeClr val="accent1">
                    <a:lumMod val="75000"/>
                  </a:schemeClr>
                </a:solidFill>
              </a:rPr>
              <a:t>When a called function returns some result back to the calling function, it is said to return that result</a:t>
            </a:r>
            <a:r>
              <a:rPr lang="en-US" b="1" dirty="0"/>
              <a:t>. </a:t>
            </a:r>
          </a:p>
          <a:p>
            <a:pPr algn="just">
              <a:lnSpc>
                <a:spcPct val="150000"/>
              </a:lnSpc>
            </a:pPr>
            <a:r>
              <a:rPr lang="en-US" b="1" dirty="0"/>
              <a:t>• </a:t>
            </a:r>
            <a:r>
              <a:rPr lang="en-US" b="1" dirty="0">
                <a:solidFill>
                  <a:schemeClr val="accent1">
                    <a:lumMod val="75000"/>
                  </a:schemeClr>
                </a:solidFill>
              </a:rPr>
              <a:t>The calling function may or may not pass parameters to the called function. If the called function accepts arguments, the calling function will pass parameters, else not. </a:t>
            </a:r>
          </a:p>
          <a:p>
            <a:pPr algn="just">
              <a:lnSpc>
                <a:spcPct val="150000"/>
              </a:lnSpc>
            </a:pPr>
            <a:r>
              <a:rPr lang="en-US" b="1" i="1" dirty="0"/>
              <a:t>• </a:t>
            </a:r>
            <a:r>
              <a:rPr lang="en-US" b="1" i="1" dirty="0">
                <a:solidFill>
                  <a:srgbClr val="C00000"/>
                </a:solidFill>
              </a:rPr>
              <a:t>Function declaration </a:t>
            </a:r>
            <a:r>
              <a:rPr lang="en-US" b="1" dirty="0">
                <a:solidFill>
                  <a:schemeClr val="accent1">
                    <a:lumMod val="75000"/>
                  </a:schemeClr>
                </a:solidFill>
              </a:rPr>
              <a:t>is a declaration statement that identifies a function with its name, a list of arguments that it accepts and the type of data it returns</a:t>
            </a:r>
            <a:r>
              <a:rPr lang="en-US" b="1" dirty="0"/>
              <a:t>. </a:t>
            </a:r>
          </a:p>
          <a:p>
            <a:pPr algn="just">
              <a:lnSpc>
                <a:spcPct val="150000"/>
              </a:lnSpc>
            </a:pPr>
            <a:r>
              <a:rPr lang="en-US" b="1" i="1" dirty="0"/>
              <a:t>• </a:t>
            </a:r>
            <a:r>
              <a:rPr lang="en-US" b="1" i="1" dirty="0">
                <a:solidFill>
                  <a:srgbClr val="C00000"/>
                </a:solidFill>
              </a:rPr>
              <a:t>Function definition </a:t>
            </a:r>
            <a:r>
              <a:rPr lang="en-US" b="1" dirty="0">
                <a:solidFill>
                  <a:schemeClr val="accent1">
                    <a:lumMod val="75000"/>
                  </a:schemeClr>
                </a:solidFill>
              </a:rPr>
              <a:t>consists of a function header that identifies the function, followed by the body of the function containing the executable code for that function. </a:t>
            </a:r>
          </a:p>
        </p:txBody>
      </p:sp>
    </p:spTree>
    <p:extLst>
      <p:ext uri="{BB962C8B-B14F-4D97-AF65-F5344CB8AC3E}">
        <p14:creationId xmlns:p14="http://schemas.microsoft.com/office/powerpoint/2010/main" val="410646033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Function Definition </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64</a:t>
            </a:fld>
            <a:endParaRPr lang="en-US"/>
          </a:p>
        </p:txBody>
      </p:sp>
      <p:sp>
        <p:nvSpPr>
          <p:cNvPr id="6" name="Rectangle 5"/>
          <p:cNvSpPr/>
          <p:nvPr/>
        </p:nvSpPr>
        <p:spPr>
          <a:xfrm>
            <a:off x="71437" y="1550504"/>
            <a:ext cx="12049125" cy="3831818"/>
          </a:xfrm>
          <a:prstGeom prst="rect">
            <a:avLst/>
          </a:prstGeom>
        </p:spPr>
        <p:txBody>
          <a:bodyPr wrap="square">
            <a:spAutoFit/>
          </a:bodyPr>
          <a:lstStyle/>
          <a:p>
            <a:pPr algn="just">
              <a:lnSpc>
                <a:spcPct val="150000"/>
              </a:lnSpc>
            </a:pPr>
            <a:r>
              <a:rPr lang="en-US" b="1" dirty="0">
                <a:solidFill>
                  <a:schemeClr val="accent1">
                    <a:lumMod val="75000"/>
                  </a:schemeClr>
                </a:solidFill>
              </a:rPr>
              <a:t>Function blocks starts with the keyword </a:t>
            </a:r>
            <a:r>
              <a:rPr lang="en-US" b="1" dirty="0">
                <a:solidFill>
                  <a:srgbClr val="C00000"/>
                </a:solidFill>
              </a:rPr>
              <a:t>def</a:t>
            </a:r>
            <a:r>
              <a:rPr lang="en-US" b="1" dirty="0">
                <a:solidFill>
                  <a:schemeClr val="accent1">
                    <a:lumMod val="75000"/>
                  </a:schemeClr>
                </a:solidFill>
              </a:rPr>
              <a:t>. </a:t>
            </a:r>
          </a:p>
          <a:p>
            <a:pPr algn="just">
              <a:lnSpc>
                <a:spcPct val="150000"/>
              </a:lnSpc>
            </a:pPr>
            <a:r>
              <a:rPr lang="en-US" b="1" dirty="0">
                <a:solidFill>
                  <a:schemeClr val="accent1">
                    <a:lumMod val="75000"/>
                  </a:schemeClr>
                </a:solidFill>
              </a:rPr>
              <a:t>• The keyword is followed by the function name and parentheses </a:t>
            </a:r>
            <a:r>
              <a:rPr lang="en-US" b="1" dirty="0">
                <a:solidFill>
                  <a:srgbClr val="C00000"/>
                </a:solidFill>
              </a:rPr>
              <a:t>(( )). </a:t>
            </a:r>
          </a:p>
          <a:p>
            <a:pPr algn="just">
              <a:lnSpc>
                <a:spcPct val="150000"/>
              </a:lnSpc>
            </a:pPr>
            <a:r>
              <a:rPr lang="en-US" b="1" dirty="0">
                <a:solidFill>
                  <a:schemeClr val="accent1">
                    <a:lumMod val="75000"/>
                  </a:schemeClr>
                </a:solidFill>
              </a:rPr>
              <a:t>• After the parentheses a colon</a:t>
            </a:r>
            <a:r>
              <a:rPr lang="en-US" b="1" dirty="0">
                <a:solidFill>
                  <a:srgbClr val="C00000"/>
                </a:solidFill>
              </a:rPr>
              <a:t> (:) </a:t>
            </a:r>
            <a:r>
              <a:rPr lang="en-US" b="1" dirty="0">
                <a:solidFill>
                  <a:schemeClr val="accent1">
                    <a:lumMod val="75000"/>
                  </a:schemeClr>
                </a:solidFill>
              </a:rPr>
              <a:t>is placed. </a:t>
            </a:r>
          </a:p>
          <a:p>
            <a:pPr algn="just">
              <a:lnSpc>
                <a:spcPct val="150000"/>
              </a:lnSpc>
            </a:pPr>
            <a:r>
              <a:rPr lang="en-US" b="1" dirty="0">
                <a:solidFill>
                  <a:schemeClr val="accent1">
                    <a:lumMod val="75000"/>
                  </a:schemeClr>
                </a:solidFill>
              </a:rPr>
              <a:t>• Parameters or arguments that the function accept are placed within parentheses. </a:t>
            </a:r>
          </a:p>
          <a:p>
            <a:pPr algn="just">
              <a:lnSpc>
                <a:spcPct val="150000"/>
              </a:lnSpc>
            </a:pPr>
            <a:r>
              <a:rPr lang="en-US" b="1" dirty="0">
                <a:solidFill>
                  <a:schemeClr val="accent1">
                    <a:lumMod val="75000"/>
                  </a:schemeClr>
                </a:solidFill>
              </a:rPr>
              <a:t>• The first statement of a function can be an optional statement - the</a:t>
            </a:r>
            <a:r>
              <a:rPr lang="en-US" b="1" dirty="0">
                <a:solidFill>
                  <a:srgbClr val="C00000"/>
                </a:solidFill>
              </a:rPr>
              <a:t> </a:t>
            </a:r>
            <a:r>
              <a:rPr lang="en-US" b="1" i="1" dirty="0" err="1">
                <a:solidFill>
                  <a:srgbClr val="C00000"/>
                </a:solidFill>
              </a:rPr>
              <a:t>docstring</a:t>
            </a:r>
            <a:r>
              <a:rPr lang="en-US" b="1" i="1" dirty="0">
                <a:solidFill>
                  <a:srgbClr val="C00000"/>
                </a:solidFill>
              </a:rPr>
              <a:t> </a:t>
            </a:r>
            <a:r>
              <a:rPr lang="en-US" b="1" dirty="0">
                <a:solidFill>
                  <a:schemeClr val="accent1">
                    <a:lumMod val="75000"/>
                  </a:schemeClr>
                </a:solidFill>
              </a:rPr>
              <a:t>describe what the function does. </a:t>
            </a:r>
          </a:p>
          <a:p>
            <a:pPr algn="just">
              <a:lnSpc>
                <a:spcPct val="150000"/>
              </a:lnSpc>
            </a:pPr>
            <a:r>
              <a:rPr lang="en-US" b="1" dirty="0">
                <a:solidFill>
                  <a:schemeClr val="accent1">
                    <a:lumMod val="75000"/>
                  </a:schemeClr>
                </a:solidFill>
              </a:rPr>
              <a:t>• The code block within the function is properly indented to form the block code. </a:t>
            </a:r>
          </a:p>
          <a:p>
            <a:pPr algn="just">
              <a:lnSpc>
                <a:spcPct val="150000"/>
              </a:lnSpc>
            </a:pPr>
            <a:r>
              <a:rPr lang="en-US" b="1" dirty="0">
                <a:solidFill>
                  <a:schemeClr val="accent1">
                    <a:lumMod val="75000"/>
                  </a:schemeClr>
                </a:solidFill>
              </a:rPr>
              <a:t>• A function may have a </a:t>
            </a:r>
            <a:r>
              <a:rPr lang="en-US" b="1" dirty="0">
                <a:solidFill>
                  <a:srgbClr val="C00000"/>
                </a:solidFill>
              </a:rPr>
              <a:t>return[expression] </a:t>
            </a:r>
            <a:r>
              <a:rPr lang="en-US" b="1" dirty="0">
                <a:solidFill>
                  <a:schemeClr val="accent1">
                    <a:lumMod val="75000"/>
                  </a:schemeClr>
                </a:solidFill>
              </a:rPr>
              <a:t>statement. That is, the return statement is optional.</a:t>
            </a:r>
          </a:p>
          <a:p>
            <a:pPr algn="just">
              <a:lnSpc>
                <a:spcPct val="150000"/>
              </a:lnSpc>
            </a:pPr>
            <a:r>
              <a:rPr lang="en-US" b="1" dirty="0">
                <a:solidFill>
                  <a:schemeClr val="accent1">
                    <a:lumMod val="75000"/>
                  </a:schemeClr>
                </a:solidFill>
              </a:rPr>
              <a:t>• You can assign the function name to a variable. Doing this will allow you to call same function using the name of that variable. </a:t>
            </a:r>
          </a:p>
        </p:txBody>
      </p:sp>
      <p:sp>
        <p:nvSpPr>
          <p:cNvPr id="8" name="TextBox 7"/>
          <p:cNvSpPr txBox="1"/>
          <p:nvPr/>
        </p:nvSpPr>
        <p:spPr>
          <a:xfrm>
            <a:off x="2151372" y="4902355"/>
            <a:ext cx="1518103" cy="369332"/>
          </a:xfrm>
          <a:prstGeom prst="rect">
            <a:avLst/>
          </a:prstGeom>
          <a:noFill/>
        </p:spPr>
        <p:txBody>
          <a:bodyPr wrap="square" rtlCol="0">
            <a:spAutoFit/>
          </a:bodyPr>
          <a:lstStyle/>
          <a:p>
            <a:r>
              <a:rPr lang="en-IN" dirty="0"/>
              <a:t>Example:</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6343" y="4902355"/>
            <a:ext cx="4812043" cy="17478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093197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Function Call </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65</a:t>
            </a:fld>
            <a:endParaRPr lang="en-US"/>
          </a:p>
        </p:txBody>
      </p:sp>
      <p:sp>
        <p:nvSpPr>
          <p:cNvPr id="6" name="Rectangle 5"/>
          <p:cNvSpPr/>
          <p:nvPr/>
        </p:nvSpPr>
        <p:spPr>
          <a:xfrm>
            <a:off x="118753" y="1443626"/>
            <a:ext cx="11887200" cy="5078313"/>
          </a:xfrm>
          <a:prstGeom prst="rect">
            <a:avLst/>
          </a:prstGeom>
        </p:spPr>
        <p:txBody>
          <a:bodyPr wrap="square">
            <a:spAutoFit/>
          </a:bodyPr>
          <a:lstStyle/>
          <a:p>
            <a:pPr algn="just">
              <a:lnSpc>
                <a:spcPct val="150000"/>
              </a:lnSpc>
            </a:pPr>
            <a:r>
              <a:rPr lang="en-US" b="1" dirty="0">
                <a:solidFill>
                  <a:schemeClr val="accent1">
                    <a:lumMod val="75000"/>
                  </a:schemeClr>
                </a:solidFill>
              </a:rPr>
              <a:t>The function call statement invokes the function. When a function is invoked the program control jumps to the called function to execute the statements that are a part of that function. Once the called function is executed, the program control passes back to the calling function. </a:t>
            </a:r>
          </a:p>
          <a:p>
            <a:pPr algn="just">
              <a:lnSpc>
                <a:spcPct val="150000"/>
              </a:lnSpc>
            </a:pPr>
            <a:r>
              <a:rPr lang="en-US" b="1" dirty="0">
                <a:solidFill>
                  <a:srgbClr val="C00000"/>
                </a:solidFill>
              </a:rPr>
              <a:t>Function Parameters </a:t>
            </a:r>
          </a:p>
          <a:p>
            <a:pPr algn="just">
              <a:lnSpc>
                <a:spcPct val="150000"/>
              </a:lnSpc>
            </a:pPr>
            <a:r>
              <a:rPr lang="en-US" b="1" dirty="0">
                <a:solidFill>
                  <a:schemeClr val="accent1">
                    <a:lumMod val="75000"/>
                  </a:schemeClr>
                </a:solidFill>
              </a:rPr>
              <a:t>A function can take parameters which are nothing but some values that are passed to it so that the function can manipulate them to produce the desired result. These parameters are normal variables with a small difference that the values of these variables are defined (initialized) when we call the function and are then passed to the function. </a:t>
            </a:r>
          </a:p>
          <a:p>
            <a:pPr algn="just">
              <a:lnSpc>
                <a:spcPct val="150000"/>
              </a:lnSpc>
            </a:pPr>
            <a:r>
              <a:rPr lang="en-US" b="1" dirty="0">
                <a:solidFill>
                  <a:schemeClr val="accent1">
                    <a:lumMod val="75000"/>
                  </a:schemeClr>
                </a:solidFill>
              </a:rPr>
              <a:t>Function name and the number and type of arguments in the function call must be same as that given in the function definition. </a:t>
            </a:r>
          </a:p>
          <a:p>
            <a:pPr algn="just">
              <a:lnSpc>
                <a:spcPct val="150000"/>
              </a:lnSpc>
            </a:pPr>
            <a:r>
              <a:rPr lang="en-US" b="1" dirty="0">
                <a:solidFill>
                  <a:schemeClr val="accent1">
                    <a:lumMod val="75000"/>
                  </a:schemeClr>
                </a:solidFill>
              </a:rPr>
              <a:t>If the data type of the argument passed does not matches with that expected in function then an error is generated. </a:t>
            </a:r>
          </a:p>
        </p:txBody>
      </p:sp>
      <p:sp>
        <p:nvSpPr>
          <p:cNvPr id="8" name="TextBox 7"/>
          <p:cNvSpPr txBox="1"/>
          <p:nvPr/>
        </p:nvSpPr>
        <p:spPr>
          <a:xfrm>
            <a:off x="1581356" y="6020791"/>
            <a:ext cx="1518103" cy="369332"/>
          </a:xfrm>
          <a:prstGeom prst="rect">
            <a:avLst/>
          </a:prstGeom>
          <a:noFill/>
        </p:spPr>
        <p:txBody>
          <a:bodyPr wrap="square" rtlCol="0">
            <a:spAutoFit/>
          </a:bodyPr>
          <a:lstStyle/>
          <a:p>
            <a:r>
              <a:rPr lang="en-IN" dirty="0"/>
              <a:t>Example:</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5548" y="6020791"/>
            <a:ext cx="5609049" cy="8180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9630534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Examples</a:t>
            </a:r>
          </a:p>
        </p:txBody>
      </p:sp>
      <p:sp>
        <p:nvSpPr>
          <p:cNvPr id="4" name="Slide Number Placeholder 3"/>
          <p:cNvSpPr>
            <a:spLocks noGrp="1"/>
          </p:cNvSpPr>
          <p:nvPr>
            <p:ph type="sldNum" sz="quarter" idx="12"/>
          </p:nvPr>
        </p:nvSpPr>
        <p:spPr/>
        <p:txBody>
          <a:bodyPr/>
          <a:lstStyle/>
          <a:p>
            <a:fld id="{04EAA311-F8B8-413B-ACCD-5A57951484CD}" type="slidenum">
              <a:rPr lang="en-US" smtClean="0"/>
              <a:t>66</a:t>
            </a:fld>
            <a:endParaRPr lang="en-US"/>
          </a:p>
        </p:txBody>
      </p:sp>
      <p:pic>
        <p:nvPicPr>
          <p:cNvPr id="5" name="Picture 4"/>
          <p:cNvPicPr>
            <a:picLocks noChangeAspect="1"/>
          </p:cNvPicPr>
          <p:nvPr/>
        </p:nvPicPr>
        <p:blipFill>
          <a:blip r:embed="rId2"/>
          <a:stretch>
            <a:fillRect/>
          </a:stretch>
        </p:blipFill>
        <p:spPr>
          <a:xfrm>
            <a:off x="1307306" y="1790934"/>
            <a:ext cx="3345301" cy="2003144"/>
          </a:xfrm>
          <a:prstGeom prst="rect">
            <a:avLst/>
          </a:prstGeom>
        </p:spPr>
      </p:pic>
      <p:pic>
        <p:nvPicPr>
          <p:cNvPr id="6" name="Picture 5"/>
          <p:cNvPicPr>
            <a:picLocks noChangeAspect="1"/>
          </p:cNvPicPr>
          <p:nvPr/>
        </p:nvPicPr>
        <p:blipFill>
          <a:blip r:embed="rId3"/>
          <a:stretch>
            <a:fillRect/>
          </a:stretch>
        </p:blipFill>
        <p:spPr>
          <a:xfrm>
            <a:off x="1758569" y="4278524"/>
            <a:ext cx="7931342" cy="1677613"/>
          </a:xfrm>
          <a:prstGeom prst="rect">
            <a:avLst/>
          </a:prstGeom>
        </p:spPr>
      </p:pic>
      <p:pic>
        <p:nvPicPr>
          <p:cNvPr id="7" name="Picture 6"/>
          <p:cNvPicPr>
            <a:picLocks noChangeAspect="1"/>
          </p:cNvPicPr>
          <p:nvPr/>
        </p:nvPicPr>
        <p:blipFill>
          <a:blip r:embed="rId4"/>
          <a:stretch>
            <a:fillRect/>
          </a:stretch>
        </p:blipFill>
        <p:spPr>
          <a:xfrm>
            <a:off x="4767838" y="1790935"/>
            <a:ext cx="2938141" cy="1853018"/>
          </a:xfrm>
          <a:prstGeom prst="rect">
            <a:avLst/>
          </a:prstGeom>
        </p:spPr>
      </p:pic>
      <p:pic>
        <p:nvPicPr>
          <p:cNvPr id="409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90213" y="1790935"/>
            <a:ext cx="4191990" cy="20031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9053993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Local and Global Variables 	</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67</a:t>
            </a:fld>
            <a:endParaRPr lang="en-US"/>
          </a:p>
        </p:txBody>
      </p:sp>
      <p:sp>
        <p:nvSpPr>
          <p:cNvPr id="5" name="Rectangle 4"/>
          <p:cNvSpPr/>
          <p:nvPr/>
        </p:nvSpPr>
        <p:spPr>
          <a:xfrm>
            <a:off x="166255" y="1883569"/>
            <a:ext cx="11785091" cy="3416320"/>
          </a:xfrm>
          <a:prstGeom prst="rect">
            <a:avLst/>
          </a:prstGeom>
        </p:spPr>
        <p:txBody>
          <a:bodyPr wrap="square">
            <a:spAutoFit/>
          </a:bodyPr>
          <a:lstStyle/>
          <a:p>
            <a:pPr algn="just">
              <a:lnSpc>
                <a:spcPct val="150000"/>
              </a:lnSpc>
            </a:pPr>
            <a:r>
              <a:rPr lang="en-US" b="1" dirty="0">
                <a:solidFill>
                  <a:schemeClr val="accent1">
                    <a:lumMod val="75000"/>
                  </a:schemeClr>
                </a:solidFill>
              </a:rPr>
              <a:t>A variable which is defined within a function is </a:t>
            </a:r>
            <a:r>
              <a:rPr lang="en-US" b="1" i="1" dirty="0">
                <a:solidFill>
                  <a:srgbClr val="C00000"/>
                </a:solidFill>
              </a:rPr>
              <a:t>local </a:t>
            </a:r>
            <a:r>
              <a:rPr lang="en-US" b="1" dirty="0">
                <a:solidFill>
                  <a:schemeClr val="accent1">
                    <a:lumMod val="75000"/>
                  </a:schemeClr>
                </a:solidFill>
              </a:rPr>
              <a:t>to that function. A local variable can be accessed from the point of its definition until the end of the function in which it is defined. It exists as long as the function is executing. Function parameters behave like local variables in the function. Moreover, whenever we use the assignment operator (=) inside a function, a new local variable is created.</a:t>
            </a:r>
          </a:p>
          <a:p>
            <a:pPr algn="just">
              <a:lnSpc>
                <a:spcPct val="150000"/>
              </a:lnSpc>
            </a:pPr>
            <a:endParaRPr lang="en-US" b="1" dirty="0"/>
          </a:p>
          <a:p>
            <a:pPr algn="just">
              <a:lnSpc>
                <a:spcPct val="150000"/>
              </a:lnSpc>
            </a:pPr>
            <a:r>
              <a:rPr lang="en-US" b="1" dirty="0">
                <a:solidFill>
                  <a:srgbClr val="C00000"/>
                </a:solidFill>
              </a:rPr>
              <a:t>Global variables </a:t>
            </a:r>
            <a:r>
              <a:rPr lang="en-US" b="1" dirty="0">
                <a:solidFill>
                  <a:schemeClr val="accent1">
                    <a:lumMod val="75000"/>
                  </a:schemeClr>
                </a:solidFill>
              </a:rPr>
              <a:t>are those variables which are defined in the main body of the program file. They are visible throughout the program file. As a good programming habit, you must try to avoid the use of global variables because they may get altered by mistake and then result in erroneous output.</a:t>
            </a:r>
            <a:r>
              <a:rPr lang="en-US" b="1" dirty="0"/>
              <a:t> </a:t>
            </a:r>
          </a:p>
        </p:txBody>
      </p:sp>
    </p:spTree>
    <p:extLst>
      <p:ext uri="{BB962C8B-B14F-4D97-AF65-F5344CB8AC3E}">
        <p14:creationId xmlns:p14="http://schemas.microsoft.com/office/powerpoint/2010/main" val="338148191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Local and Global Variables 	</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68</a:t>
            </a:fld>
            <a:endParaRPr lang="en-US"/>
          </a:p>
        </p:txBody>
      </p:sp>
      <p:sp>
        <p:nvSpPr>
          <p:cNvPr id="8" name="TextBox 7"/>
          <p:cNvSpPr txBox="1"/>
          <p:nvPr/>
        </p:nvSpPr>
        <p:spPr>
          <a:xfrm>
            <a:off x="215693" y="1693681"/>
            <a:ext cx="1207159" cy="369332"/>
          </a:xfrm>
          <a:prstGeom prst="rect">
            <a:avLst/>
          </a:prstGeom>
          <a:noFill/>
        </p:spPr>
        <p:txBody>
          <a:bodyPr wrap="square" rtlCol="0">
            <a:spAutoFit/>
          </a:bodyPr>
          <a:lstStyle/>
          <a:p>
            <a:r>
              <a:rPr lang="en-IN" dirty="0"/>
              <a:t>Example:</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6413" y="1878347"/>
            <a:ext cx="8639175" cy="44669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7978615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Using the Global Statement 	</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69</a:t>
            </a:fld>
            <a:endParaRPr lang="en-US"/>
          </a:p>
        </p:txBody>
      </p:sp>
      <p:sp>
        <p:nvSpPr>
          <p:cNvPr id="5" name="Rectangle 4"/>
          <p:cNvSpPr/>
          <p:nvPr/>
        </p:nvSpPr>
        <p:spPr>
          <a:xfrm>
            <a:off x="180975" y="1616146"/>
            <a:ext cx="11830050" cy="874535"/>
          </a:xfrm>
          <a:prstGeom prst="rect">
            <a:avLst/>
          </a:prstGeom>
        </p:spPr>
        <p:txBody>
          <a:bodyPr wrap="square">
            <a:spAutoFit/>
          </a:bodyPr>
          <a:lstStyle/>
          <a:p>
            <a:pPr algn="just">
              <a:lnSpc>
                <a:spcPct val="150000"/>
              </a:lnSpc>
            </a:pPr>
            <a:r>
              <a:rPr lang="en-US" b="1" dirty="0">
                <a:solidFill>
                  <a:schemeClr val="accent1">
                    <a:lumMod val="75000"/>
                  </a:schemeClr>
                </a:solidFill>
              </a:rPr>
              <a:t>To define a variable defined inside a function as global, you must use the global statement. This declares the local or the inner variable of the function to have module scope. </a:t>
            </a:r>
          </a:p>
        </p:txBody>
      </p:sp>
      <p:sp>
        <p:nvSpPr>
          <p:cNvPr id="8" name="TextBox 7"/>
          <p:cNvSpPr txBox="1"/>
          <p:nvPr/>
        </p:nvSpPr>
        <p:spPr>
          <a:xfrm>
            <a:off x="617517" y="2630677"/>
            <a:ext cx="1163782" cy="369332"/>
          </a:xfrm>
          <a:prstGeom prst="rect">
            <a:avLst/>
          </a:prstGeom>
          <a:noFill/>
        </p:spPr>
        <p:txBody>
          <a:bodyPr wrap="square" rtlCol="0">
            <a:spAutoFit/>
          </a:bodyPr>
          <a:lstStyle/>
          <a:p>
            <a:r>
              <a:rPr lang="en-IN" dirty="0"/>
              <a:t>Example:</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1133" y="2696319"/>
            <a:ext cx="8907906" cy="3657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9689108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Resolution of names	</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70</a:t>
            </a:fld>
            <a:endParaRPr lang="en-US"/>
          </a:p>
        </p:txBody>
      </p:sp>
      <p:sp>
        <p:nvSpPr>
          <p:cNvPr id="5" name="Rectangle 4"/>
          <p:cNvSpPr/>
          <p:nvPr/>
        </p:nvSpPr>
        <p:spPr>
          <a:xfrm>
            <a:off x="180975" y="1583495"/>
            <a:ext cx="11830050" cy="2169825"/>
          </a:xfrm>
          <a:prstGeom prst="rect">
            <a:avLst/>
          </a:prstGeom>
        </p:spPr>
        <p:txBody>
          <a:bodyPr wrap="square">
            <a:spAutoFit/>
          </a:bodyPr>
          <a:lstStyle/>
          <a:p>
            <a:pPr algn="just">
              <a:lnSpc>
                <a:spcPct val="150000"/>
              </a:lnSpc>
            </a:pPr>
            <a:r>
              <a:rPr lang="en-US" b="1" i="1" dirty="0">
                <a:solidFill>
                  <a:srgbClr val="C00000"/>
                </a:solidFill>
              </a:rPr>
              <a:t>Scope</a:t>
            </a:r>
            <a:r>
              <a:rPr lang="en-US" b="1" i="1" dirty="0">
                <a:solidFill>
                  <a:schemeClr val="accent1">
                    <a:lumMod val="75000"/>
                  </a:schemeClr>
                </a:solidFill>
              </a:rPr>
              <a:t> </a:t>
            </a:r>
            <a:r>
              <a:rPr lang="en-US" b="1" dirty="0">
                <a:solidFill>
                  <a:schemeClr val="accent1">
                    <a:lumMod val="75000"/>
                  </a:schemeClr>
                </a:solidFill>
              </a:rPr>
              <a:t>defines the visibility of a name within a block. If a local variable is defined in a block, its scope is that particular block. If it is defined in a function, then its scope is all blocks within that function. </a:t>
            </a:r>
          </a:p>
          <a:p>
            <a:pPr algn="just">
              <a:lnSpc>
                <a:spcPct val="150000"/>
              </a:lnSpc>
            </a:pPr>
            <a:r>
              <a:rPr lang="en-US" b="1" dirty="0">
                <a:solidFill>
                  <a:schemeClr val="accent1">
                    <a:lumMod val="75000"/>
                  </a:schemeClr>
                </a:solidFill>
              </a:rPr>
              <a:t>When a variable name is used in a code block, it is resolved using the nearest enclosing scope. If no variable of that name is found, then a </a:t>
            </a:r>
            <a:r>
              <a:rPr lang="en-US" b="1" dirty="0" err="1">
                <a:solidFill>
                  <a:srgbClr val="C00000"/>
                </a:solidFill>
              </a:rPr>
              <a:t>NameError</a:t>
            </a:r>
            <a:r>
              <a:rPr lang="en-US" b="1" dirty="0">
                <a:solidFill>
                  <a:schemeClr val="accent1">
                    <a:lumMod val="75000"/>
                  </a:schemeClr>
                </a:solidFill>
              </a:rPr>
              <a:t> is raised. In the code given below, </a:t>
            </a:r>
            <a:r>
              <a:rPr lang="en-US" b="1" dirty="0" err="1">
                <a:solidFill>
                  <a:schemeClr val="accent1">
                    <a:lumMod val="75000"/>
                  </a:schemeClr>
                </a:solidFill>
              </a:rPr>
              <a:t>str</a:t>
            </a:r>
            <a:r>
              <a:rPr lang="en-US" b="1" dirty="0">
                <a:solidFill>
                  <a:schemeClr val="accent1">
                    <a:lumMod val="75000"/>
                  </a:schemeClr>
                </a:solidFill>
              </a:rPr>
              <a:t> is a global string because it has been defined before calling the function. </a:t>
            </a:r>
          </a:p>
        </p:txBody>
      </p:sp>
      <p:pic>
        <p:nvPicPr>
          <p:cNvPr id="6" name="Picture 5"/>
          <p:cNvPicPr>
            <a:picLocks noChangeAspect="1"/>
          </p:cNvPicPr>
          <p:nvPr/>
        </p:nvPicPr>
        <p:blipFill>
          <a:blip r:embed="rId2"/>
          <a:stretch>
            <a:fillRect/>
          </a:stretch>
        </p:blipFill>
        <p:spPr>
          <a:xfrm>
            <a:off x="4329209" y="3941356"/>
            <a:ext cx="3251913" cy="2286563"/>
          </a:xfrm>
          <a:prstGeom prst="rect">
            <a:avLst/>
          </a:prstGeom>
        </p:spPr>
      </p:pic>
      <p:sp>
        <p:nvSpPr>
          <p:cNvPr id="8" name="TextBox 7"/>
          <p:cNvSpPr txBox="1"/>
          <p:nvPr/>
        </p:nvSpPr>
        <p:spPr>
          <a:xfrm>
            <a:off x="2282001" y="3819103"/>
            <a:ext cx="1102467" cy="369332"/>
          </a:xfrm>
          <a:prstGeom prst="rect">
            <a:avLst/>
          </a:prstGeom>
          <a:noFill/>
        </p:spPr>
        <p:txBody>
          <a:bodyPr wrap="square" rtlCol="0">
            <a:spAutoFit/>
          </a:bodyPr>
          <a:lstStyle/>
          <a:p>
            <a:r>
              <a:rPr lang="en-IN" dirty="0"/>
              <a:t>Example:</a:t>
            </a:r>
          </a:p>
        </p:txBody>
      </p:sp>
    </p:spTree>
    <p:extLst>
      <p:ext uri="{BB962C8B-B14F-4D97-AF65-F5344CB8AC3E}">
        <p14:creationId xmlns:p14="http://schemas.microsoft.com/office/powerpoint/2010/main" val="233718282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The Return Statement 	</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71</a:t>
            </a:fld>
            <a:endParaRPr lang="en-US"/>
          </a:p>
        </p:txBody>
      </p:sp>
      <p:sp>
        <p:nvSpPr>
          <p:cNvPr id="5" name="Rectangle 4"/>
          <p:cNvSpPr/>
          <p:nvPr/>
        </p:nvSpPr>
        <p:spPr>
          <a:xfrm>
            <a:off x="180975" y="1550504"/>
            <a:ext cx="11830050" cy="3831818"/>
          </a:xfrm>
          <a:prstGeom prst="rect">
            <a:avLst/>
          </a:prstGeom>
        </p:spPr>
        <p:txBody>
          <a:bodyPr wrap="square">
            <a:spAutoFit/>
          </a:bodyPr>
          <a:lstStyle/>
          <a:p>
            <a:pPr>
              <a:lnSpc>
                <a:spcPct val="150000"/>
              </a:lnSpc>
            </a:pPr>
            <a:r>
              <a:rPr lang="en-US" b="1" dirty="0">
                <a:solidFill>
                  <a:schemeClr val="accent1">
                    <a:lumMod val="75000"/>
                  </a:schemeClr>
                </a:solidFill>
              </a:rPr>
              <a:t>The syntax of return statement is, </a:t>
            </a:r>
          </a:p>
          <a:p>
            <a:pPr>
              <a:lnSpc>
                <a:spcPct val="150000"/>
              </a:lnSpc>
            </a:pPr>
            <a:r>
              <a:rPr lang="en-US" b="1" dirty="0">
                <a:solidFill>
                  <a:srgbClr val="C00000"/>
                </a:solidFill>
              </a:rPr>
              <a:t>return [expression] </a:t>
            </a:r>
          </a:p>
          <a:p>
            <a:pPr>
              <a:lnSpc>
                <a:spcPct val="150000"/>
              </a:lnSpc>
            </a:pPr>
            <a:r>
              <a:rPr lang="en-US" b="1" dirty="0">
                <a:solidFill>
                  <a:schemeClr val="accent1">
                    <a:lumMod val="75000"/>
                  </a:schemeClr>
                </a:solidFill>
              </a:rPr>
              <a:t>The expression is written in brackets because it is optional. If the expression is present, it is evaluated and the resultant value is returned to the calling function. However, if no expression is specified then the function will return </a:t>
            </a:r>
            <a:r>
              <a:rPr lang="en-US" b="1" dirty="0">
                <a:solidFill>
                  <a:srgbClr val="C00000"/>
                </a:solidFill>
              </a:rPr>
              <a:t>None</a:t>
            </a:r>
            <a:r>
              <a:rPr lang="en-US" b="1" dirty="0">
                <a:solidFill>
                  <a:schemeClr val="accent1">
                    <a:lumMod val="75000"/>
                  </a:schemeClr>
                </a:solidFill>
              </a:rPr>
              <a:t>. </a:t>
            </a:r>
          </a:p>
          <a:p>
            <a:pPr>
              <a:lnSpc>
                <a:spcPct val="150000"/>
              </a:lnSpc>
            </a:pPr>
            <a:endParaRPr lang="en-US" sz="1200" b="1" dirty="0">
              <a:solidFill>
                <a:schemeClr val="accent1">
                  <a:lumMod val="75000"/>
                </a:schemeClr>
              </a:solidFill>
            </a:endParaRPr>
          </a:p>
          <a:p>
            <a:pPr>
              <a:lnSpc>
                <a:spcPct val="150000"/>
              </a:lnSpc>
            </a:pPr>
            <a:r>
              <a:rPr lang="en-US" b="1" dirty="0">
                <a:solidFill>
                  <a:schemeClr val="accent1">
                    <a:lumMod val="75000"/>
                  </a:schemeClr>
                </a:solidFill>
              </a:rPr>
              <a:t>The return statement is used for two things.</a:t>
            </a:r>
          </a:p>
          <a:p>
            <a:pPr>
              <a:lnSpc>
                <a:spcPct val="150000"/>
              </a:lnSpc>
            </a:pPr>
            <a:r>
              <a:rPr lang="en-US" b="1" dirty="0">
                <a:solidFill>
                  <a:schemeClr val="accent1">
                    <a:lumMod val="75000"/>
                  </a:schemeClr>
                </a:solidFill>
              </a:rPr>
              <a:t>• Return a value to the caller</a:t>
            </a:r>
          </a:p>
          <a:p>
            <a:pPr>
              <a:lnSpc>
                <a:spcPct val="150000"/>
              </a:lnSpc>
            </a:pPr>
            <a:r>
              <a:rPr lang="en-US" b="1" dirty="0">
                <a:solidFill>
                  <a:schemeClr val="accent1">
                    <a:lumMod val="75000"/>
                  </a:schemeClr>
                </a:solidFill>
              </a:rPr>
              <a:t>• To end and exit a function and go back to its caller</a:t>
            </a:r>
          </a:p>
        </p:txBody>
      </p:sp>
      <p:pic>
        <p:nvPicPr>
          <p:cNvPr id="6" name="Picture 5"/>
          <p:cNvPicPr>
            <a:picLocks noChangeAspect="1"/>
          </p:cNvPicPr>
          <p:nvPr/>
        </p:nvPicPr>
        <p:blipFill>
          <a:blip r:embed="rId2"/>
          <a:stretch>
            <a:fillRect/>
          </a:stretch>
        </p:blipFill>
        <p:spPr>
          <a:xfrm>
            <a:off x="7030191" y="3728269"/>
            <a:ext cx="4054363" cy="2477110"/>
          </a:xfrm>
          <a:prstGeom prst="rect">
            <a:avLst/>
          </a:prstGeom>
        </p:spPr>
      </p:pic>
      <p:sp>
        <p:nvSpPr>
          <p:cNvPr id="8" name="TextBox 7"/>
          <p:cNvSpPr txBox="1"/>
          <p:nvPr/>
        </p:nvSpPr>
        <p:spPr>
          <a:xfrm>
            <a:off x="7030191" y="3358937"/>
            <a:ext cx="1207159" cy="369332"/>
          </a:xfrm>
          <a:prstGeom prst="rect">
            <a:avLst/>
          </a:prstGeom>
          <a:noFill/>
        </p:spPr>
        <p:txBody>
          <a:bodyPr wrap="square" rtlCol="0">
            <a:spAutoFit/>
          </a:bodyPr>
          <a:lstStyle/>
          <a:p>
            <a:r>
              <a:rPr lang="en-IN" dirty="0"/>
              <a:t>Example:</a:t>
            </a:r>
          </a:p>
        </p:txBody>
      </p:sp>
    </p:spTree>
    <p:extLst>
      <p:ext uri="{BB962C8B-B14F-4D97-AF65-F5344CB8AC3E}">
        <p14:creationId xmlns:p14="http://schemas.microsoft.com/office/powerpoint/2010/main" val="253845553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Required Arguments 	</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72</a:t>
            </a:fld>
            <a:endParaRPr lang="en-US"/>
          </a:p>
        </p:txBody>
      </p:sp>
      <p:sp>
        <p:nvSpPr>
          <p:cNvPr id="5" name="Rectangle 4"/>
          <p:cNvSpPr/>
          <p:nvPr/>
        </p:nvSpPr>
        <p:spPr>
          <a:xfrm>
            <a:off x="185738" y="1340644"/>
            <a:ext cx="11830050" cy="1720920"/>
          </a:xfrm>
          <a:prstGeom prst="rect">
            <a:avLst/>
          </a:prstGeom>
        </p:spPr>
        <p:txBody>
          <a:bodyPr wrap="square">
            <a:spAutoFit/>
          </a:bodyPr>
          <a:lstStyle/>
          <a:p>
            <a:endParaRPr lang="en-US" sz="2800" dirty="0"/>
          </a:p>
          <a:p>
            <a:pPr algn="just">
              <a:lnSpc>
                <a:spcPct val="150000"/>
              </a:lnSpc>
            </a:pPr>
            <a:r>
              <a:rPr lang="en-US" b="1" dirty="0">
                <a:solidFill>
                  <a:schemeClr val="accent1">
                    <a:lumMod val="75000"/>
                  </a:schemeClr>
                </a:solidFill>
              </a:rPr>
              <a:t>In the </a:t>
            </a:r>
            <a:r>
              <a:rPr lang="en-US" b="1" i="1" dirty="0">
                <a:solidFill>
                  <a:schemeClr val="accent1">
                    <a:lumMod val="75000"/>
                  </a:schemeClr>
                </a:solidFill>
              </a:rPr>
              <a:t>required arguments</a:t>
            </a:r>
            <a:r>
              <a:rPr lang="en-US" b="1" dirty="0">
                <a:solidFill>
                  <a:schemeClr val="accent1">
                    <a:lumMod val="75000"/>
                  </a:schemeClr>
                </a:solidFill>
              </a:rPr>
              <a:t>, the arguments are passed to a function in correct positional order. Also, the number of arguments in the function call should exactly match with the number of arguments specified in the function definition </a:t>
            </a:r>
          </a:p>
        </p:txBody>
      </p:sp>
      <p:pic>
        <p:nvPicPr>
          <p:cNvPr id="6" name="Picture 5"/>
          <p:cNvPicPr>
            <a:picLocks noChangeAspect="1"/>
          </p:cNvPicPr>
          <p:nvPr/>
        </p:nvPicPr>
        <p:blipFill>
          <a:blip r:embed="rId2"/>
          <a:stretch>
            <a:fillRect/>
          </a:stretch>
        </p:blipFill>
        <p:spPr>
          <a:xfrm>
            <a:off x="241859" y="3577998"/>
            <a:ext cx="9247626" cy="2464407"/>
          </a:xfrm>
          <a:prstGeom prst="rect">
            <a:avLst/>
          </a:prstGeom>
        </p:spPr>
      </p:pic>
      <p:sp>
        <p:nvSpPr>
          <p:cNvPr id="8" name="TextBox 7"/>
          <p:cNvSpPr txBox="1"/>
          <p:nvPr/>
        </p:nvSpPr>
        <p:spPr>
          <a:xfrm>
            <a:off x="185738" y="3197993"/>
            <a:ext cx="1233096" cy="369332"/>
          </a:xfrm>
          <a:prstGeom prst="rect">
            <a:avLst/>
          </a:prstGeom>
          <a:noFill/>
        </p:spPr>
        <p:txBody>
          <a:bodyPr wrap="square" rtlCol="0">
            <a:spAutoFit/>
          </a:bodyPr>
          <a:lstStyle/>
          <a:p>
            <a:r>
              <a:rPr lang="en-IN" dirty="0"/>
              <a:t>Examples:</a:t>
            </a:r>
          </a:p>
        </p:txBody>
      </p:sp>
    </p:spTree>
    <p:extLst>
      <p:ext uri="{BB962C8B-B14F-4D97-AF65-F5344CB8AC3E}">
        <p14:creationId xmlns:p14="http://schemas.microsoft.com/office/powerpoint/2010/main" val="89111879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30246"/>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Keyword Arguments 	</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73</a:t>
            </a:fld>
            <a:endParaRPr lang="en-US"/>
          </a:p>
        </p:txBody>
      </p:sp>
      <p:sp>
        <p:nvSpPr>
          <p:cNvPr id="5" name="Rectangle 4"/>
          <p:cNvSpPr/>
          <p:nvPr/>
        </p:nvSpPr>
        <p:spPr>
          <a:xfrm>
            <a:off x="185738" y="1340644"/>
            <a:ext cx="11830050" cy="3431709"/>
          </a:xfrm>
          <a:prstGeom prst="rect">
            <a:avLst/>
          </a:prstGeom>
        </p:spPr>
        <p:txBody>
          <a:bodyPr wrap="square">
            <a:spAutoFit/>
          </a:bodyPr>
          <a:lstStyle/>
          <a:p>
            <a:endParaRPr lang="en-US" sz="2800" dirty="0"/>
          </a:p>
          <a:p>
            <a:pPr algn="just">
              <a:lnSpc>
                <a:spcPct val="150000"/>
              </a:lnSpc>
            </a:pPr>
            <a:r>
              <a:rPr lang="en-US" b="1" dirty="0">
                <a:solidFill>
                  <a:schemeClr val="accent1">
                    <a:lumMod val="75000"/>
                  </a:schemeClr>
                </a:solidFill>
              </a:rPr>
              <a:t>When we call a function with some values, the values are assigned to the arguments based on their position. Python also allow functions to be called using keyword arguments in which the order (or position) of the arguments can be changed. The values are not assigned to arguments according to their position but based on their name (or keyword). </a:t>
            </a:r>
          </a:p>
          <a:p>
            <a:pPr algn="just">
              <a:lnSpc>
                <a:spcPct val="150000"/>
              </a:lnSpc>
            </a:pPr>
            <a:r>
              <a:rPr lang="en-US" b="1" dirty="0">
                <a:solidFill>
                  <a:schemeClr val="accent1">
                    <a:lumMod val="75000"/>
                  </a:schemeClr>
                </a:solidFill>
              </a:rPr>
              <a:t>Keyword arguments are beneficial in two cases. </a:t>
            </a:r>
          </a:p>
          <a:p>
            <a:pPr algn="just">
              <a:lnSpc>
                <a:spcPct val="150000"/>
              </a:lnSpc>
            </a:pPr>
            <a:r>
              <a:rPr lang="en-US" b="1" dirty="0">
                <a:solidFill>
                  <a:schemeClr val="accent1">
                    <a:lumMod val="75000"/>
                  </a:schemeClr>
                </a:solidFill>
              </a:rPr>
              <a:t>• First, if you skip arguments. </a:t>
            </a:r>
          </a:p>
          <a:p>
            <a:pPr algn="just">
              <a:lnSpc>
                <a:spcPct val="150000"/>
              </a:lnSpc>
            </a:pPr>
            <a:r>
              <a:rPr lang="en-US" b="1" dirty="0">
                <a:solidFill>
                  <a:schemeClr val="accent1">
                    <a:lumMod val="75000"/>
                  </a:schemeClr>
                </a:solidFill>
              </a:rPr>
              <a:t>• Second, if in the function call you change the order of parameters. </a:t>
            </a:r>
          </a:p>
        </p:txBody>
      </p:sp>
      <p:sp>
        <p:nvSpPr>
          <p:cNvPr id="8" name="TextBox 7"/>
          <p:cNvSpPr txBox="1"/>
          <p:nvPr/>
        </p:nvSpPr>
        <p:spPr>
          <a:xfrm>
            <a:off x="185739" y="4681606"/>
            <a:ext cx="1132422" cy="369332"/>
          </a:xfrm>
          <a:prstGeom prst="rect">
            <a:avLst/>
          </a:prstGeom>
          <a:noFill/>
        </p:spPr>
        <p:txBody>
          <a:bodyPr wrap="square" rtlCol="0">
            <a:spAutoFit/>
          </a:bodyPr>
          <a:lstStyle/>
          <a:p>
            <a:r>
              <a:rPr lang="en-IN" dirty="0"/>
              <a:t>Example:</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3323" y="4681606"/>
            <a:ext cx="5741904" cy="20279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9384238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Variable-length Arguments 	</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74</a:t>
            </a:fld>
            <a:endParaRPr lang="en-US"/>
          </a:p>
        </p:txBody>
      </p:sp>
      <p:sp>
        <p:nvSpPr>
          <p:cNvPr id="5" name="Rectangle 4"/>
          <p:cNvSpPr/>
          <p:nvPr/>
        </p:nvSpPr>
        <p:spPr>
          <a:xfrm>
            <a:off x="121297" y="1630418"/>
            <a:ext cx="11830050" cy="1754326"/>
          </a:xfrm>
          <a:prstGeom prst="rect">
            <a:avLst/>
          </a:prstGeom>
        </p:spPr>
        <p:txBody>
          <a:bodyPr wrap="square">
            <a:spAutoFit/>
          </a:bodyPr>
          <a:lstStyle/>
          <a:p>
            <a:pPr algn="just">
              <a:lnSpc>
                <a:spcPct val="150000"/>
              </a:lnSpc>
            </a:pPr>
            <a:r>
              <a:rPr lang="en-US" b="1" dirty="0">
                <a:solidFill>
                  <a:schemeClr val="accent1">
                    <a:lumMod val="75000"/>
                  </a:schemeClr>
                </a:solidFill>
              </a:rPr>
              <a:t>In some situations, it is not known in advance how many arguments will be passed to a function. In such cases, Python allows programmers to make function calls with arbitrary (or any) number of arguments. </a:t>
            </a:r>
          </a:p>
          <a:p>
            <a:pPr algn="just">
              <a:lnSpc>
                <a:spcPct val="150000"/>
              </a:lnSpc>
            </a:pPr>
            <a:r>
              <a:rPr lang="en-US" b="1" dirty="0">
                <a:solidFill>
                  <a:schemeClr val="accent1">
                    <a:lumMod val="75000"/>
                  </a:schemeClr>
                </a:solidFill>
              </a:rPr>
              <a:t>When we use arbitrary arguments or variable length arguments, then the function definition use an asterisk (*) before the parameter name. The syntax for a function using variable arguments can be given as, </a:t>
            </a:r>
          </a:p>
        </p:txBody>
      </p:sp>
      <p:sp>
        <p:nvSpPr>
          <p:cNvPr id="9" name="TextBox 8"/>
          <p:cNvSpPr txBox="1"/>
          <p:nvPr/>
        </p:nvSpPr>
        <p:spPr>
          <a:xfrm>
            <a:off x="185738" y="4363583"/>
            <a:ext cx="1132422" cy="369332"/>
          </a:xfrm>
          <a:prstGeom prst="rect">
            <a:avLst/>
          </a:prstGeom>
          <a:noFill/>
        </p:spPr>
        <p:txBody>
          <a:bodyPr wrap="square" rtlCol="0">
            <a:spAutoFit/>
          </a:bodyPr>
          <a:lstStyle/>
          <a:p>
            <a:r>
              <a:rPr lang="en-IN" dirty="0"/>
              <a:t>Example:</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2541" y="3571029"/>
            <a:ext cx="6976422" cy="7925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2541" y="4457549"/>
            <a:ext cx="6976422" cy="21251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4346689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Default Arguments 	</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75</a:t>
            </a:fld>
            <a:endParaRPr lang="en-US"/>
          </a:p>
        </p:txBody>
      </p:sp>
      <p:sp>
        <p:nvSpPr>
          <p:cNvPr id="10" name="TextBox 9"/>
          <p:cNvSpPr txBox="1"/>
          <p:nvPr/>
        </p:nvSpPr>
        <p:spPr>
          <a:xfrm>
            <a:off x="254430" y="3751217"/>
            <a:ext cx="1529979" cy="369332"/>
          </a:xfrm>
          <a:prstGeom prst="rect">
            <a:avLst/>
          </a:prstGeom>
          <a:noFill/>
        </p:spPr>
        <p:txBody>
          <a:bodyPr wrap="square" rtlCol="0">
            <a:spAutoFit/>
          </a:bodyPr>
          <a:lstStyle/>
          <a:p>
            <a:r>
              <a:rPr lang="en-IN" dirty="0"/>
              <a:t>Example:</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3977" y="3765962"/>
            <a:ext cx="7623420" cy="26400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p:cNvSpPr/>
          <p:nvPr/>
        </p:nvSpPr>
        <p:spPr>
          <a:xfrm>
            <a:off x="127820" y="1598827"/>
            <a:ext cx="11823527" cy="2008307"/>
          </a:xfrm>
          <a:prstGeom prst="rect">
            <a:avLst/>
          </a:prstGeom>
        </p:spPr>
        <p:txBody>
          <a:bodyPr wrap="square">
            <a:spAutoFit/>
          </a:bodyPr>
          <a:lstStyle/>
          <a:p>
            <a:pPr>
              <a:lnSpc>
                <a:spcPct val="150000"/>
              </a:lnSpc>
            </a:pPr>
            <a:r>
              <a:rPr lang="en-IN" sz="1700" b="1" dirty="0">
                <a:solidFill>
                  <a:schemeClr val="accent1">
                    <a:lumMod val="75000"/>
                  </a:schemeClr>
                </a:solidFill>
              </a:rPr>
              <a:t>Python allows users to specify function arguments that can have default values. This means that a function can be called with fewer arguments than it is defined to have. That is, if the function accepts three parameters, but function call provides only two arguments, then the third parameter will be assigned the default (already specified) value. </a:t>
            </a:r>
          </a:p>
          <a:p>
            <a:pPr>
              <a:lnSpc>
                <a:spcPct val="150000"/>
              </a:lnSpc>
            </a:pPr>
            <a:r>
              <a:rPr lang="en-IN" sz="1700" b="1" dirty="0">
                <a:solidFill>
                  <a:schemeClr val="accent1">
                    <a:lumMod val="75000"/>
                  </a:schemeClr>
                </a:solidFill>
              </a:rPr>
              <a:t>The default value to an argument is provided by using the assignment operator (=). Users can specify a</a:t>
            </a:r>
          </a:p>
          <a:p>
            <a:pPr>
              <a:lnSpc>
                <a:spcPct val="150000"/>
              </a:lnSpc>
            </a:pPr>
            <a:r>
              <a:rPr lang="en-IN" sz="1700" b="1" dirty="0">
                <a:solidFill>
                  <a:schemeClr val="accent1">
                    <a:lumMod val="75000"/>
                  </a:schemeClr>
                </a:solidFill>
              </a:rPr>
              <a:t>default value for one or more arguments.</a:t>
            </a:r>
          </a:p>
        </p:txBody>
      </p:sp>
    </p:spTree>
    <p:extLst>
      <p:ext uri="{BB962C8B-B14F-4D97-AF65-F5344CB8AC3E}">
        <p14:creationId xmlns:p14="http://schemas.microsoft.com/office/powerpoint/2010/main" val="178854336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Lambda Functions Or Anonymous Functions 	</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76</a:t>
            </a:fld>
            <a:endParaRPr lang="en-US"/>
          </a:p>
        </p:txBody>
      </p:sp>
      <p:sp>
        <p:nvSpPr>
          <p:cNvPr id="5" name="Rectangle 4"/>
          <p:cNvSpPr/>
          <p:nvPr/>
        </p:nvSpPr>
        <p:spPr>
          <a:xfrm>
            <a:off x="250437" y="1511359"/>
            <a:ext cx="11650099" cy="2169825"/>
          </a:xfrm>
          <a:prstGeom prst="rect">
            <a:avLst/>
          </a:prstGeom>
        </p:spPr>
        <p:txBody>
          <a:bodyPr wrap="square">
            <a:spAutoFit/>
          </a:bodyPr>
          <a:lstStyle/>
          <a:p>
            <a:pPr algn="just">
              <a:lnSpc>
                <a:spcPct val="150000"/>
              </a:lnSpc>
            </a:pPr>
            <a:r>
              <a:rPr lang="en-US" b="1" i="1" dirty="0">
                <a:solidFill>
                  <a:schemeClr val="accent1">
                    <a:lumMod val="75000"/>
                  </a:schemeClr>
                </a:solidFill>
              </a:rPr>
              <a:t>Lambda or anonymous </a:t>
            </a:r>
            <a:r>
              <a:rPr lang="en-US" b="1" dirty="0">
                <a:solidFill>
                  <a:schemeClr val="accent1">
                    <a:lumMod val="75000"/>
                  </a:schemeClr>
                </a:solidFill>
              </a:rPr>
              <a:t>functions are so called because they are not declared as other functions using the </a:t>
            </a:r>
            <a:r>
              <a:rPr lang="en-US" b="1" dirty="0" err="1">
                <a:solidFill>
                  <a:schemeClr val="accent1">
                    <a:lumMod val="75000"/>
                  </a:schemeClr>
                </a:solidFill>
              </a:rPr>
              <a:t>def</a:t>
            </a:r>
            <a:r>
              <a:rPr lang="en-US" b="1" dirty="0">
                <a:solidFill>
                  <a:schemeClr val="accent1">
                    <a:lumMod val="75000"/>
                  </a:schemeClr>
                </a:solidFill>
              </a:rPr>
              <a:t> keyword. Rather, they are created using the lambda keyword. Lambda functions are throw-away functions, i.e. they are just needed where they have been created and can be used anywhere a function is required. The lambda feature was added to Python due to the demand from LISP programmers. </a:t>
            </a:r>
          </a:p>
          <a:p>
            <a:pPr algn="just">
              <a:lnSpc>
                <a:spcPct val="150000"/>
              </a:lnSpc>
            </a:pPr>
            <a:r>
              <a:rPr lang="en-US" b="1" dirty="0">
                <a:solidFill>
                  <a:schemeClr val="accent1">
                    <a:lumMod val="75000"/>
                  </a:schemeClr>
                </a:solidFill>
              </a:rPr>
              <a:t>Lambda functions contain only a single line. Its syntax can be given as, </a:t>
            </a:r>
          </a:p>
        </p:txBody>
      </p:sp>
      <p:pic>
        <p:nvPicPr>
          <p:cNvPr id="6" name="Picture 5"/>
          <p:cNvPicPr>
            <a:picLocks noChangeAspect="1"/>
          </p:cNvPicPr>
          <p:nvPr/>
        </p:nvPicPr>
        <p:blipFill>
          <a:blip r:embed="rId2"/>
          <a:stretch>
            <a:fillRect/>
          </a:stretch>
        </p:blipFill>
        <p:spPr>
          <a:xfrm>
            <a:off x="250437" y="3669130"/>
            <a:ext cx="3556779" cy="393797"/>
          </a:xfrm>
          <a:prstGeom prst="rect">
            <a:avLst/>
          </a:prstGeom>
        </p:spPr>
      </p:pic>
      <p:pic>
        <p:nvPicPr>
          <p:cNvPr id="7" name="Picture 6"/>
          <p:cNvPicPr>
            <a:picLocks noChangeAspect="1"/>
          </p:cNvPicPr>
          <p:nvPr/>
        </p:nvPicPr>
        <p:blipFill>
          <a:blip r:embed="rId3"/>
          <a:stretch>
            <a:fillRect/>
          </a:stretch>
        </p:blipFill>
        <p:spPr>
          <a:xfrm>
            <a:off x="301248" y="4619043"/>
            <a:ext cx="3505968" cy="1702219"/>
          </a:xfrm>
          <a:prstGeom prst="rect">
            <a:avLst/>
          </a:prstGeom>
        </p:spPr>
      </p:pic>
      <p:sp>
        <p:nvSpPr>
          <p:cNvPr id="9" name="TextBox 8"/>
          <p:cNvSpPr txBox="1"/>
          <p:nvPr/>
        </p:nvSpPr>
        <p:spPr>
          <a:xfrm>
            <a:off x="250437" y="4156319"/>
            <a:ext cx="2414319" cy="369332"/>
          </a:xfrm>
          <a:prstGeom prst="rect">
            <a:avLst/>
          </a:prstGeom>
          <a:noFill/>
        </p:spPr>
        <p:txBody>
          <a:bodyPr wrap="square" rtlCol="0">
            <a:spAutoFit/>
          </a:bodyPr>
          <a:lstStyle/>
          <a:p>
            <a:r>
              <a:rPr lang="en-IN" dirty="0"/>
              <a:t>Example:</a:t>
            </a:r>
          </a:p>
        </p:txBody>
      </p:sp>
    </p:spTree>
    <p:extLst>
      <p:ext uri="{BB962C8B-B14F-4D97-AF65-F5344CB8AC3E}">
        <p14:creationId xmlns:p14="http://schemas.microsoft.com/office/powerpoint/2010/main" val="84338143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Documentation Strings 	</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77</a:t>
            </a:fld>
            <a:endParaRPr lang="en-US"/>
          </a:p>
        </p:txBody>
      </p:sp>
      <p:sp>
        <p:nvSpPr>
          <p:cNvPr id="5" name="Rectangle 4"/>
          <p:cNvSpPr/>
          <p:nvPr/>
        </p:nvSpPr>
        <p:spPr>
          <a:xfrm>
            <a:off x="121297" y="1591743"/>
            <a:ext cx="11830050" cy="874535"/>
          </a:xfrm>
          <a:prstGeom prst="rect">
            <a:avLst/>
          </a:prstGeom>
        </p:spPr>
        <p:txBody>
          <a:bodyPr wrap="square">
            <a:spAutoFit/>
          </a:bodyPr>
          <a:lstStyle/>
          <a:p>
            <a:pPr algn="just">
              <a:lnSpc>
                <a:spcPct val="150000"/>
              </a:lnSpc>
            </a:pPr>
            <a:r>
              <a:rPr lang="en-US" b="1" dirty="0" err="1">
                <a:solidFill>
                  <a:schemeClr val="accent1">
                    <a:lumMod val="75000"/>
                  </a:schemeClr>
                </a:solidFill>
              </a:rPr>
              <a:t>Docstrings</a:t>
            </a:r>
            <a:r>
              <a:rPr lang="en-US" b="1" dirty="0">
                <a:solidFill>
                  <a:schemeClr val="accent1">
                    <a:lumMod val="75000"/>
                  </a:schemeClr>
                </a:solidFill>
              </a:rPr>
              <a:t> (documentation strings) serve the same purpose as that of comments, as they are designed to explain code. However, they are more specific and have a proper syntax. </a:t>
            </a:r>
          </a:p>
        </p:txBody>
      </p:sp>
      <p:pic>
        <p:nvPicPr>
          <p:cNvPr id="6" name="Picture 5"/>
          <p:cNvPicPr>
            <a:picLocks noChangeAspect="1"/>
          </p:cNvPicPr>
          <p:nvPr/>
        </p:nvPicPr>
        <p:blipFill>
          <a:blip r:embed="rId2"/>
          <a:stretch>
            <a:fillRect/>
          </a:stretch>
        </p:blipFill>
        <p:spPr>
          <a:xfrm>
            <a:off x="242008" y="2678354"/>
            <a:ext cx="3607591" cy="1321125"/>
          </a:xfrm>
          <a:prstGeom prst="rect">
            <a:avLst/>
          </a:prstGeom>
        </p:spPr>
      </p:pic>
      <p:pic>
        <p:nvPicPr>
          <p:cNvPr id="7" name="Picture 6"/>
          <p:cNvPicPr>
            <a:picLocks noChangeAspect="1"/>
          </p:cNvPicPr>
          <p:nvPr/>
        </p:nvPicPr>
        <p:blipFill>
          <a:blip r:embed="rId3"/>
          <a:stretch>
            <a:fillRect/>
          </a:stretch>
        </p:blipFill>
        <p:spPr>
          <a:xfrm>
            <a:off x="5546141" y="2977371"/>
            <a:ext cx="5538414" cy="2832797"/>
          </a:xfrm>
          <a:prstGeom prst="rect">
            <a:avLst/>
          </a:prstGeom>
        </p:spPr>
      </p:pic>
      <p:sp>
        <p:nvSpPr>
          <p:cNvPr id="9" name="TextBox 8"/>
          <p:cNvSpPr txBox="1"/>
          <p:nvPr/>
        </p:nvSpPr>
        <p:spPr>
          <a:xfrm>
            <a:off x="5546141" y="2608039"/>
            <a:ext cx="2414319" cy="369332"/>
          </a:xfrm>
          <a:prstGeom prst="rect">
            <a:avLst/>
          </a:prstGeom>
          <a:noFill/>
        </p:spPr>
        <p:txBody>
          <a:bodyPr wrap="square" rtlCol="0">
            <a:spAutoFit/>
          </a:bodyPr>
          <a:lstStyle/>
          <a:p>
            <a:r>
              <a:rPr lang="en-IN" dirty="0"/>
              <a:t>Example:</a:t>
            </a:r>
          </a:p>
        </p:txBody>
      </p:sp>
    </p:spTree>
    <p:extLst>
      <p:ext uri="{BB962C8B-B14F-4D97-AF65-F5344CB8AC3E}">
        <p14:creationId xmlns:p14="http://schemas.microsoft.com/office/powerpoint/2010/main" val="184712626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Recursive Functions 	</a:t>
            </a:r>
            <a:endParaRPr lang="en-US" sz="3200" dirty="0"/>
          </a:p>
        </p:txBody>
      </p:sp>
      <p:sp>
        <p:nvSpPr>
          <p:cNvPr id="4" name="Slide Number Placeholder 3"/>
          <p:cNvSpPr>
            <a:spLocks noGrp="1"/>
          </p:cNvSpPr>
          <p:nvPr>
            <p:ph type="sldNum" sz="quarter" idx="12"/>
          </p:nvPr>
        </p:nvSpPr>
        <p:spPr/>
        <p:txBody>
          <a:bodyPr/>
          <a:lstStyle/>
          <a:p>
            <a:fld id="{04EAA311-F8B8-413B-ACCD-5A57951484CD}" type="slidenum">
              <a:rPr lang="en-US" smtClean="0"/>
              <a:t>78</a:t>
            </a:fld>
            <a:endParaRPr lang="en-US"/>
          </a:p>
        </p:txBody>
      </p:sp>
      <p:sp>
        <p:nvSpPr>
          <p:cNvPr id="5" name="Rectangle 4"/>
          <p:cNvSpPr/>
          <p:nvPr/>
        </p:nvSpPr>
        <p:spPr>
          <a:xfrm>
            <a:off x="180975" y="1577200"/>
            <a:ext cx="11830050" cy="3000821"/>
          </a:xfrm>
          <a:prstGeom prst="rect">
            <a:avLst/>
          </a:prstGeom>
        </p:spPr>
        <p:txBody>
          <a:bodyPr wrap="square">
            <a:spAutoFit/>
          </a:bodyPr>
          <a:lstStyle/>
          <a:p>
            <a:pPr algn="just">
              <a:lnSpc>
                <a:spcPct val="150000"/>
              </a:lnSpc>
            </a:pPr>
            <a:r>
              <a:rPr lang="en-US" b="1" dirty="0">
                <a:solidFill>
                  <a:schemeClr val="accent1">
                    <a:lumMod val="75000"/>
                  </a:schemeClr>
                </a:solidFill>
              </a:rPr>
              <a:t>A recursive function is defined as a function that calls itself to solve a smaller version of its task until a final call is made which does not require a call to itself. Every recursive solution has two major cases, which are as follows: </a:t>
            </a:r>
          </a:p>
          <a:p>
            <a:pPr algn="just">
              <a:lnSpc>
                <a:spcPct val="150000"/>
              </a:lnSpc>
            </a:pPr>
            <a:r>
              <a:rPr lang="en-US" b="1" i="1" dirty="0">
                <a:solidFill>
                  <a:srgbClr val="C00000"/>
                </a:solidFill>
              </a:rPr>
              <a:t>• base case</a:t>
            </a:r>
            <a:r>
              <a:rPr lang="en-US" b="1" dirty="0">
                <a:solidFill>
                  <a:schemeClr val="accent1">
                    <a:lumMod val="75000"/>
                  </a:schemeClr>
                </a:solidFill>
              </a:rPr>
              <a:t>, in which the problem is simple enough to be solved directly without making any further calls to the same function. </a:t>
            </a:r>
          </a:p>
          <a:p>
            <a:pPr algn="just">
              <a:lnSpc>
                <a:spcPct val="150000"/>
              </a:lnSpc>
            </a:pPr>
            <a:r>
              <a:rPr lang="en-US" b="1" i="1" dirty="0">
                <a:solidFill>
                  <a:srgbClr val="C00000"/>
                </a:solidFill>
              </a:rPr>
              <a:t>• recursive case</a:t>
            </a:r>
            <a:r>
              <a:rPr lang="en-US" b="1" i="1" dirty="0">
                <a:solidFill>
                  <a:schemeClr val="accent1">
                    <a:lumMod val="75000"/>
                  </a:schemeClr>
                </a:solidFill>
              </a:rPr>
              <a:t>, </a:t>
            </a:r>
            <a:r>
              <a:rPr lang="en-US" b="1" dirty="0">
                <a:solidFill>
                  <a:schemeClr val="accent1">
                    <a:lumMod val="75000"/>
                  </a:schemeClr>
                </a:solidFill>
              </a:rPr>
              <a:t>in which first the problem at hand is divided into simpler sub parts. </a:t>
            </a:r>
          </a:p>
          <a:p>
            <a:pPr algn="just">
              <a:lnSpc>
                <a:spcPct val="150000"/>
              </a:lnSpc>
            </a:pPr>
            <a:r>
              <a:rPr lang="en-US" b="1" dirty="0">
                <a:solidFill>
                  <a:schemeClr val="accent1">
                    <a:lumMod val="75000"/>
                  </a:schemeClr>
                </a:solidFill>
              </a:rPr>
              <a:t>Recursion utilized divide and conquer technique of problem solving. </a:t>
            </a:r>
          </a:p>
        </p:txBody>
      </p:sp>
      <p:sp>
        <p:nvSpPr>
          <p:cNvPr id="8" name="TextBox 7"/>
          <p:cNvSpPr txBox="1"/>
          <p:nvPr/>
        </p:nvSpPr>
        <p:spPr>
          <a:xfrm>
            <a:off x="180975" y="4578021"/>
            <a:ext cx="2414319" cy="369332"/>
          </a:xfrm>
          <a:prstGeom prst="rect">
            <a:avLst/>
          </a:prstGeom>
          <a:noFill/>
        </p:spPr>
        <p:txBody>
          <a:bodyPr wrap="square" rtlCol="0">
            <a:spAutoFit/>
          </a:bodyPr>
          <a:lstStyle/>
          <a:p>
            <a:r>
              <a:rPr lang="en-IN" dirty="0"/>
              <a:t>Example:</a:t>
            </a: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4481" y="4578021"/>
            <a:ext cx="4829365" cy="21988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033364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891</TotalTime>
  <Words>4816</Words>
  <Application>Microsoft Office PowerPoint</Application>
  <PresentationFormat>Widescreen</PresentationFormat>
  <Paragraphs>371</Paragraphs>
  <Slides>78</Slides>
  <Notes>0</Notes>
  <HiddenSlides>0</HiddenSlides>
  <MMClips>0</MMClips>
  <ScaleCrop>false</ScaleCrop>
  <HeadingPairs>
    <vt:vector size="4" baseType="variant">
      <vt:variant>
        <vt:lpstr>Theme</vt:lpstr>
      </vt:variant>
      <vt:variant>
        <vt:i4>1</vt:i4>
      </vt:variant>
      <vt:variant>
        <vt:lpstr>Slide Titles</vt:lpstr>
      </vt:variant>
      <vt:variant>
        <vt:i4>78</vt:i4>
      </vt:variant>
    </vt:vector>
  </HeadingPairs>
  <TitlesOfParts>
    <vt:vector size="7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Sukeshi Parnami</dc:creator>
  <cp:lastModifiedBy>Manish Kumar Giri</cp:lastModifiedBy>
  <cp:revision>44</cp:revision>
  <dcterms:created xsi:type="dcterms:W3CDTF">2023-06-27T05:32:28Z</dcterms:created>
  <dcterms:modified xsi:type="dcterms:W3CDTF">2025-03-11T06:00:22Z</dcterms:modified>
</cp:coreProperties>
</file>