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15.png"/><Relationship Id="rId15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4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jp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70.png"/><Relationship Id="rId4" Type="http://schemas.openxmlformats.org/officeDocument/2006/relationships/image" Target="../media/image25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2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2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36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80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5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1.png"/><Relationship Id="rId4" Type="http://schemas.openxmlformats.org/officeDocument/2006/relationships/image" Target="../media/image96.png"/><Relationship Id="rId5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6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50.png"/><Relationship Id="rId5" Type="http://schemas.openxmlformats.org/officeDocument/2006/relationships/image" Target="../media/image103.jpg"/><Relationship Id="rId6" Type="http://schemas.openxmlformats.org/officeDocument/2006/relationships/image" Target="../media/image10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8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Relationship Id="rId9" Type="http://schemas.openxmlformats.org/officeDocument/2006/relationships/image" Target="../media/image36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D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5292" y="1047749"/>
            <a:ext cx="1590635" cy="419100"/>
          </a:xfrm>
          <a:prstGeom prst="roundRect">
            <a:avLst>
              <a:gd name="adj" fmla="val 45450000"/>
            </a:avLst>
          </a:prstGeom>
          <a:solidFill>
            <a:srgbClr val="D6C096"/>
          </a:solidFill>
          <a:ln w="16510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52936" y="1181099"/>
            <a:ext cx="1095347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PYTHON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771650"/>
            <a:ext cx="10667733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 Python Programming:</a:t>
            </a:r>
            <a:r>
              <a:rPr sz="1104"/>
              <a:t>
</a:t>
            </a:r>
            <a:r>
              <a:rPr sz="3827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 Data Collections &amp; Functions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3524250"/>
            <a:ext cx="106677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312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Master Python's powerful data structures and function-based programming concepts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152696" y="4309027"/>
            <a:ext cx="266693" cy="1449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33686" y="4248150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Interactive Learning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76738" y="4268442"/>
            <a:ext cx="266693" cy="226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7728" y="4248150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Practice Problems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48383" y="4262644"/>
            <a:ext cx="266693" cy="2377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29374" y="4248150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Exam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03" y="4972050"/>
            <a:ext cx="876278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520"/>
              </a:spcAft>
            </a:pPr>
            <a:r>
              <a:rPr sz="3348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03" y="5581649"/>
            <a:ext cx="8762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Core Topics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1945" y="4972050"/>
            <a:ext cx="1371565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520"/>
              </a:spcAft>
            </a:pPr>
            <a:r>
              <a:rPr sz="3348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1945" y="5581649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Practice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224" y="4972050"/>
            <a:ext cx="1333466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520"/>
              </a:spcAft>
            </a:pPr>
            <a:r>
              <a:rPr sz="3348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24" y="5581649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35717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Learning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47749"/>
            <a:ext cx="6124421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2241" y="1679574"/>
            <a:ext cx="14287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47703" y="1319076"/>
            <a:ext cx="419089" cy="257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9189" y="1238249"/>
            <a:ext cx="512432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9189" y="1714500"/>
            <a:ext cx="5124321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Inter"/>
                <a:rFonts ascii="Inter" hAnsi="Inter" eastAsia="Inter" cs="Inter"/>
              </a:rPr>
              <a:t>Methods, operations, indexing, slicing, list comprehension &amp; nesting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2667000"/>
            <a:ext cx="6124421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22241" y="3298825"/>
            <a:ext cx="14287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894919"/>
            <a:ext cx="419089" cy="3442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9189" y="2857500"/>
            <a:ext cx="512432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Tuples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9189" y="3333749"/>
            <a:ext cx="5124321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Inter"/>
                <a:rFonts ascii="Inter" hAnsi="Inter" eastAsia="Inter" cs="Inter"/>
              </a:rPr>
              <a:t>Immutability, methods, operations, nesting &amp; comparison with 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286250"/>
            <a:ext cx="6124421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22241" y="4918075"/>
            <a:ext cx="14287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4509679"/>
            <a:ext cx="419089" cy="3532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19189" y="4476750"/>
            <a:ext cx="512432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9189" y="4952999"/>
            <a:ext cx="5124321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Inter"/>
                <a:rFonts ascii="Inter" hAnsi="Inter" eastAsia="Inter" cs="Inter"/>
              </a:rPr>
              <a:t>Unique elements, mathematical operations &amp; set methods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5905500"/>
            <a:ext cx="6124421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120634" y="6394450"/>
            <a:ext cx="11430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6151381"/>
            <a:ext cx="419089" cy="3083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19189" y="6095999"/>
            <a:ext cx="507669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Dictionaries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9189" y="6572250"/>
            <a:ext cx="507669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Inter"/>
                <a:rFonts ascii="Inter" hAnsi="Inter" eastAsia="Inter" cs="Inter"/>
              </a:rPr>
              <a:t>Key-value pairs, methods, nesting, sorting &amp; typecasting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7238999"/>
            <a:ext cx="6124421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22241" y="7870824"/>
            <a:ext cx="14287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47703" y="7492365"/>
            <a:ext cx="419089" cy="2933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9189" y="7429500"/>
            <a:ext cx="512432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9189" y="7905749"/>
            <a:ext cx="5124321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Inter"/>
                <a:rFonts ascii="Inter" hAnsi="Inter" eastAsia="Inter" cs="Inter"/>
              </a:rPr>
              <a:t>Parameters, recursion, map, filter, lambda &amp; inner functions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91195" y="2390774"/>
            <a:ext cx="4390915" cy="1809749"/>
          </a:xfrm>
          <a:prstGeom prst="roundRect">
            <a:avLst>
              <a:gd name="adj" fmla="val 16842"/>
            </a:avLst>
          </a:prstGeom>
          <a:solidFill>
            <a:srgbClr val="D6C096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4561" y="2724150"/>
            <a:ext cx="3724181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780"/>
              </a:spcAft>
            </a:pPr>
            <a:r>
              <a:rPr sz="430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4561" y="3524250"/>
            <a:ext cx="372418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Core Modules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91195" y="4505325"/>
            <a:ext cx="4390915" cy="590549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43591" y="47434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2185" y="4657725"/>
            <a:ext cx="23621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Comprehensive Coverage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91195" y="5248275"/>
            <a:ext cx="4390915" cy="590549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43591" y="54864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2185" y="5400675"/>
            <a:ext cx="189542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Interactive Examples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91195" y="5991225"/>
            <a:ext cx="4390915" cy="590549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43591" y="62293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2185" y="61436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Practice Problems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91195" y="6734175"/>
            <a:ext cx="4390915" cy="590549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43591" y="69723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2185" y="6886575"/>
            <a:ext cx="219069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Real-World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7150"/>
            <a:ext cx="59720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Lists: Introduction &amp; Initialization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95374"/>
            <a:ext cx="6400639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07978" y="1912936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85802" y="1430215"/>
            <a:ext cx="304792" cy="1875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02" y="1876424"/>
            <a:ext cx="589582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 </a:t>
            </a:r>
            <a:r>
              <a:rPr sz="1315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mutable</a:t>
            </a: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, ordered sequence of elements in Python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802" y="24860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8199" y="2381250"/>
            <a:ext cx="7429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9724" y="24860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2120" y="2381250"/>
            <a:ext cx="14001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Heterogeneous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0855" y="24860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3251" y="2381250"/>
            <a:ext cx="8000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Dynamic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124200"/>
            <a:ext cx="3124121" cy="1600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79" y="3314700"/>
            <a:ext cx="27431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Square Brackets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79" y="3743325"/>
            <a:ext cx="2743131" cy="790574"/>
          </a:xfrm>
          <a:prstGeom prst="roundRect">
            <a:avLst>
              <a:gd name="adj" fmla="val 1927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79" y="3743325"/>
            <a:ext cx="2743131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fruits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[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"apple"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"banana"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102" y="3124200"/>
            <a:ext cx="3124121" cy="1600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6598" y="3314700"/>
            <a:ext cx="27431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list() Constructor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76598" y="3743325"/>
            <a:ext cx="2743131" cy="552450"/>
          </a:xfrm>
          <a:prstGeom prst="roundRect">
            <a:avLst>
              <a:gd name="adj" fmla="val 2758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6598" y="3743325"/>
            <a:ext cx="2743131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nums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list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range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))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4876800"/>
            <a:ext cx="6400639" cy="1600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79" y="5067299"/>
            <a:ext cx="601964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Using split()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79" y="5495924"/>
            <a:ext cx="6019649" cy="790574"/>
          </a:xfrm>
          <a:prstGeom prst="roundRect">
            <a:avLst>
              <a:gd name="adj" fmla="val 1927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79" y="5495924"/>
            <a:ext cx="6019649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words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"Python is awesome"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.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split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  <a:r>
              <a:rPr sz="956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Returns: ["Python", "is", "awesome"]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53116" y="1285875"/>
            <a:ext cx="4190895" cy="2667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017" y="4219575"/>
            <a:ext cx="4267093" cy="209549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72185" y="4539490"/>
            <a:ext cx="266693" cy="217418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72185" y="4989194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15077" y="4972050"/>
            <a:ext cx="231451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Mutable: can be modified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72185" y="5389244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15077" y="5372100"/>
            <a:ext cx="177160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Indexed by position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72185" y="5789294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915077" y="5772150"/>
            <a:ext cx="16001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Allows duplicates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4775"/>
            <a:ext cx="505764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Lists: Methods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181099"/>
            <a:ext cx="640063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Essential List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771650"/>
            <a:ext cx="3124121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142225" y="2239009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1924049"/>
            <a:ext cx="100962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append()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5902" y="1981199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Add to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79" y="2314575"/>
            <a:ext cx="2781230" cy="371475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79" y="2314575"/>
            <a:ext cx="278123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append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9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42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102" y="1771650"/>
            <a:ext cx="3124121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418743" y="2239009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6598" y="1924049"/>
            <a:ext cx="100962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insert()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2420" y="1981199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Add at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76598" y="2314575"/>
            <a:ext cx="2781230" cy="371475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6598" y="2314575"/>
            <a:ext cx="278123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insert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9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0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9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99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2990849"/>
            <a:ext cx="3124121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142225" y="3458208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79" y="3143250"/>
            <a:ext cx="100962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remove()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5902" y="3200400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Remove by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079" y="3524250"/>
            <a:ext cx="2781230" cy="371475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079" y="3524250"/>
            <a:ext cx="278123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remove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9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42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102" y="2990849"/>
            <a:ext cx="3124121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3418743" y="3458208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6598" y="3143250"/>
            <a:ext cx="62863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pop()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1430" y="3200400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Remove by index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76598" y="3524250"/>
            <a:ext cx="2781230" cy="371475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76598" y="3524250"/>
            <a:ext cx="278123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pop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  <a:r>
              <a:rPr sz="89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or pop(0)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4200525"/>
            <a:ext cx="3124121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142225" y="4667884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79" y="4352924"/>
            <a:ext cx="75245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sort()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8734" y="4419600"/>
            <a:ext cx="4762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Sort 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079" y="4743450"/>
            <a:ext cx="2781230" cy="371475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079" y="4743450"/>
            <a:ext cx="278123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sort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  <a:r>
              <a:rPr sz="89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ascending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102" y="4200525"/>
            <a:ext cx="3124121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418743" y="4667884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6598" y="4352924"/>
            <a:ext cx="113344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reverse()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6242" y="4419600"/>
            <a:ext cx="8858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Reverse order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76598" y="4743450"/>
            <a:ext cx="2781230" cy="371475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76598" y="4743450"/>
            <a:ext cx="278123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reverse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584" y="5410199"/>
            <a:ext cx="3124121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142225" y="5877558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079" y="5562600"/>
            <a:ext cx="87627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count()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2556" y="5629275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Count occurrences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079" y="5962650"/>
            <a:ext cx="2781230" cy="371475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079" y="5962650"/>
            <a:ext cx="278123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count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9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42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86102" y="5410199"/>
            <a:ext cx="3124121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3418743" y="5877558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6598" y="5562600"/>
            <a:ext cx="87627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index()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074" y="5629275"/>
            <a:ext cx="6476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Find index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76598" y="5962650"/>
            <a:ext cx="2781230" cy="371475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76598" y="5962650"/>
            <a:ext cx="278123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index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9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42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53116" y="1562100"/>
            <a:ext cx="4190895" cy="247649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15017" y="4305300"/>
            <a:ext cx="4267093" cy="1838324"/>
          </a:xfrm>
          <a:prstGeom prst="roundRect">
            <a:avLst>
              <a:gd name="adj" fmla="val 12435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534086" y="4570227"/>
            <a:ext cx="247643" cy="213094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7534086" y="50292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67433" y="4952999"/>
            <a:ext cx="258121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sort() modifies the list in place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34086" y="53721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67433" y="5295899"/>
            <a:ext cx="298125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pop() returns the removed element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34086" y="5724524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67433" y="5648325"/>
            <a:ext cx="3133646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index() raises ValueError if not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42385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Lists: Indexing &amp; Slicing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76350"/>
            <a:ext cx="6400639" cy="248602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550878" y="2436812"/>
            <a:ext cx="24860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85802" y="1563460"/>
            <a:ext cx="285742" cy="244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02" y="2028825"/>
            <a:ext cx="285742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Positive Indexing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802" y="2390774"/>
            <a:ext cx="2857428" cy="114300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02" y="2390774"/>
            <a:ext cx="2857428" cy="11430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fruits = [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"apple"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"banana"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"cherry"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  <a:r>
              <a:rPr sz="1104"/>
              <a:t>
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fruits[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0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 → 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"apple"</a:t>
            </a:r>
            <a:r>
              <a:rPr sz="1104"/>
              <a:t>
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fruits[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 → 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"cherry"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4201" y="2028825"/>
            <a:ext cx="285742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Negative Indexing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4201" y="2390774"/>
            <a:ext cx="2857428" cy="6858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24201" y="2390774"/>
            <a:ext cx="2857428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fruits[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-1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 → 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"cherry"</a:t>
            </a:r>
            <a:r>
              <a:rPr sz="1104"/>
              <a:t>
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fruits[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-3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 → 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"apple"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990974"/>
            <a:ext cx="6400639" cy="24003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508016" y="5108574"/>
            <a:ext cx="24003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5802" y="4287610"/>
            <a:ext cx="285742" cy="2449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85802" y="4743450"/>
            <a:ext cx="5895827" cy="561974"/>
          </a:xfrm>
          <a:prstGeom prst="roundRect">
            <a:avLst>
              <a:gd name="adj" fmla="val 27118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802" y="4743450"/>
            <a:ext cx="5895827" cy="5619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list[</a:t>
            </a:r>
            <a:r>
              <a:rPr sz="107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start</a:t>
            </a:r>
            <a:r>
              <a:rPr sz="107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</a:t>
            </a:r>
            <a:r>
              <a:rPr sz="107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stop</a:t>
            </a:r>
            <a:r>
              <a:rPr sz="107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</a:t>
            </a:r>
            <a:r>
              <a:rPr sz="107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step</a:t>
            </a:r>
            <a:r>
              <a:rPr sz="107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802" y="5419725"/>
            <a:ext cx="1885902" cy="742950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099" y="5562600"/>
            <a:ext cx="57148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099" y="5857875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Include 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6002" y="5419725"/>
            <a:ext cx="1885902" cy="742950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00299" y="5562600"/>
            <a:ext cx="4571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0299" y="5857875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Exclude index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5727" y="5419725"/>
            <a:ext cx="1885902" cy="742950"/>
          </a:xfrm>
          <a:prstGeom prst="roundRect">
            <a:avLst>
              <a:gd name="adj" fmla="val 20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024" y="5562600"/>
            <a:ext cx="4571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024" y="5857875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Inter"/>
                <a:rFonts ascii="Inter" hAnsi="Inter" eastAsia="Inter" cs="Inter"/>
              </a:rPr>
              <a:t>Skip elements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3116" y="1257300"/>
            <a:ext cx="4190895" cy="2667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017" y="4190999"/>
            <a:ext cx="4267093" cy="2257425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34086" y="4410074"/>
            <a:ext cx="382895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Common Slicing Patterns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34086" y="4838699"/>
            <a:ext cx="495287" cy="295274"/>
          </a:xfrm>
          <a:prstGeom prst="roundRect">
            <a:avLst>
              <a:gd name="adj" fmla="val 2580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086" y="4838699"/>
            <a:ext cx="49528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[:3]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5572" y="4857750"/>
            <a:ext cx="129536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First 3 elements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34086" y="5200650"/>
            <a:ext cx="581010" cy="295274"/>
          </a:xfrm>
          <a:prstGeom prst="roundRect">
            <a:avLst>
              <a:gd name="adj" fmla="val 2580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086" y="5200650"/>
            <a:ext cx="58101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[-3:]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1295" y="5219700"/>
            <a:ext cx="127631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Last 3 elements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4086" y="5572125"/>
            <a:ext cx="581010" cy="295274"/>
          </a:xfrm>
          <a:prstGeom prst="roundRect">
            <a:avLst>
              <a:gd name="adj" fmla="val 2580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086" y="5572125"/>
            <a:ext cx="58101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[::2]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1295" y="5591175"/>
            <a:ext cx="15144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Every 2nd element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34086" y="5943600"/>
            <a:ext cx="666733" cy="295274"/>
          </a:xfrm>
          <a:prstGeom prst="roundRect">
            <a:avLst>
              <a:gd name="adj" fmla="val 2580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34086" y="5943600"/>
            <a:ext cx="66673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[::-1]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7018" y="5953124"/>
            <a:ext cx="113344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Reverse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64387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Lists: List Comprehension &amp; Nesting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733550"/>
            <a:ext cx="6400639" cy="2752725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684228" y="3027362"/>
            <a:ext cx="27527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85802" y="2008997"/>
            <a:ext cx="285742" cy="2682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5802" y="2486025"/>
            <a:ext cx="5895827" cy="533399"/>
          </a:xfrm>
          <a:prstGeom prst="roundRect">
            <a:avLst>
              <a:gd name="adj" fmla="val 28571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802" y="2486025"/>
            <a:ext cx="5895827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[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expression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for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item </a:t>
            </a:r>
            <a:r>
              <a:rPr sz="956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in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iterable </a:t>
            </a:r>
            <a:r>
              <a:rPr sz="956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if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condition]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02" y="3171825"/>
            <a:ext cx="287647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Traditional 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5802" y="3505199"/>
            <a:ext cx="2876478" cy="752475"/>
          </a:xfrm>
          <a:prstGeom prst="roundRect">
            <a:avLst>
              <a:gd name="adj" fmla="val 2025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802" y="3505199"/>
            <a:ext cx="2876478" cy="752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squares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[]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for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 </a:t>
            </a:r>
            <a:r>
              <a:rPr sz="77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in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range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):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squares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.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append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(x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**2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52" y="3171825"/>
            <a:ext cx="287647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D6C096"/>
                </a:solidFill>
                <a:latin typeface="Inter"/>
                <a:rFonts ascii="Inter" hAnsi="Inter" eastAsia="Inter" cs="Inter"/>
              </a:rPr>
              <a:t>List Comprehension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05152" y="3505199"/>
            <a:ext cx="2876478" cy="400050"/>
          </a:xfrm>
          <a:prstGeom prst="roundRect">
            <a:avLst>
              <a:gd name="adj" fmla="val 38095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5152" y="3505199"/>
            <a:ext cx="287647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squares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[x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**2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for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 </a:t>
            </a:r>
            <a:r>
              <a:rPr sz="77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in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range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)]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667249"/>
            <a:ext cx="3124121" cy="1266824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2212" y="5234621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4879657"/>
            <a:ext cx="228594" cy="16573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00079" y="5181599"/>
            <a:ext cx="2781230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79" y="5181599"/>
            <a:ext cx="278123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evens = [x </a:t>
            </a:r>
            <a:r>
              <a:rPr sz="83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for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 </a:t>
            </a:r>
            <a:r>
              <a:rPr sz="83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in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range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10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  <a:r>
              <a:rPr sz="83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if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 %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==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0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102" y="4667249"/>
            <a:ext cx="3124121" cy="1266824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3318730" y="5234621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76598" y="4885372"/>
            <a:ext cx="228594" cy="15430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076598" y="5181599"/>
            <a:ext cx="2781230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76598" y="5181599"/>
            <a:ext cx="278123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uppercase = [s.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upper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  <a:r>
              <a:rPr sz="83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for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s </a:t>
            </a:r>
            <a:r>
              <a:rPr sz="83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in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[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"b"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"c"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]]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3116" y="1666874"/>
            <a:ext cx="4190895" cy="219074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017" y="4124324"/>
            <a:ext cx="4267093" cy="191452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34086" y="4403097"/>
            <a:ext cx="247643" cy="20445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534086" y="4772025"/>
            <a:ext cx="3828954" cy="419100"/>
          </a:xfrm>
          <a:prstGeom prst="roundRect">
            <a:avLst>
              <a:gd name="adj" fmla="val 3636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34086" y="4772025"/>
            <a:ext cx="382895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matrix = [[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], [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6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]]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086" y="5267324"/>
            <a:ext cx="60958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2D List: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9869" y="5286375"/>
            <a:ext cx="102867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matrix[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0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][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086" y="5562600"/>
            <a:ext cx="60958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3D List: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9869" y="5581649"/>
            <a:ext cx="102867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arr[i][j][k]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21932"/>
            <a:ext cx="419089" cy="35623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584" y="1114425"/>
            <a:ext cx="5391015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07978" y="1931987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03" y="13049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75" y="1371600"/>
            <a:ext cx="1047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2991" y="1333500"/>
            <a:ext cx="153348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03" y="1800225"/>
            <a:ext cx="4962400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703" y="1800225"/>
            <a:ext cx="496240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[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8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Add 10 at end, remove 2, sort list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4905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4397" y="2476499"/>
            <a:ext cx="233356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append(), remove(), sort()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095" y="1114425"/>
            <a:ext cx="5391015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373533" y="1931987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9214" y="13049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2085" y="1371600"/>
            <a:ext cx="1047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4501" y="1333500"/>
            <a:ext cx="200019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 Comprehension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9214" y="1800225"/>
            <a:ext cx="4962400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14" y="1800225"/>
            <a:ext cx="496240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Create list of squares 0-9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squares = [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?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for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 </a:t>
            </a:r>
            <a:r>
              <a:rPr sz="837" b="0">
                <a:solidFill>
                  <a:srgbClr val="000000"/>
                </a:solidFill>
                <a:latin typeface="Courier New"/>
                <a:rFonts ascii="Courier New" hAnsi="Courier New" eastAsia="Courier New" cs="Courier New"/>
              </a:rPr>
              <a:t>in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range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10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)]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29214" y="24905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95907" y="2476499"/>
            <a:ext cx="175255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x**2 in expression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3143250"/>
            <a:ext cx="3552736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76851" y="3829685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079" y="3295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852" y="3333749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070" y="3305174"/>
            <a:ext cx="61910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Slicing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079" y="3714750"/>
            <a:ext cx="3209844" cy="476249"/>
          </a:xfrm>
          <a:prstGeom prst="roundRect">
            <a:avLst>
              <a:gd name="adj" fmla="val 3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079" y="3714750"/>
            <a:ext cx="320984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text = [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"P"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"y"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"t"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"h"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"o"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"n"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Slice first 3 &amp; reverse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268736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7723" y="4257675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[:3] and [::-1]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4717" y="3143250"/>
            <a:ext cx="3552736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628282" y="3829685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05212" y="3295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9509" y="3333749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86202" y="3305174"/>
            <a:ext cx="17430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Remove Duplicates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05212" y="3714750"/>
            <a:ext cx="3209844" cy="476249"/>
          </a:xfrm>
          <a:prstGeom prst="roundRect">
            <a:avLst>
              <a:gd name="adj" fmla="val 3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5212" y="3714750"/>
            <a:ext cx="320984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[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Get unique elements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05212" y="4268736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52856" y="4257675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set() or loop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9374" y="3143250"/>
            <a:ext cx="3552736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7342939" y="3829685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19869" y="3295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4641" y="3333749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0859" y="3305174"/>
            <a:ext cx="10381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Nested List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9869" y="3714750"/>
            <a:ext cx="3209844" cy="476249"/>
          </a:xfrm>
          <a:prstGeom prst="roundRect">
            <a:avLst>
              <a:gd name="adj" fmla="val 3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9869" y="3714750"/>
            <a:ext cx="320984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nested = [[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],[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]]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Flatten to single list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19869" y="4268736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467513" y="4257675"/>
            <a:ext cx="12477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nested loops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584" y="4829175"/>
            <a:ext cx="10972525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5239371"/>
            <a:ext cx="266693" cy="2464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09644" y="5048250"/>
            <a:ext cx="801032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Tips for Success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9644" y="5400675"/>
            <a:ext cx="8010324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Try each problem independently before checking solutions. Practice with your own examples!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62863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Tuples: Introduction &amp; Initialization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81124"/>
            <a:ext cx="6400639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07978" y="2198686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85802" y="1683726"/>
            <a:ext cx="304792" cy="252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02" y="2162174"/>
            <a:ext cx="589582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An </a:t>
            </a:r>
            <a:r>
              <a:rPr sz="1315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immutable</a:t>
            </a: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, ordered sequence of elements in Python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802" y="27717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8199" y="2667000"/>
            <a:ext cx="7429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9724" y="27717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2120" y="2667000"/>
            <a:ext cx="14001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Heterogeneous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0855" y="27717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3251" y="2667000"/>
            <a:ext cx="9524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Immutable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409950"/>
            <a:ext cx="3124121" cy="136207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79" y="3600450"/>
            <a:ext cx="27431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Parentheses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79" y="4029075"/>
            <a:ext cx="2743131" cy="552450"/>
          </a:xfrm>
          <a:prstGeom prst="roundRect">
            <a:avLst>
              <a:gd name="adj" fmla="val 2758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79" y="4029075"/>
            <a:ext cx="2743131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coords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(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10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20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102" y="3409950"/>
            <a:ext cx="3124121" cy="136207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6598" y="3600450"/>
            <a:ext cx="27431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tuple() Constructor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76598" y="4029075"/>
            <a:ext cx="2743131" cy="552450"/>
          </a:xfrm>
          <a:prstGeom prst="roundRect">
            <a:avLst>
              <a:gd name="adj" fmla="val 2758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6598" y="4029075"/>
            <a:ext cx="2743131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nums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tuple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range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))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4924424"/>
            <a:ext cx="6400639" cy="136207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79" y="5114925"/>
            <a:ext cx="601964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Single Element Tuple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79" y="5543550"/>
            <a:ext cx="6019649" cy="552450"/>
          </a:xfrm>
          <a:prstGeom prst="roundRect">
            <a:avLst>
              <a:gd name="adj" fmla="val 2758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79" y="5543550"/>
            <a:ext cx="6019649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single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(</a:t>
            </a:r>
            <a:r>
              <a:rPr sz="956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42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,)</a:t>
            </a:r>
            <a:r>
              <a:rPr sz="956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  # Note the comma!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017" y="1428750"/>
            <a:ext cx="4267093" cy="209549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572185" y="1728994"/>
            <a:ext cx="266693" cy="23771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72185" y="2188845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15077" y="2171700"/>
            <a:ext cx="305744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Cannot be modified after creation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72185" y="2588895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15077" y="2571750"/>
            <a:ext cx="17430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Safer for fixed data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72185" y="298894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15077" y="2971800"/>
            <a:ext cx="28383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Can be used as dictionary keys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017" y="3752849"/>
            <a:ext cx="4267093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72185" y="4058892"/>
            <a:ext cx="266693" cy="226115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572185" y="45910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3631" y="4495799"/>
            <a:ext cx="159063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Database records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72185" y="49911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3631" y="4895849"/>
            <a:ext cx="200972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Function return values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72185" y="53911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43631" y="5295899"/>
            <a:ext cx="218117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Fixed configuration 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72185" y="57912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43631" y="5695949"/>
            <a:ext cx="216212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Geographic coordinates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695307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Tuples: Methods, Operations &amp; Nesting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828800"/>
            <a:ext cx="6400639" cy="19431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79416" y="2717800"/>
            <a:ext cx="19431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85802" y="2112314"/>
            <a:ext cx="285742" cy="271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02" y="2581275"/>
            <a:ext cx="287647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count()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802" y="2943225"/>
            <a:ext cx="2876478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02" y="2943225"/>
            <a:ext cx="2876478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count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→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5152" y="2581275"/>
            <a:ext cx="287647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index()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152" y="2943225"/>
            <a:ext cx="2876478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5152" y="2943225"/>
            <a:ext cx="2876478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index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→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971925"/>
            <a:ext cx="6400639" cy="1866899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241315" y="4822824"/>
            <a:ext cx="18668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5802" y="4363089"/>
            <a:ext cx="285742" cy="368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85802" y="4724399"/>
            <a:ext cx="828654" cy="371475"/>
          </a:xfrm>
          <a:prstGeom prst="roundRect">
            <a:avLst>
              <a:gd name="adj" fmla="val 41025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802" y="4724399"/>
            <a:ext cx="82865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t1 + 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0655" y="4772025"/>
            <a:ext cx="118107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Concatenation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5152" y="4724399"/>
            <a:ext cx="657208" cy="371475"/>
          </a:xfrm>
          <a:prstGeom prst="roundRect">
            <a:avLst>
              <a:gd name="adj" fmla="val 41025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5152" y="4724399"/>
            <a:ext cx="65720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t *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8083" y="4772025"/>
            <a:ext cx="80960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Repetition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5802" y="5238749"/>
            <a:ext cx="571485" cy="371475"/>
          </a:xfrm>
          <a:prstGeom prst="roundRect">
            <a:avLst>
              <a:gd name="adj" fmla="val 41025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5802" y="5238749"/>
            <a:ext cx="57148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t[i]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3486" y="5295899"/>
            <a:ext cx="6857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Indexing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05152" y="5238749"/>
            <a:ext cx="742931" cy="371475"/>
          </a:xfrm>
          <a:prstGeom prst="roundRect">
            <a:avLst>
              <a:gd name="adj" fmla="val 41025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05152" y="5238749"/>
            <a:ext cx="74293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t[i:j]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3806" y="5295899"/>
            <a:ext cx="54291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Slicing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017" y="1533525"/>
            <a:ext cx="4267093" cy="1952624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34086" y="1812297"/>
            <a:ext cx="247643" cy="20445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534086" y="2181225"/>
            <a:ext cx="3828954" cy="752475"/>
          </a:xfrm>
          <a:prstGeom prst="roundRect">
            <a:avLst>
              <a:gd name="adj" fmla="val 2025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086" y="2181225"/>
            <a:ext cx="3828954" cy="752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nested = (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), 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)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086" y="3009900"/>
            <a:ext cx="64768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Access: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968" y="3028950"/>
            <a:ext cx="13715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nested[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0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][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 →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017" y="3676649"/>
            <a:ext cx="4267093" cy="24574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34086" y="3941577"/>
            <a:ext cx="247643" cy="213094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34086" y="4357967"/>
            <a:ext cx="190495" cy="1232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00779" y="4324349"/>
            <a:ext cx="101914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No append()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34086" y="4691342"/>
            <a:ext cx="190495" cy="1232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00779" y="4657725"/>
            <a:ext cx="10096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No remove()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34086" y="5024717"/>
            <a:ext cx="190495" cy="1232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800779" y="4991100"/>
            <a:ext cx="7143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No pop()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34086" y="5358092"/>
            <a:ext cx="190495" cy="1232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00779" y="5324474"/>
            <a:ext cx="72388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No sort()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34086" y="5691467"/>
            <a:ext cx="190495" cy="12326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00779" y="5657850"/>
            <a:ext cx="85722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No insert()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444806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 vs Tuple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90650"/>
            <a:ext cx="3086022" cy="2752725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28654" y="1697106"/>
            <a:ext cx="266693" cy="168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45" y="1609724"/>
            <a:ext cx="52386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8654" y="2157132"/>
            <a:ext cx="190495" cy="162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5347" y="2105024"/>
            <a:ext cx="69530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Mutable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8654" y="2560263"/>
            <a:ext cx="190495" cy="137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347" y="2495550"/>
            <a:ext cx="58101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Slower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2934260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5347" y="2876549"/>
            <a:ext cx="1200119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More memory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8654" y="3324785"/>
            <a:ext cx="190495" cy="1512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5347" y="3257550"/>
            <a:ext cx="106677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11+ methods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8654" y="3705785"/>
            <a:ext cx="190495" cy="1512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5347" y="3648074"/>
            <a:ext cx="117154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Dynamic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24201" y="1390650"/>
            <a:ext cx="3086022" cy="2752725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143271" y="1669566"/>
            <a:ext cx="266693" cy="223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86162" y="1609724"/>
            <a:ext cx="71435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Tuples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143271" y="2152930"/>
            <a:ext cx="190495" cy="17088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09964" y="2105024"/>
            <a:ext cx="89532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Immutable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143271" y="2575672"/>
            <a:ext cx="190495" cy="1064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09964" y="2495550"/>
            <a:ext cx="533386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Faster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143271" y="29398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09964" y="2876549"/>
            <a:ext cx="1152496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Less memory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143271" y="3309377"/>
            <a:ext cx="190495" cy="18209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09964" y="3257550"/>
            <a:ext cx="132394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2 methods only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143271" y="3695980"/>
            <a:ext cx="190495" cy="17088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09964" y="3648074"/>
            <a:ext cx="88580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Fixed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4" y="4324349"/>
            <a:ext cx="6400639" cy="1952624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-284178" y="5218111"/>
            <a:ext cx="195262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47703" y="4570227"/>
            <a:ext cx="247643" cy="21309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7703" y="4952999"/>
            <a:ext cx="291457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Use Lists When: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03" y="5276850"/>
            <a:ext cx="29145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• Data changes frequently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03" y="5562600"/>
            <a:ext cx="29145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• Need to modify elements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03" y="5848350"/>
            <a:ext cx="29145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• Sorting required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5152" y="4952999"/>
            <a:ext cx="291457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Use Tuples When: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05152" y="5276850"/>
            <a:ext cx="29145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• Data is constant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5152" y="5562600"/>
            <a:ext cx="29145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• Performance 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5152" y="5848350"/>
            <a:ext cx="29145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• As dictionary keys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53116" y="1581149"/>
            <a:ext cx="4190895" cy="2667000"/>
          </a:xfrm>
          <a:prstGeom prst="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017" y="4476750"/>
            <a:ext cx="4267093" cy="1638299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34086" y="4705350"/>
            <a:ext cx="382895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Key Takeaway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34086" y="5124449"/>
            <a:ext cx="3828954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Tuples are </a:t>
            </a:r>
            <a:r>
              <a:rPr sz="1076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faster and more memory efficient</a:t>
            </a: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, but lists offer </a:t>
            </a:r>
            <a:r>
              <a:rPr sz="1076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greater flexibility</a:t>
            </a: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for dynamic data operations.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21932"/>
            <a:ext cx="419089" cy="35623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584" y="1114425"/>
            <a:ext cx="5391015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07978" y="1931987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03" y="13049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75" y="1371600"/>
            <a:ext cx="1047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2991" y="1333500"/>
            <a:ext cx="150491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Access &amp;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03" y="1800225"/>
            <a:ext cx="4962400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703" y="1800225"/>
            <a:ext cx="496240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coords = 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10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20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30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Access first and last elements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4905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4397" y="2476499"/>
            <a:ext cx="225736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coords[0] and coords[-1]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095" y="1114425"/>
            <a:ext cx="5391015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373533" y="1931987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9214" y="13049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2085" y="1371600"/>
            <a:ext cx="1047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4501" y="1333500"/>
            <a:ext cx="149538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Tuple Methods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9214" y="1800225"/>
            <a:ext cx="4962400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14" y="1800225"/>
            <a:ext cx="496240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Count occurrences of 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29214" y="24905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95907" y="2476499"/>
            <a:ext cx="146681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nums.count(2)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3143250"/>
            <a:ext cx="3552736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76851" y="3829685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079" y="3295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852" y="3333749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070" y="3305174"/>
            <a:ext cx="116202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Immutability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079" y="3714750"/>
            <a:ext cx="3209844" cy="476249"/>
          </a:xfrm>
          <a:prstGeom prst="roundRect">
            <a:avLst>
              <a:gd name="adj" fmla="val 3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079" y="3714750"/>
            <a:ext cx="320984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Try to change nums[0]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268736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7723" y="4257675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Error expected!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4717" y="3143250"/>
            <a:ext cx="3552736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628282" y="3829685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05212" y="3295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9509" y="3333749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86202" y="3305174"/>
            <a:ext cx="129536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Nested Tuples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05212" y="3714750"/>
            <a:ext cx="3209844" cy="476249"/>
          </a:xfrm>
          <a:prstGeom prst="roundRect">
            <a:avLst>
              <a:gd name="adj" fmla="val 3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5212" y="3714750"/>
            <a:ext cx="320984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nested = ((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), 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))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Access element 4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05212" y="4268736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52856" y="4257675"/>
            <a:ext cx="838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nested[1][1]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9374" y="3143250"/>
            <a:ext cx="3552736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7342939" y="3829685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19869" y="3295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4641" y="3333749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0859" y="3305174"/>
            <a:ext cx="151443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Type Conversion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9869" y="3714750"/>
            <a:ext cx="3209844" cy="476249"/>
          </a:xfrm>
          <a:prstGeom prst="roundRect">
            <a:avLst>
              <a:gd name="adj" fmla="val 3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9869" y="3714750"/>
            <a:ext cx="320984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[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Convert to tuple &amp; back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19869" y="4268736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467513" y="4257675"/>
            <a:ext cx="9715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tuple() &amp; list()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584" y="4829175"/>
            <a:ext cx="5391015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5372721"/>
            <a:ext cx="266693" cy="2464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09644" y="5048250"/>
            <a:ext cx="457188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Key Concept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9644" y="5400675"/>
            <a:ext cx="4571885" cy="5429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Tuples are immutable - once created, they cannot be modified. This makes them safer for fixed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095" y="4829175"/>
            <a:ext cx="5391015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0164" y="5382867"/>
            <a:ext cx="266693" cy="22611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91155" y="5048250"/>
            <a:ext cx="457188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Practice Tips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91155" y="5400675"/>
            <a:ext cx="4571885" cy="5429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Try modifying a tuple to see Python's error message. Use tuple() and list() to convert between types.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745788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Sets: Introduction, Methods &amp;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057400"/>
            <a:ext cx="6400639" cy="17716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93691" y="2860675"/>
            <a:ext cx="17716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85802" y="2354035"/>
            <a:ext cx="285742" cy="244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02" y="2819399"/>
            <a:ext cx="589582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An </a:t>
            </a:r>
            <a:r>
              <a:rPr sz="1315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unordered</a:t>
            </a: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collection of </a:t>
            </a:r>
            <a:r>
              <a:rPr sz="1315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unique</a:t>
            </a: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elements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802" y="34290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8199" y="3314700"/>
            <a:ext cx="125726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No duplicates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4061" y="34290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6458" y="3314700"/>
            <a:ext cx="8000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No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5607" y="34290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8003" y="3314700"/>
            <a:ext cx="7429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Mutable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019549"/>
            <a:ext cx="3124121" cy="17907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79" y="4210049"/>
            <a:ext cx="27431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Initialization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79" y="4648200"/>
            <a:ext cx="2743131" cy="657225"/>
          </a:xfrm>
          <a:prstGeom prst="roundRect">
            <a:avLst>
              <a:gd name="adj" fmla="val 23188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79" y="4648200"/>
            <a:ext cx="2743131" cy="6572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{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set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range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))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102" y="4019549"/>
            <a:ext cx="3124121" cy="17907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6598" y="4210049"/>
            <a:ext cx="27431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Modification Methods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76598" y="4648200"/>
            <a:ext cx="1352516" cy="276225"/>
          </a:xfrm>
          <a:prstGeom prst="roundRect">
            <a:avLst>
              <a:gd name="adj" fmla="val 5517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6598" y="4648200"/>
            <a:ext cx="1352516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add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remove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76598" y="4991100"/>
            <a:ext cx="1428714" cy="276225"/>
          </a:xfrm>
          <a:prstGeom prst="roundRect">
            <a:avLst>
              <a:gd name="adj" fmla="val 5517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76598" y="4991100"/>
            <a:ext cx="1428714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discard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pop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76598" y="5353049"/>
            <a:ext cx="714357" cy="276225"/>
          </a:xfrm>
          <a:prstGeom prst="roundRect">
            <a:avLst>
              <a:gd name="adj" fmla="val 5517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6598" y="5353049"/>
            <a:ext cx="71435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clear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017" y="971550"/>
            <a:ext cx="4267093" cy="4105274"/>
          </a:xfrm>
          <a:prstGeom prst="roundRect">
            <a:avLst>
              <a:gd name="adj" fmla="val 5568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534086" y="1253755"/>
            <a:ext cx="247643" cy="17853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534086" y="1619250"/>
            <a:ext cx="3828954" cy="723900"/>
          </a:xfrm>
          <a:prstGeom prst="roundRect">
            <a:avLst>
              <a:gd name="adj" fmla="val 2105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48383" y="1733550"/>
            <a:ext cx="36003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A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|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B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8383" y="2000250"/>
            <a:ext cx="4476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Union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4086" y="2457450"/>
            <a:ext cx="3828954" cy="723900"/>
          </a:xfrm>
          <a:prstGeom prst="roundRect">
            <a:avLst>
              <a:gd name="adj" fmla="val 2105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8383" y="2571750"/>
            <a:ext cx="36003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A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&amp;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B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8383" y="2838450"/>
            <a:ext cx="9048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Intersection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34086" y="3295650"/>
            <a:ext cx="3828954" cy="723900"/>
          </a:xfrm>
          <a:prstGeom prst="roundRect">
            <a:avLst>
              <a:gd name="adj" fmla="val 2105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48383" y="3409950"/>
            <a:ext cx="36003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A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-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B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8383" y="3676649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Difference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34086" y="4133849"/>
            <a:ext cx="3828954" cy="723900"/>
          </a:xfrm>
          <a:prstGeom prst="roundRect">
            <a:avLst>
              <a:gd name="adj" fmla="val 2105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48383" y="4248150"/>
            <a:ext cx="36003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A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^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B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48383" y="4514850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Symmetric Difference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017" y="5267324"/>
            <a:ext cx="4267093" cy="1638299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34086" y="5546097"/>
            <a:ext cx="247643" cy="20445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34086" y="5915025"/>
            <a:ext cx="3828954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Sets cannot contain mutable elements like lists or dictionaries. Only immutable types can be stored.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21932"/>
            <a:ext cx="419089" cy="35623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584" y="1114425"/>
            <a:ext cx="5391015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07978" y="1931987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03" y="13049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75" y="1371600"/>
            <a:ext cx="1047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2991" y="1333500"/>
            <a:ext cx="212402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Uniqueness Property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03" y="1800225"/>
            <a:ext cx="4962400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703" y="1800225"/>
            <a:ext cx="496240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{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What will be the output?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4905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4397" y="2476499"/>
            <a:ext cx="258121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Duplicates automatically removed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095" y="1114425"/>
            <a:ext cx="5391015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373533" y="1931987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9214" y="13049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2085" y="1371600"/>
            <a:ext cx="1047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4501" y="1333500"/>
            <a:ext cx="150491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Set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9214" y="1800225"/>
            <a:ext cx="4962400" cy="600075"/>
          </a:xfrm>
          <a:prstGeom prst="roundRect">
            <a:avLst>
              <a:gd name="adj" fmla="val 2539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14" y="1800225"/>
            <a:ext cx="496240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A = {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}, B = {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Find A | B and A &amp; B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29214" y="24905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95907" y="2476499"/>
            <a:ext cx="25240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| for union, &amp; for intersection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3143250"/>
            <a:ext cx="3552736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157813" y="3910647"/>
            <a:ext cx="1666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079" y="3295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852" y="3333749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070" y="3305174"/>
            <a:ext cx="9524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Difference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079" y="3714750"/>
            <a:ext cx="3209844" cy="638175"/>
          </a:xfrm>
          <a:prstGeom prst="roundRect">
            <a:avLst>
              <a:gd name="adj" fmla="val 2388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079" y="3714750"/>
            <a:ext cx="3209844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A = {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B = {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Find A - B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43066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7723" y="441960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Elements in A but not 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4717" y="3143250"/>
            <a:ext cx="3552736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547320" y="3910647"/>
            <a:ext cx="1666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05212" y="3295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9509" y="3333749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86202" y="3305174"/>
            <a:ext cx="126679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Subset Check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05212" y="3714750"/>
            <a:ext cx="3209844" cy="638175"/>
          </a:xfrm>
          <a:prstGeom prst="roundRect">
            <a:avLst>
              <a:gd name="adj" fmla="val 2388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5212" y="3714750"/>
            <a:ext cx="3209844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A = {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B = {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Is A subset of B?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05212" y="4430661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52856" y="4419600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A.issubset(B)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9374" y="3143250"/>
            <a:ext cx="3552736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7261977" y="3910647"/>
            <a:ext cx="1666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19869" y="3295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4641" y="3333749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0859" y="3305174"/>
            <a:ext cx="160968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Remove Elements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9869" y="3714750"/>
            <a:ext cx="3209844" cy="476249"/>
          </a:xfrm>
          <a:prstGeom prst="roundRect">
            <a:avLst>
              <a:gd name="adj" fmla="val 3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9869" y="3714750"/>
            <a:ext cx="320984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{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Remove 2 and 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19869" y="4268736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467513" y="4257675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remove() vs discard()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584" y="4991100"/>
            <a:ext cx="5391015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5534646"/>
            <a:ext cx="266693" cy="2464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09644" y="5210174"/>
            <a:ext cx="457188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Key Concept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9644" y="5562600"/>
            <a:ext cx="4571885" cy="5429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Sets automatically remove duplicates and provide fast membership testing. Perfect for unique data!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095" y="4991100"/>
            <a:ext cx="5391015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0164" y="5544792"/>
            <a:ext cx="266693" cy="22611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91155" y="5210174"/>
            <a:ext cx="457188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Practice Tips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91155" y="5562600"/>
            <a:ext cx="4571885" cy="5429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3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Remember that sets are unordered. The output may vary in display but the content remains the same.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72769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Dictionaries: Introduction &amp; Initialization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71550"/>
            <a:ext cx="6400639" cy="17716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93691" y="1774825"/>
            <a:ext cx="17716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85802" y="1274697"/>
            <a:ext cx="285742" cy="212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02" y="1724024"/>
            <a:ext cx="589582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An </a:t>
            </a:r>
            <a:r>
              <a:rPr sz="1315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unordered</a:t>
            </a: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collection of </a:t>
            </a:r>
            <a:r>
              <a:rPr sz="1315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key-value</a:t>
            </a:r>
            <a:r>
              <a:rPr sz="1315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pairs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802" y="23336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8199" y="2228850"/>
            <a:ext cx="7429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Mutable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9724" y="23336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2120" y="2228850"/>
            <a:ext cx="112392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Unique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5112" y="23336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8" y="2228850"/>
            <a:ext cx="104772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Fast lookup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2933699"/>
            <a:ext cx="3124121" cy="1895474"/>
          </a:xfrm>
          <a:prstGeom prst="roundRect">
            <a:avLst>
              <a:gd name="adj" fmla="val 120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79" y="3124200"/>
            <a:ext cx="27431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Curly Braces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79" y="3552825"/>
            <a:ext cx="2743131" cy="1085850"/>
          </a:xfrm>
          <a:prstGeom prst="roundRect">
            <a:avLst>
              <a:gd name="adj" fmla="val 14035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79" y="3552825"/>
            <a:ext cx="2743131" cy="10858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student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{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"name"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"John"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"age"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20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}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102" y="2933699"/>
            <a:ext cx="3124121" cy="1895474"/>
          </a:xfrm>
          <a:prstGeom prst="roundRect">
            <a:avLst>
              <a:gd name="adj" fmla="val 120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6598" y="3124200"/>
            <a:ext cx="27431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dict() Constructor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76598" y="3552825"/>
            <a:ext cx="2743131" cy="1085850"/>
          </a:xfrm>
          <a:prstGeom prst="roundRect">
            <a:avLst>
              <a:gd name="adj" fmla="val 14035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6598" y="3552825"/>
            <a:ext cx="2743131" cy="10858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scores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dict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math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=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95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sci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=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88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)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5019675"/>
            <a:ext cx="6400639" cy="1495424"/>
          </a:xfrm>
          <a:prstGeom prst="roundRect">
            <a:avLst>
              <a:gd name="adj" fmla="val 152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72088" y="5701347"/>
            <a:ext cx="14954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179" y="5210174"/>
            <a:ext cx="598155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Key Characteristics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179" y="5638799"/>
            <a:ext cx="1914477" cy="6858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476" y="5753099"/>
            <a:ext cx="168588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Unique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76" y="5991225"/>
            <a:ext cx="16858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No duplicates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66953" y="5638799"/>
            <a:ext cx="1914477" cy="6858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81250" y="5753099"/>
            <a:ext cx="168588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Immutable Keys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1250" y="5991225"/>
            <a:ext cx="16858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Strings, numbers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05252" y="5638799"/>
            <a:ext cx="1914477" cy="68580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9549" y="5753099"/>
            <a:ext cx="168588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Unordered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9549" y="5991225"/>
            <a:ext cx="16858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No index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017" y="1247775"/>
            <a:ext cx="4267093" cy="3152775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534086" y="1539505"/>
            <a:ext cx="247643" cy="178538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34086" y="1923792"/>
            <a:ext cx="209544" cy="15291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57928" y="1924049"/>
            <a:ext cx="107629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Data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57928" y="2152650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Student records, configs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34086" y="2519619"/>
            <a:ext cx="209544" cy="16141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57928" y="2524125"/>
            <a:ext cx="120964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Lookup Tables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57928" y="2752725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Fast key-based access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34086" y="3118279"/>
            <a:ext cx="209544" cy="16424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57928" y="3124200"/>
            <a:ext cx="167635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Frequency Counting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57928" y="3352800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Word counts, stats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534086" y="3741008"/>
            <a:ext cx="209544" cy="11893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857928" y="3724274"/>
            <a:ext cx="123821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API Responses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57928" y="3952874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JSON data handling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017" y="4591050"/>
            <a:ext cx="4267093" cy="1638299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534086" y="4865502"/>
            <a:ext cx="247643" cy="21309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534086" y="5238749"/>
            <a:ext cx="3828954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Dictionary keys must be </a:t>
            </a:r>
            <a:r>
              <a:rPr sz="1076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immutable</a:t>
            </a:r>
            <a:r>
              <a:rPr sz="107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(strings, numbers, tuples). Lists cannot be used as keys.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794365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Dictionaries: Methods, Nesting &amp;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28725"/>
            <a:ext cx="6400639" cy="24384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543576" y="2381885"/>
            <a:ext cx="2438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463122"/>
            <a:ext cx="266693" cy="2551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8179" y="1914525"/>
            <a:ext cx="2933626" cy="723900"/>
          </a:xfrm>
          <a:prstGeom prst="roundRect">
            <a:avLst>
              <a:gd name="adj" fmla="val 2105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476" y="2028825"/>
            <a:ext cx="27050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.get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(key, default)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314575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Safe value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102" y="1914525"/>
            <a:ext cx="2933626" cy="723900"/>
          </a:xfrm>
          <a:prstGeom prst="roundRect">
            <a:avLst>
              <a:gd name="adj" fmla="val 2105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399" y="2028825"/>
            <a:ext cx="27050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.keys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399" y="2314575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Get all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179" y="2752725"/>
            <a:ext cx="2933626" cy="723900"/>
          </a:xfrm>
          <a:prstGeom prst="roundRect">
            <a:avLst>
              <a:gd name="adj" fmla="val 2105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476" y="2867025"/>
            <a:ext cx="27050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.values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3152775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Get all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102" y="2752725"/>
            <a:ext cx="2933626" cy="723900"/>
          </a:xfrm>
          <a:prstGeom prst="roundRect">
            <a:avLst>
              <a:gd name="adj" fmla="val 2105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0399" y="2867025"/>
            <a:ext cx="27050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956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.items</a:t>
            </a: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399" y="3152775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Get key-value pairs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3857625"/>
            <a:ext cx="6400639" cy="2590799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619775" y="5086984"/>
            <a:ext cx="2590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4110865"/>
            <a:ext cx="266693" cy="21741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38179" y="4505325"/>
            <a:ext cx="5981550" cy="1428750"/>
          </a:xfrm>
          <a:prstGeom prst="roundRect">
            <a:avLst>
              <a:gd name="adj" fmla="val 1066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179" y="4505325"/>
            <a:ext cx="5981550" cy="1428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students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{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"class"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{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"101"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{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"name"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"John"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},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"102"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{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"name"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"Jane"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}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}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79" y="6010274"/>
            <a:ext cx="60958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Access: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3961" y="6019800"/>
            <a:ext cx="29241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students["class"]["101"]["name"]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3591" y="1581149"/>
            <a:ext cx="4209944" cy="2286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017" y="4086225"/>
            <a:ext cx="4267093" cy="202882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95987" y="4313938"/>
            <a:ext cx="247643" cy="23037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95987" y="4709832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62680" y="4752974"/>
            <a:ext cx="145728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dict[key] =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3791" y="4714875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Add/update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95987" y="5048810"/>
            <a:ext cx="190495" cy="15127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62680" y="5086350"/>
            <a:ext cx="1114397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del dict[key]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899" y="5048250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Remove key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95987" y="5358652"/>
            <a:ext cx="190495" cy="17929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62680" y="5410199"/>
            <a:ext cx="222879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for key, val in d.items():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15297" y="5372100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Iterate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95987" y="5696510"/>
            <a:ext cx="190495" cy="15127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62680" y="5734050"/>
            <a:ext cx="162873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.update(other_dict)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5237" y="5695949"/>
            <a:ext cx="7715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Merge dict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651493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Sorting &amp; Typecasting in Collections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23974"/>
            <a:ext cx="5333866" cy="3200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924576" y="2858134"/>
            <a:ext cx="3200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613452"/>
            <a:ext cx="266693" cy="1449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8179" y="1971675"/>
            <a:ext cx="4914777" cy="714375"/>
          </a:xfrm>
          <a:prstGeom prst="roundRect">
            <a:avLst>
              <a:gd name="adj" fmla="val 21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476" y="2085975"/>
            <a:ext cx="46861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nums.sort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362199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Sorts list in 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179" y="2800350"/>
            <a:ext cx="4914777" cy="714375"/>
          </a:xfrm>
          <a:prstGeom prst="roundRect">
            <a:avLst>
              <a:gd name="adj" fmla="val 21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476" y="2914650"/>
            <a:ext cx="46861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sorted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(nums)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181350"/>
            <a:ext cx="16477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Returns new sorted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179" y="3619499"/>
            <a:ext cx="4914777" cy="714375"/>
          </a:xfrm>
          <a:prstGeom prst="roundRect">
            <a:avLst>
              <a:gd name="adj" fmla="val 21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476" y="3733799"/>
            <a:ext cx="46861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sorted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(dict.items())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4010024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Sort dict by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4676775"/>
            <a:ext cx="5333866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157813" y="5444172"/>
            <a:ext cx="1666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4954656"/>
            <a:ext cx="266693" cy="16813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38179" y="5324474"/>
            <a:ext cx="4914777" cy="828675"/>
          </a:xfrm>
          <a:prstGeom prst="roundRect">
            <a:avLst>
              <a:gd name="adj" fmla="val 1839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179" y="5324474"/>
            <a:ext cx="4914777" cy="828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tuple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([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]) → 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list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({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}) → [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list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dict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.items()) → [(k,v),...]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243" y="1771650"/>
            <a:ext cx="5333866" cy="30861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7313" y="1990724"/>
            <a:ext cx="489572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Sorting 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313" y="2419349"/>
            <a:ext cx="489572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List Sorting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7313" y="2695575"/>
            <a:ext cx="4895727" cy="495299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7313" y="2695575"/>
            <a:ext cx="4895727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[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sort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() → [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313" y="3314700"/>
            <a:ext cx="489572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Reverse Sorting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67313" y="3590924"/>
            <a:ext cx="4895727" cy="323849"/>
          </a:xfrm>
          <a:prstGeom prst="roundRect">
            <a:avLst>
              <a:gd name="adj" fmla="val 2352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7313" y="3590924"/>
            <a:ext cx="4895727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nums.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sort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(reverse=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True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7313" y="4029075"/>
            <a:ext cx="489572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Sort by 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67313" y="4314825"/>
            <a:ext cx="4895727" cy="323849"/>
          </a:xfrm>
          <a:prstGeom prst="roundRect">
            <a:avLst>
              <a:gd name="adj" fmla="val 2352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7313" y="4314825"/>
            <a:ext cx="4895727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sorted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(scores, key=scores.get)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8243" y="5010149"/>
            <a:ext cx="2590735" cy="895350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5214808"/>
            <a:ext cx="209544" cy="1812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05432" y="5181599"/>
            <a:ext cx="107629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In-place Sort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689" y="5514975"/>
            <a:ext cx="224784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Modifies original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1375" y="5010149"/>
            <a:ext cx="2590735" cy="895350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5214808"/>
            <a:ext cx="209544" cy="1812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448563" y="5181599"/>
            <a:ext cx="7143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New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820" y="5514975"/>
            <a:ext cx="224784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Keeps original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21932"/>
            <a:ext cx="419089" cy="35623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584" y="1038224"/>
            <a:ext cx="5410064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56500" y="1591308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079" y="1190625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901" y="124777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1219200"/>
            <a:ext cx="15239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Access &amp; Modify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79" y="1609724"/>
            <a:ext cx="5067173" cy="476249"/>
          </a:xfrm>
          <a:prstGeom prst="roundRect">
            <a:avLst>
              <a:gd name="adj" fmla="val 3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79" y="1609724"/>
            <a:ext cx="5067173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student = {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"name"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"John"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"age"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20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Add grade and update age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045" y="1038224"/>
            <a:ext cx="5410064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618961" y="1591308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2540" y="1190625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6362" y="124777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630" y="1219200"/>
            <a:ext cx="181922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Dictionary Methods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2540" y="1609724"/>
            <a:ext cx="5067173" cy="476249"/>
          </a:xfrm>
          <a:prstGeom prst="roundRect">
            <a:avLst>
              <a:gd name="adj" fmla="val 3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2540" y="1609724"/>
            <a:ext cx="5067173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scores = {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"math"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95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"sci"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88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Get all keys and values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2428875"/>
            <a:ext cx="3552736" cy="1009649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170800" y="286765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079" y="25812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77" y="2628900"/>
            <a:ext cx="7619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070" y="2600325"/>
            <a:ext cx="149538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Nested Dictionary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079" y="2962274"/>
            <a:ext cx="3209844" cy="285750"/>
          </a:xfrm>
          <a:prstGeom prst="roundRect">
            <a:avLst>
              <a:gd name="adj" fmla="val 5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278" y="3038475"/>
            <a:ext cx="1371565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Create nested dict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4717" y="2428875"/>
            <a:ext cx="3552736" cy="1009649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875933" y="286765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05212" y="25812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9509" y="2628900"/>
            <a:ext cx="7619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6202" y="2600325"/>
            <a:ext cx="125726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Sort Dictionary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05212" y="2962274"/>
            <a:ext cx="3209844" cy="285750"/>
          </a:xfrm>
          <a:prstGeom prst="roundRect">
            <a:avLst>
              <a:gd name="adj" fmla="val 5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410" y="3038475"/>
            <a:ext cx="1095347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Sort by values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9374" y="2428875"/>
            <a:ext cx="3552736" cy="1009649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7590590" y="286765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19869" y="25812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4641" y="2628900"/>
            <a:ext cx="7619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Courier New"/>
                <a:rFonts ascii="Courier New" hAnsi="Courier New" eastAsia="Courier New" cs="Courier New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0859" y="2600325"/>
            <a:ext cx="136204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Type Conversion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9869" y="2962274"/>
            <a:ext cx="3209844" cy="285750"/>
          </a:xfrm>
          <a:prstGeom prst="roundRect">
            <a:avLst>
              <a:gd name="adj" fmla="val 5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6067" y="3038475"/>
            <a:ext cx="1847803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Convert to list of tuples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" y="3590924"/>
            <a:ext cx="10972525" cy="1419225"/>
          </a:xfrm>
          <a:prstGeom prst="roundRect">
            <a:avLst>
              <a:gd name="adj" fmla="val 16107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90555" y="3835916"/>
            <a:ext cx="247643" cy="195816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790555" y="4200525"/>
            <a:ext cx="5229094" cy="628650"/>
          </a:xfrm>
          <a:prstGeom prst="roundRect">
            <a:avLst>
              <a:gd name="adj" fmla="val 2424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555" y="4200525"/>
            <a:ext cx="5229094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{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"b"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{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"b"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"c"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4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}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172045" y="4214532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38739" y="4200525"/>
            <a:ext cx="24288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Merge dictionaries using update()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172045" y="4547347"/>
            <a:ext cx="190495" cy="10645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438739" y="4505325"/>
            <a:ext cx="111439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d1.update(d2)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584" y="5162550"/>
            <a:ext cx="3552736" cy="590549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360129"/>
            <a:ext cx="209544" cy="19539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66773" y="5334000"/>
            <a:ext cx="195257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Use get() for safe access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14717" y="5162550"/>
            <a:ext cx="3552736" cy="590549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86162" y="5371456"/>
            <a:ext cx="209544" cy="17273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771905" y="5334000"/>
            <a:ext cx="162873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Keys must be unique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9374" y="5162550"/>
            <a:ext cx="3552736" cy="590549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00819" y="5358713"/>
            <a:ext cx="209544" cy="19822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486562" y="5334000"/>
            <a:ext cx="146681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Iterate with items()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9050"/>
            <a:ext cx="682925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Functions: Introduction &amp;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33449"/>
            <a:ext cx="6400639" cy="1409699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9225" y="1572258"/>
            <a:ext cx="1409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199735"/>
            <a:ext cx="266693" cy="19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179" y="1581149"/>
            <a:ext cx="598155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 </a:t>
            </a:r>
            <a:r>
              <a:rPr sz="1196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reusable</a:t>
            </a:r>
            <a:r>
              <a:rPr sz="119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block of code that performs a specific task when called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2495550"/>
            <a:ext cx="6400639" cy="1924049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-286400" y="3391534"/>
            <a:ext cx="19240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2748790"/>
            <a:ext cx="266693" cy="21741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3171567"/>
            <a:ext cx="209544" cy="152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3171825"/>
            <a:ext cx="91437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Reusability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21" y="3400425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Write once, use many times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86102" y="3177231"/>
            <a:ext cx="209544" cy="1415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71845" y="3171825"/>
            <a:ext cx="92390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Readability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1845" y="3400425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Clearer, cleaner code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8179" y="3760315"/>
            <a:ext cx="209544" cy="1755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3921" y="3771900"/>
            <a:ext cx="89532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Modularity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21" y="4000500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Break complex tasks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886102" y="3747572"/>
            <a:ext cx="209544" cy="2010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71845" y="3771900"/>
            <a:ext cx="14668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Easier 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1845" y="4000500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Isolate and fix issues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4572000"/>
            <a:ext cx="6400639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-314975" y="5496559"/>
            <a:ext cx="19811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8179" y="4861477"/>
            <a:ext cx="266693" cy="144945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38179" y="5219700"/>
            <a:ext cx="5981550" cy="114300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179" y="5219700"/>
            <a:ext cx="5981550" cy="11430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greet(name):</a:t>
            </a:r>
            <a:r>
              <a:rPr sz="1104"/>
              <a:t>
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print(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"Hello, "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+ name + 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"!"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1104"/>
              <a:t>
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greet(</a:t>
            </a:r>
            <a:r>
              <a:rPr sz="89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"Alice"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 </a:t>
            </a:r>
            <a:r>
              <a:rPr sz="89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Output: Hello, Alice!</a:t>
            </a:r>
            <a:r>
              <a:rPr sz="89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017" y="1962149"/>
            <a:ext cx="4267093" cy="1990724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95987" y="2189863"/>
            <a:ext cx="247643" cy="23037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95987" y="26143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62680" y="2571750"/>
            <a:ext cx="199067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Reduced code duplication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95987" y="293818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62680" y="2895600"/>
            <a:ext cx="144776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Better organization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95987" y="3252507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62680" y="3219449"/>
            <a:ext cx="149538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Easier maintenance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95987" y="357635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762680" y="3533774"/>
            <a:ext cx="175255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Improved collaboration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017" y="4114800"/>
            <a:ext cx="4267093" cy="1409699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247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95987" y="4330065"/>
            <a:ext cx="228594" cy="21717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95987" y="4648200"/>
            <a:ext cx="3905152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When code is repeated multiple times, when breaking down complex problems, or when creating reusable utilities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724834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Functions: Parameters &amp; Documentation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733550"/>
            <a:ext cx="5333866" cy="2371725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510238" y="2853372"/>
            <a:ext cx="2371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991139"/>
            <a:ext cx="266693" cy="2087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8179" y="2381250"/>
            <a:ext cx="4914777" cy="714375"/>
          </a:xfrm>
          <a:prstGeom prst="roundRect">
            <a:avLst>
              <a:gd name="adj" fmla="val 21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476" y="2495550"/>
            <a:ext cx="46861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Positional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790824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add(a, b): 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a and b must be provided in order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179" y="3200400"/>
            <a:ext cx="4914777" cy="714375"/>
          </a:xfrm>
          <a:prstGeom prst="roundRect">
            <a:avLst>
              <a:gd name="adj" fmla="val 21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476" y="3314700"/>
            <a:ext cx="46861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Keyword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619499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add(a=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b=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Clear and explicit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4257675"/>
            <a:ext cx="5333866" cy="16764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162576" y="5029835"/>
            <a:ext cx="1676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4506567"/>
            <a:ext cx="266693" cy="22611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4919382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872" y="4905375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triple quotes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333666" y="4919382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00359" y="4905375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Describe purpose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522418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4872" y="5210174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List parameters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333666" y="5224182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00359" y="5210174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Explain returns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5528982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04872" y="5514975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Include examples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333666" y="5528982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00359" y="5514975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Keep it concise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243" y="1171575"/>
            <a:ext cx="5333866" cy="414337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67313" y="1483463"/>
            <a:ext cx="247643" cy="138223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7313" y="1819275"/>
            <a:ext cx="4895727" cy="3276599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7313" y="1819275"/>
            <a:ext cx="4895727" cy="32765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calculate_area(length, width):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"""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Calculate the area of a rectangle.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Parameters: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length (float): Length of the rectangle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width (float): Width of the rectangle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Returns: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float: Area of the rectangle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Example: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&gt;&gt;&gt; calculate_area(5, 3)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15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"""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return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length * width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8243" y="5467349"/>
            <a:ext cx="2590735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9689" y="5681382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86382" y="5638799"/>
            <a:ext cx="138109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Access Docstring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689" y="5924549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function_name.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__doc__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1375" y="5467349"/>
            <a:ext cx="2590735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5681382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429514" y="5638799"/>
            <a:ext cx="93342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IDE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820" y="5924549"/>
            <a:ext cx="2247843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Most IDEs show docstrings on hover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917234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Functions: Keyword, Optional &amp; Default Parameters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685925"/>
            <a:ext cx="5333866" cy="2076449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362600" y="2658109"/>
            <a:ext cx="2076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958008"/>
            <a:ext cx="266693" cy="1797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8179" y="2333624"/>
            <a:ext cx="4914777" cy="628650"/>
          </a:xfrm>
          <a:prstGeom prst="roundRect">
            <a:avLst>
              <a:gd name="adj" fmla="val 2424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179" y="2333624"/>
            <a:ext cx="4914777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student_info(name, age, grade):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print(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f"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{name} is {age} in grade {grade}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3078111"/>
            <a:ext cx="171445" cy="149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038475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Positional: student_info("John", 18, 12)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3385676"/>
            <a:ext cx="171445" cy="143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22" y="3343275"/>
            <a:ext cx="32860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Keyword: student_info(name="John", age=18)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914775"/>
            <a:ext cx="5333866" cy="2066924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357838" y="4882197"/>
            <a:ext cx="20669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8179" y="4163667"/>
            <a:ext cx="266693" cy="22611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38179" y="4562475"/>
            <a:ext cx="4914777" cy="1228725"/>
          </a:xfrm>
          <a:prstGeom prst="roundRect">
            <a:avLst>
              <a:gd name="adj" fmla="val 1240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179" y="4562475"/>
            <a:ext cx="4914777" cy="12287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greet(name, greeting=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"Hello"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):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print(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f"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{greeting}, {name}!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greet(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"Alice"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Output: Hello, Alice!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greet(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"Bob"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"Hi"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Output: Hi, Bob!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243" y="1285875"/>
            <a:ext cx="5333866" cy="255270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67313" y="1551688"/>
            <a:ext cx="247643" cy="23037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67313" y="1967556"/>
            <a:ext cx="209544" cy="14158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91155" y="1962149"/>
            <a:ext cx="108582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Clearer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1155" y="2190749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Named arguments improve readability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67313" y="2610836"/>
            <a:ext cx="209544" cy="5517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91155" y="2562224"/>
            <a:ext cx="170493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Order Independence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1155" y="2790824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Skip positional requirements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67313" y="3221102"/>
            <a:ext cx="209544" cy="3479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91155" y="3162299"/>
            <a:ext cx="79055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Flexibility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1155" y="3390899"/>
            <a:ext cx="29431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Default values make parameters optional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8243" y="3990974"/>
            <a:ext cx="5333866" cy="1438274"/>
          </a:xfrm>
          <a:prstGeom prst="roundRect">
            <a:avLst>
              <a:gd name="adj" fmla="val 15894"/>
            </a:avLst>
          </a:prstGeom>
          <a:solidFill>
            <a:srgbClr val="FFFFFF"/>
          </a:solidFill>
          <a:ln w="247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67313" y="4269747"/>
            <a:ext cx="247643" cy="20445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67313" y="4678311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14957" y="4638674"/>
            <a:ext cx="9239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Defaults first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72325" y="4678311"/>
            <a:ext cx="171445" cy="1493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19969" y="4638674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Keyword clarity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67313" y="5021211"/>
            <a:ext cx="171445" cy="1493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14957" y="4981574"/>
            <a:ext cx="7524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Mix wisely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72325" y="5021211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219969" y="4981574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Document defaults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243" y="5581649"/>
            <a:ext cx="5333866" cy="8001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6510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689" y="5753099"/>
            <a:ext cx="499097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Remember:</a:t>
            </a: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Always position parameters with defaults </a:t>
            </a:r>
            <a:r>
              <a:rPr sz="956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after</a:t>
            </a: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regular parameters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842941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Functions: Variable Length Arguments &amp;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790700"/>
            <a:ext cx="5333866" cy="1866899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57825" y="2658109"/>
            <a:ext cx="1866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2088873"/>
            <a:ext cx="266693" cy="127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8179" y="2438400"/>
            <a:ext cx="4914777" cy="1028700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179" y="2438400"/>
            <a:ext cx="4914777" cy="10287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sum_all(*args):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return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sum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(args)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sum_all(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Output: 6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809999"/>
            <a:ext cx="5333866" cy="2066924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357838" y="4777421"/>
            <a:ext cx="20669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4058892"/>
            <a:ext cx="266693" cy="2261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8179" y="4457700"/>
            <a:ext cx="4914777" cy="1228725"/>
          </a:xfrm>
          <a:prstGeom prst="roundRect">
            <a:avLst>
              <a:gd name="adj" fmla="val 1240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179" y="4457700"/>
            <a:ext cx="4914777" cy="12287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student_data(**kwargs):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for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key, value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in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kwargs.items():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print(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f"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{key}: {value}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student_data(name=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"John"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age=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18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243" y="1323974"/>
            <a:ext cx="5333866" cy="1581149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67313" y="1611940"/>
            <a:ext cx="247643" cy="16701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67313" y="1971675"/>
            <a:ext cx="2390715" cy="714375"/>
          </a:xfrm>
          <a:prstGeom prst="roundRect">
            <a:avLst>
              <a:gd name="adj" fmla="val 21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1610" y="2085975"/>
            <a:ext cx="216212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Local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610" y="2362199"/>
            <a:ext cx="216212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Variables inside function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2325" y="1971675"/>
            <a:ext cx="2390715" cy="714375"/>
          </a:xfrm>
          <a:prstGeom prst="roundRect">
            <a:avLst>
              <a:gd name="adj" fmla="val 21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6622" y="2085975"/>
            <a:ext cx="216212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Global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6622" y="2362199"/>
            <a:ext cx="216212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Variables outside function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243" y="3047999"/>
            <a:ext cx="5333866" cy="2371725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247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67313" y="3326772"/>
            <a:ext cx="247643" cy="20445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467313" y="3695699"/>
            <a:ext cx="2390715" cy="695325"/>
          </a:xfrm>
          <a:prstGeom prst="roundRect">
            <a:avLst>
              <a:gd name="adj" fmla="val 2191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1610" y="3809999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1610" y="3809999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6402" y="3809999"/>
            <a:ext cx="4000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610" y="4076699"/>
            <a:ext cx="216212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Function's own variables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2325" y="3695699"/>
            <a:ext cx="2390715" cy="695325"/>
          </a:xfrm>
          <a:prstGeom prst="roundRect">
            <a:avLst>
              <a:gd name="adj" fmla="val 2191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86622" y="3809999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6622" y="3809999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1415" y="3809999"/>
            <a:ext cx="7238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Enclosing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6622" y="4076699"/>
            <a:ext cx="216212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Outer function's scope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67313" y="4505325"/>
            <a:ext cx="2390715" cy="695325"/>
          </a:xfrm>
          <a:prstGeom prst="roundRect">
            <a:avLst>
              <a:gd name="adj" fmla="val 2191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1610" y="46196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1610" y="46196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6402" y="4619625"/>
            <a:ext cx="4667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1610" y="4886325"/>
            <a:ext cx="216212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Module-level scope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2325" y="4505325"/>
            <a:ext cx="2390715" cy="695325"/>
          </a:xfrm>
          <a:prstGeom prst="roundRect">
            <a:avLst>
              <a:gd name="adj" fmla="val 2191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86622" y="46196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86622" y="46196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1415" y="4619625"/>
            <a:ext cx="5333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Built-in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6622" y="4886325"/>
            <a:ext cx="216212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Python built-in scope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8243" y="5572125"/>
            <a:ext cx="5333866" cy="771525"/>
          </a:xfrm>
          <a:prstGeom prst="roundRect">
            <a:avLst>
              <a:gd name="adj" fmla="val 29629"/>
            </a:avLst>
          </a:prstGeom>
          <a:solidFill>
            <a:srgbClr val="FFFFFF"/>
          </a:solidFill>
          <a:ln w="16510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689" y="5743575"/>
            <a:ext cx="4990975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Remember:</a:t>
            </a: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Python searches for variables in this order: </a:t>
            </a:r>
            <a:r>
              <a:rPr sz="956" b="1">
                <a:solidFill>
                  <a:srgbClr val="D6C096"/>
                </a:solidFill>
                <a:latin typeface="Inter"/>
                <a:rFonts ascii="Inter" hAnsi="Inter" eastAsia="Inter" cs="Inter"/>
              </a:rPr>
              <a:t>Local → Enclosing → Global → Built-in</a:t>
            </a: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77150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Functions: Passing Collections &amp; Recursion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762125"/>
            <a:ext cx="5333866" cy="2266950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457851" y="2829560"/>
            <a:ext cx="2266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2011017"/>
            <a:ext cx="266693" cy="2261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8179" y="2409825"/>
            <a:ext cx="4914777" cy="1428750"/>
          </a:xfrm>
          <a:prstGeom prst="roundRect">
            <a:avLst>
              <a:gd name="adj" fmla="val 1066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179" y="2409825"/>
            <a:ext cx="4914777" cy="1428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modify_list(lst):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lst.append(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99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Changes original!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nums = [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modify_list(nums)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print(nums)  </a:t>
            </a:r>
            <a:r>
              <a:rPr sz="83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[1, 2, 3, 99]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4181474"/>
            <a:ext cx="5333866" cy="1733550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91151" y="4982209"/>
            <a:ext cx="1733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4459356"/>
            <a:ext cx="266693" cy="1681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8179" y="4829175"/>
            <a:ext cx="2400239" cy="895350"/>
          </a:xfrm>
          <a:prstGeom prst="roundRect">
            <a:avLst>
              <a:gd name="adj" fmla="val 17021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476" y="4943475"/>
            <a:ext cx="217164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Mutable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5219700"/>
            <a:ext cx="2171645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lists, dicts, 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54197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Passed by reference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2716" y="4829175"/>
            <a:ext cx="2400239" cy="895350"/>
          </a:xfrm>
          <a:prstGeom prst="roundRect">
            <a:avLst>
              <a:gd name="adj" fmla="val 17021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7013" y="4943475"/>
            <a:ext cx="217164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Immutable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013" y="5219700"/>
            <a:ext cx="2171645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numbers, strings, tuples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7013" y="54197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Passed by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243" y="1914525"/>
            <a:ext cx="5333866" cy="2838450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67313" y="2196730"/>
            <a:ext cx="247643" cy="17853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67313" y="2562224"/>
            <a:ext cx="4895727" cy="1343025"/>
          </a:xfrm>
          <a:prstGeom prst="roundRect">
            <a:avLst>
              <a:gd name="adj" fmla="val 1134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7313" y="2562224"/>
            <a:ext cx="4895727" cy="13430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52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factorial(n):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Base case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if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 ==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: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return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888888"/>
                </a:solidFill>
                <a:latin typeface="Courier New"/>
                <a:rFonts ascii="Courier New" hAnsi="Courier New" eastAsia="Courier New" cs="Courier New"/>
              </a:rPr>
              <a:t># Recursive case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return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n * factorial(n -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7313" y="3981449"/>
            <a:ext cx="2390715" cy="552450"/>
          </a:xfrm>
          <a:prstGeom prst="roundRect">
            <a:avLst>
              <a:gd name="adj" fmla="val 2758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3511" y="4057650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Base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3511" y="4267199"/>
            <a:ext cx="22383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Stops recursion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2325" y="3981449"/>
            <a:ext cx="2390715" cy="552450"/>
          </a:xfrm>
          <a:prstGeom prst="roundRect">
            <a:avLst>
              <a:gd name="adj" fmla="val 2758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8523" y="4057650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Recursive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523" y="4267199"/>
            <a:ext cx="22383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Calls itself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243" y="4905375"/>
            <a:ext cx="2590735" cy="847724"/>
          </a:xfrm>
          <a:prstGeom prst="roundRect">
            <a:avLst>
              <a:gd name="adj" fmla="val 26966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5132013"/>
            <a:ext cx="190495" cy="1372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86382" y="5076825"/>
            <a:ext cx="6381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Iterative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689" y="5391150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Faster, uses loops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1375" y="4905375"/>
            <a:ext cx="2590735" cy="847724"/>
          </a:xfrm>
          <a:prstGeom prst="roundRect">
            <a:avLst>
              <a:gd name="adj" fmla="val 26966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5111002"/>
            <a:ext cx="190495" cy="17929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29514" y="5076825"/>
            <a:ext cx="78103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Recursive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820" y="5391150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Elegant, uses stack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1018197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Advanced Functions: map, filter, lambda, inner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495424"/>
            <a:ext cx="5371965" cy="1371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0176" y="2115184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0079" y="1702316"/>
            <a:ext cx="247643" cy="1958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079" y="2038349"/>
            <a:ext cx="5029074" cy="676274"/>
          </a:xfrm>
          <a:prstGeom prst="roundRect">
            <a:avLst>
              <a:gd name="adj" fmla="val 22535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79" y="2038349"/>
            <a:ext cx="5029074" cy="676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numbers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[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1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]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squared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list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map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lambda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x: x**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numbers))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# Output: [1, 4, 9]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2981325"/>
            <a:ext cx="5371965" cy="11906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80312" y="3510597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3196855"/>
            <a:ext cx="247643" cy="1785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079" y="3524250"/>
            <a:ext cx="5029074" cy="495299"/>
          </a:xfrm>
          <a:prstGeom prst="roundRect">
            <a:avLst>
              <a:gd name="adj" fmla="val 3076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79" y="3524250"/>
            <a:ext cx="5029074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evens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list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filter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(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lambda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x: x %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==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0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numbers))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# Output: [2]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286250"/>
            <a:ext cx="5371965" cy="18859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267351" y="5163185"/>
            <a:ext cx="1885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501780"/>
            <a:ext cx="247643" cy="17853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0079" y="4829175"/>
            <a:ext cx="5029074" cy="1190625"/>
          </a:xfrm>
          <a:prstGeom prst="roundRect">
            <a:avLst>
              <a:gd name="adj" fmla="val 128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79" y="4829175"/>
            <a:ext cx="5029074" cy="1190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outer(x):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def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inner(y):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return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 * y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return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inner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1104"/>
              <a:t>
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77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# Closure preserves x value</a:t>
            </a:r>
            <a:r>
              <a:rPr sz="77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8719" y="1523999"/>
            <a:ext cx="5314817" cy="190499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0144" y="3609975"/>
            <a:ext cx="5371965" cy="1695449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247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29214" y="3874902"/>
            <a:ext cx="247643" cy="21309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29214" y="4257675"/>
            <a:ext cx="4933826" cy="828675"/>
          </a:xfrm>
          <a:prstGeom prst="roundRect">
            <a:avLst>
              <a:gd name="adj" fmla="val 1839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9214" y="4257675"/>
            <a:ext cx="4933826" cy="828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square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lambda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x: x **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2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666666"/>
                </a:solidFill>
                <a:latin typeface="Courier New"/>
                <a:rFonts ascii="Courier New" hAnsi="Courier New" eastAsia="Courier New" cs="Courier New"/>
              </a:rPr>
              <a:t># Or directly:</a:t>
            </a:r>
            <a:r>
              <a:rPr sz="1104"/>
              <a:t>
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result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= 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lambda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 x, y: x + y)(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5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, </a:t>
            </a:r>
            <a:r>
              <a:rPr sz="83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3</a:t>
            </a:r>
            <a:r>
              <a:rPr sz="837" b="0">
                <a:solidFill>
                  <a:srgbClr val="333333"/>
                </a:solidFill>
                <a:latin typeface="Courier New"/>
                <a:rFonts ascii="Courier New" hAnsi="Courier New" eastAsia="Courier New" cs="Courier New"/>
              </a:rPr>
              <a:t>)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4" y="5457825"/>
            <a:ext cx="2628834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6510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3491" y="5591175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Single Expression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3491" y="5857875"/>
            <a:ext cx="23621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Anonymous, concise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276" y="5457825"/>
            <a:ext cx="2628834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6510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6622" y="5591175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Used with map/filter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6622" y="5857875"/>
            <a:ext cx="23621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Short-lived functions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53388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Practice Questions -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38224"/>
            <a:ext cx="5371965" cy="110490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23174" y="1524634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079" y="11906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11906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070" y="1200150"/>
            <a:ext cx="23621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Function with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1571625"/>
            <a:ext cx="5029074" cy="419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Write a function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calculate_circle(radius)</a:t>
            </a: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that returns area and circumference. Use keyword arguments.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2257425"/>
            <a:ext cx="5371965" cy="110490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23174" y="2743835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079" y="24098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79" y="24098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070" y="2419349"/>
            <a:ext cx="173350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Default Arguments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2790824"/>
            <a:ext cx="5029074" cy="419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Create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greet(name, greeting="Hello")</a:t>
            </a: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. Call it with and without the greeting parameter.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3476624"/>
            <a:ext cx="5371965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32712" y="3853496"/>
            <a:ext cx="885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079" y="36290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79" y="36290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070" y="3638550"/>
            <a:ext cx="181922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Recursion: Factorial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4010024"/>
            <a:ext cx="502907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Implement factorial recursively. Include base case and recursive case.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4476750"/>
            <a:ext cx="5371965" cy="904874"/>
          </a:xfrm>
          <a:prstGeom prst="roundRect">
            <a:avLst>
              <a:gd name="adj" fmla="val 2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23187" y="4863147"/>
            <a:ext cx="904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079" y="46291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79" y="46291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070" y="4638674"/>
            <a:ext cx="157158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map with lambda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079" y="5010149"/>
            <a:ext cx="502907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Use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map()</a:t>
            </a: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and lambda to convert list of strings to uppercase.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0144" y="1038224"/>
            <a:ext cx="5371965" cy="904874"/>
          </a:xfrm>
          <a:prstGeom prst="roundRect">
            <a:avLst>
              <a:gd name="adj" fmla="val 2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823747" y="1424621"/>
            <a:ext cx="904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639" y="11906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639" y="11906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1630" y="1200150"/>
            <a:ext cx="161920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filter with lambda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639" y="1571625"/>
            <a:ext cx="502907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Filter numbers greater than 5 using </a:t>
            </a:r>
            <a:r>
              <a:rPr sz="897" b="0">
                <a:solidFill>
                  <a:srgbClr val="D6C096"/>
                </a:solidFill>
                <a:latin typeface="Courier New"/>
                <a:rFonts ascii="Courier New" hAnsi="Courier New" eastAsia="Courier New" cs="Courier New"/>
              </a:rPr>
              <a:t>filter()</a:t>
            </a: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and lambda.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0144" y="2057400"/>
            <a:ext cx="5371965" cy="10858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733259" y="2534285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639" y="22098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639" y="220980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1630" y="2219324"/>
            <a:ext cx="142871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Inner Functions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639" y="2590799"/>
            <a:ext cx="5029074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Create an outer function that returns an inner function demonstrating closure.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0144" y="3257550"/>
            <a:ext cx="5371965" cy="10858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5733259" y="3734435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639" y="34099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639" y="34099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1630" y="3419474"/>
            <a:ext cx="120011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Passing Lists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639" y="3790949"/>
            <a:ext cx="5029074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Write a function that modifies a passed list. Demonstrate it affects the original list.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0144" y="4457700"/>
            <a:ext cx="5371965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833272" y="4834572"/>
            <a:ext cx="885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639" y="461009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639" y="461009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1630" y="4619625"/>
            <a:ext cx="199067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Scope Demonstration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639" y="4991100"/>
            <a:ext cx="502907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Show the difference between local and global variables with examples.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9584" y="5810249"/>
            <a:ext cx="10972525" cy="819149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24765">
            <a:solidFill>
              <a:srgbClr val="D6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6114097"/>
            <a:ext cx="228594" cy="21145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5347" y="5991225"/>
            <a:ext cx="10305792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Practice Tips:</a:t>
            </a:r>
            <a:r>
              <a:rPr sz="956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Always start with a simple implementation, then add complexity. Use docstrings to document your functions. Test with different inputs!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482905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Summary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38224"/>
            <a:ext cx="2104972" cy="111442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504912" y="1230190"/>
            <a:ext cx="304792" cy="1875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2931" y="1571625"/>
            <a:ext cx="183827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82880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Mutable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8854" y="1038224"/>
            <a:ext cx="2104972" cy="111442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1197951"/>
            <a:ext cx="304792" cy="2520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62200" y="1571625"/>
            <a:ext cx="183827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Tuples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200" y="182880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Immutable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8123" y="1038224"/>
            <a:ext cx="2104972" cy="111442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943451" y="1195021"/>
            <a:ext cx="304792" cy="2579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81470" y="1571625"/>
            <a:ext cx="183827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70" y="182880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Unique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7868" y="1038224"/>
            <a:ext cx="2104972" cy="111442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62720" y="1211140"/>
            <a:ext cx="304792" cy="22566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91215" y="1571625"/>
            <a:ext cx="183827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Dictionaries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1215" y="182880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Key-Value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77138" y="1038224"/>
            <a:ext cx="2104972" cy="111442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381990" y="1215536"/>
            <a:ext cx="304792" cy="2168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10484" y="1571625"/>
            <a:ext cx="183827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Functions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484" y="182880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66666"/>
                </a:solidFill>
                <a:latin typeface="Inter"/>
                <a:rFonts ascii="Inter" hAnsi="Inter" eastAsia="Inter" cs="Inter"/>
              </a:rPr>
              <a:t>Reusable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2343150"/>
            <a:ext cx="5410064" cy="17907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219726" y="3172460"/>
            <a:ext cx="1790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0079" y="2531745"/>
            <a:ext cx="228594" cy="19430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00079" y="29718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426" y="2895600"/>
            <a:ext cx="1981150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444444"/>
                </a:solidFill>
                <a:latin typeface="Inter"/>
                <a:rFonts ascii="Inter" hAnsi="Inter" eastAsia="Inter" cs="Inter"/>
              </a:rPr>
              <a:t>Lists:</a:t>
            </a: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append, pop, sort, slicing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71765" y="29718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5112" y="2895600"/>
            <a:ext cx="172398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444444"/>
                </a:solidFill>
                <a:latin typeface="Inter"/>
                <a:rFonts ascii="Inter" hAnsi="Inter" eastAsia="Inter" cs="Inter"/>
              </a:rPr>
              <a:t>Tuples:</a:t>
            </a: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count, index, faster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079" y="32194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426" y="3143250"/>
            <a:ext cx="224784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444444"/>
                </a:solidFill>
                <a:latin typeface="Inter"/>
                <a:rFonts ascii="Inter" hAnsi="Inter" eastAsia="Inter" cs="Inter"/>
              </a:rPr>
              <a:t>Sets:</a:t>
            </a: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union, intersection, difference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71765" y="32194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5112" y="3143250"/>
            <a:ext cx="187637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444444"/>
                </a:solidFill>
                <a:latin typeface="Inter"/>
                <a:rFonts ascii="Inter" hAnsi="Inter" eastAsia="Inter" cs="Inter"/>
              </a:rPr>
              <a:t>Dicts:</a:t>
            </a: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keys, values, items, get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079" y="34671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426" y="3390899"/>
            <a:ext cx="220974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444444"/>
                </a:solidFill>
                <a:latin typeface="Inter"/>
                <a:rFonts ascii="Inter" hAnsi="Inter" eastAsia="Inter" cs="Inter"/>
              </a:rPr>
              <a:t>Funcs:</a:t>
            </a: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def, return, *args, **kwargs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71765" y="34671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05112" y="3390899"/>
            <a:ext cx="217164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444444"/>
                </a:solidFill>
                <a:latin typeface="Inter"/>
                <a:rFonts ascii="Inter" hAnsi="Inter" eastAsia="Inter" cs="Inter"/>
              </a:rPr>
              <a:t>Adv:</a:t>
            </a: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 map, filter, lambda, recursion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045" y="2343150"/>
            <a:ext cx="5410064" cy="17907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342735" y="3172460"/>
            <a:ext cx="1790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62540" y="2540317"/>
            <a:ext cx="228594" cy="177164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2919132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29234" y="2895600"/>
            <a:ext cx="279075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Practice regularly with different problems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3204882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29234" y="3181350"/>
            <a:ext cx="287647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Understand concepts, don't just memorize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3500157"/>
            <a:ext cx="190495" cy="16248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29234" y="3467100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Solve practice questions from each section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3785907"/>
            <a:ext cx="190495" cy="1624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29234" y="3762374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Review code examples and try variations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9584" y="4286250"/>
            <a:ext cx="3552736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247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90555" y="4498181"/>
            <a:ext cx="228594" cy="18573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95347" y="4457700"/>
            <a:ext cx="118107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Keep Learning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555" y="4800600"/>
            <a:ext cx="3190795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Python has powerful built-in collections. Master them to write efficient code!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14717" y="4286250"/>
            <a:ext cx="3552736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247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495687" y="4528184"/>
            <a:ext cx="228594" cy="1257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00479" y="4457700"/>
            <a:ext cx="192400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Practice Makes Perfect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95687" y="4800600"/>
            <a:ext cx="3190795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Build projects using collections and functions to reinforce learning.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29374" y="4286250"/>
            <a:ext cx="3552736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247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10344" y="4495323"/>
            <a:ext cx="228594" cy="19145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515137" y="4457700"/>
            <a:ext cx="91437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Space Grotesk"/>
                <a:rFonts ascii="Space Grotesk" hAnsi="Space Grotesk" eastAsia="Space Grotesk" cs="Space Grotesk"/>
              </a:rPr>
              <a:t>Next Steps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0344" y="4800600"/>
            <a:ext cx="3190795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Inter"/>
                <a:rFonts ascii="Inter" hAnsi="Inter" eastAsia="Inter" cs="Inter"/>
              </a:rPr>
              <a:t>Explore advanced topics like decorators, generators, and class methods.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